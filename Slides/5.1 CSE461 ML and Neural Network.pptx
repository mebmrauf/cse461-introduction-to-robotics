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42" roundtripDataSignature="AMtx7mibOECz1Nlzeq50a30NZVJAljLFR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A5F141B-6825-4BDE-A146-B7456003CC4F}">
  <a:tblStyle styleId="{AA5F141B-6825-4BDE-A146-B7456003CC4F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20" Type="http://schemas.openxmlformats.org/officeDocument/2006/relationships/slide" Target="slides/slide14.xml"/><Relationship Id="rId42" Type="http://customschemas.google.com/relationships/presentationmetadata" Target="metadata"/><Relationship Id="rId41" Type="http://schemas.openxmlformats.org/officeDocument/2006/relationships/slide" Target="slides/slide35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slide" Target="slides/slide29.xml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37" Type="http://schemas.openxmlformats.org/officeDocument/2006/relationships/slide" Target="slides/slide31.xml"/><Relationship Id="rId14" Type="http://schemas.openxmlformats.org/officeDocument/2006/relationships/slide" Target="slides/slide8.xml"/><Relationship Id="rId36" Type="http://schemas.openxmlformats.org/officeDocument/2006/relationships/slide" Target="slides/slide30.xml"/><Relationship Id="rId17" Type="http://schemas.openxmlformats.org/officeDocument/2006/relationships/slide" Target="slides/slide11.xml"/><Relationship Id="rId39" Type="http://schemas.openxmlformats.org/officeDocument/2006/relationships/slide" Target="slides/slide33.xml"/><Relationship Id="rId16" Type="http://schemas.openxmlformats.org/officeDocument/2006/relationships/slide" Target="slides/slide10.xml"/><Relationship Id="rId38" Type="http://schemas.openxmlformats.org/officeDocument/2006/relationships/slide" Target="slides/slide32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" name="Google Shape;5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" name="Google Shape;6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" name="Google Shape;7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" name="Google Shape;8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" name="Google Shape;9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" name="Google Shape;10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7" name="Google Shape;10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4" name="Google Shape;114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1" name="Google Shape;121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5" name="Google Shape;135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0" name="Google Shape;150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6" name="Google Shape;166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2" name="Google Shape;182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9" name="Google Shape;199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1" name="Google Shape;211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1" name="Google Shape;221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1" name="Google Shape;231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2" name="Google Shape;242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7" name="Google Shape;247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8" name="Google Shape;258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1" name="Google Shape;271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7" name="Google Shape;277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2" name="Google Shape;282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8" name="Google Shape;288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5" name="Google Shape;295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1" name="Google Shape;301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0" name="Google Shape;310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8" name="Google Shape;318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5" name="Google Shape;325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2" name="Google Shape;332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8" name="Google Shape;338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0" name="Google Shape;350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0" name="Google Shape;360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7" name="Google Shape;367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7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37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8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3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3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22" name="Google Shape;22;p4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" name="Google Shape;25;p41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41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4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0" name="Google Shape;30;p4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43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3" name="Google Shape;33;p43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4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44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7" name="Google Shape;37;p4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45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45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1" name="Google Shape;41;p45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2" name="Google Shape;42;p45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3" name="Google Shape;43;p4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46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46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4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4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3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6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4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4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4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4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7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5.jp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7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9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" sz="4100">
                <a:latin typeface="Times New Roman"/>
                <a:ea typeface="Times New Roman"/>
                <a:cs typeface="Times New Roman"/>
                <a:sym typeface="Times New Roman"/>
              </a:rPr>
              <a:t>Introduction to Robotics</a:t>
            </a:r>
            <a:endParaRPr sz="4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" sz="4100">
                <a:latin typeface="Times New Roman"/>
                <a:ea typeface="Times New Roman"/>
                <a:cs typeface="Times New Roman"/>
                <a:sym typeface="Times New Roman"/>
              </a:rPr>
              <a:t>CSE 461</a:t>
            </a:r>
            <a:endParaRPr sz="4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5" name="Google Shape;55;p1"/>
          <p:cNvSpPr txBox="1"/>
          <p:nvPr>
            <p:ph idx="1" type="subTitle"/>
          </p:nvPr>
        </p:nvSpPr>
        <p:spPr>
          <a:xfrm>
            <a:off x="46975" y="2834125"/>
            <a:ext cx="8978700" cy="138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94"/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Class Topic: Introduction to Machine Learning and Neural Network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6" name="Google Shape;56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05250" y="0"/>
            <a:ext cx="1333500" cy="1485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1" name="Google Shape;61;p2"/>
          <p:cNvGraphicFramePr/>
          <p:nvPr/>
        </p:nvGraphicFramePr>
        <p:xfrm>
          <a:off x="952500" y="1619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{AA5F141B-6825-4BDE-A146-B7456003CC4F}</a:tableStyleId>
              </a:tblPr>
              <a:tblGrid>
                <a:gridCol w="3619500"/>
                <a:gridCol w="3619500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Tumor Size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Condition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malignant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benign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benign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malignant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6" name="Google Shape;66;p3"/>
          <p:cNvGraphicFramePr/>
          <p:nvPr/>
        </p:nvGraphicFramePr>
        <p:xfrm>
          <a:off x="952500" y="1619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{AA5F141B-6825-4BDE-A146-B7456003CC4F}</a:tableStyleId>
              </a:tblPr>
              <a:tblGrid>
                <a:gridCol w="3619500"/>
                <a:gridCol w="3619500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Tumor Size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Condition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malignant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benign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benign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malignant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cxnSp>
        <p:nvCxnSpPr>
          <p:cNvPr id="67" name="Google Shape;67;p3"/>
          <p:cNvCxnSpPr/>
          <p:nvPr/>
        </p:nvCxnSpPr>
        <p:spPr>
          <a:xfrm flipH="1" rot="10800000">
            <a:off x="1634750" y="4253400"/>
            <a:ext cx="6530100" cy="33600"/>
          </a:xfrm>
          <a:prstGeom prst="straightConnector1">
            <a:avLst/>
          </a:prstGeom>
          <a:noFill/>
          <a:ln cap="flat" cmpd="sng" w="38100">
            <a:solidFill>
              <a:srgbClr val="1155CC"/>
            </a:solidFill>
            <a:prstDash val="solid"/>
            <a:round/>
            <a:headEnd len="med" w="med" type="stealth"/>
            <a:tailEnd len="med" w="med" type="stealth"/>
          </a:ln>
        </p:spPr>
      </p:cxnSp>
      <p:sp>
        <p:nvSpPr>
          <p:cNvPr id="68" name="Google Shape;68;p3"/>
          <p:cNvSpPr/>
          <p:nvPr/>
        </p:nvSpPr>
        <p:spPr>
          <a:xfrm>
            <a:off x="2003725" y="4152750"/>
            <a:ext cx="246000" cy="234900"/>
          </a:xfrm>
          <a:prstGeom prst="ellipse">
            <a:avLst/>
          </a:prstGeom>
          <a:solidFill>
            <a:schemeClr val="accen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3"/>
          <p:cNvSpPr/>
          <p:nvPr/>
        </p:nvSpPr>
        <p:spPr>
          <a:xfrm>
            <a:off x="2428625" y="4152750"/>
            <a:ext cx="246000" cy="2349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3"/>
          <p:cNvSpPr/>
          <p:nvPr/>
        </p:nvSpPr>
        <p:spPr>
          <a:xfrm>
            <a:off x="3692125" y="4152750"/>
            <a:ext cx="246000" cy="2349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3"/>
          <p:cNvSpPr/>
          <p:nvPr/>
        </p:nvSpPr>
        <p:spPr>
          <a:xfrm>
            <a:off x="6029075" y="4152750"/>
            <a:ext cx="246000" cy="2349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6" name="Google Shape;76;p4"/>
          <p:cNvGraphicFramePr/>
          <p:nvPr/>
        </p:nvGraphicFramePr>
        <p:xfrm>
          <a:off x="952500" y="1619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{AA5F141B-6825-4BDE-A146-B7456003CC4F}</a:tableStyleId>
              </a:tblPr>
              <a:tblGrid>
                <a:gridCol w="3619500"/>
                <a:gridCol w="3619500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Tumor Size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Condition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malignant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benign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benign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malignant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cxnSp>
        <p:nvCxnSpPr>
          <p:cNvPr id="77" name="Google Shape;77;p4"/>
          <p:cNvCxnSpPr/>
          <p:nvPr/>
        </p:nvCxnSpPr>
        <p:spPr>
          <a:xfrm flipH="1" rot="10800000">
            <a:off x="1634750" y="4253400"/>
            <a:ext cx="6530100" cy="33600"/>
          </a:xfrm>
          <a:prstGeom prst="straightConnector1">
            <a:avLst/>
          </a:prstGeom>
          <a:noFill/>
          <a:ln cap="flat" cmpd="sng" w="38100">
            <a:solidFill>
              <a:srgbClr val="1155CC"/>
            </a:solidFill>
            <a:prstDash val="solid"/>
            <a:round/>
            <a:headEnd len="med" w="med" type="stealth"/>
            <a:tailEnd len="med" w="med" type="stealth"/>
          </a:ln>
        </p:spPr>
      </p:cxnSp>
      <p:sp>
        <p:nvSpPr>
          <p:cNvPr id="78" name="Google Shape;78;p4"/>
          <p:cNvSpPr/>
          <p:nvPr/>
        </p:nvSpPr>
        <p:spPr>
          <a:xfrm>
            <a:off x="2003725" y="4152750"/>
            <a:ext cx="246000" cy="2349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4"/>
          <p:cNvSpPr/>
          <p:nvPr/>
        </p:nvSpPr>
        <p:spPr>
          <a:xfrm>
            <a:off x="2428625" y="4152750"/>
            <a:ext cx="246000" cy="2349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4"/>
          <p:cNvSpPr/>
          <p:nvPr/>
        </p:nvSpPr>
        <p:spPr>
          <a:xfrm>
            <a:off x="3692125" y="4152750"/>
            <a:ext cx="246000" cy="234900"/>
          </a:xfrm>
          <a:prstGeom prst="ellipse">
            <a:avLst/>
          </a:prstGeom>
          <a:solidFill>
            <a:srgbClr val="98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4"/>
          <p:cNvSpPr/>
          <p:nvPr/>
        </p:nvSpPr>
        <p:spPr>
          <a:xfrm>
            <a:off x="6029075" y="4152750"/>
            <a:ext cx="246000" cy="234900"/>
          </a:xfrm>
          <a:prstGeom prst="ellipse">
            <a:avLst/>
          </a:prstGeom>
          <a:solidFill>
            <a:srgbClr val="98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6" name="Google Shape;86;p5"/>
          <p:cNvGraphicFramePr/>
          <p:nvPr/>
        </p:nvGraphicFramePr>
        <p:xfrm>
          <a:off x="952500" y="1619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{AA5F141B-6825-4BDE-A146-B7456003CC4F}</a:tableStyleId>
              </a:tblPr>
              <a:tblGrid>
                <a:gridCol w="3619500"/>
                <a:gridCol w="3619500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Tumor Size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Condition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malignant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benign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benign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malignant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cxnSp>
        <p:nvCxnSpPr>
          <p:cNvPr id="87" name="Google Shape;87;p5"/>
          <p:cNvCxnSpPr/>
          <p:nvPr/>
        </p:nvCxnSpPr>
        <p:spPr>
          <a:xfrm flipH="1" rot="10800000">
            <a:off x="1634750" y="4253400"/>
            <a:ext cx="6530100" cy="33600"/>
          </a:xfrm>
          <a:prstGeom prst="straightConnector1">
            <a:avLst/>
          </a:prstGeom>
          <a:noFill/>
          <a:ln cap="flat" cmpd="sng" w="38100">
            <a:solidFill>
              <a:srgbClr val="1155CC"/>
            </a:solidFill>
            <a:prstDash val="solid"/>
            <a:round/>
            <a:headEnd len="med" w="med" type="stealth"/>
            <a:tailEnd len="med" w="med" type="stealth"/>
          </a:ln>
        </p:spPr>
      </p:cxnSp>
      <p:sp>
        <p:nvSpPr>
          <p:cNvPr id="88" name="Google Shape;88;p5"/>
          <p:cNvSpPr/>
          <p:nvPr/>
        </p:nvSpPr>
        <p:spPr>
          <a:xfrm>
            <a:off x="2003725" y="4152750"/>
            <a:ext cx="246000" cy="2349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5"/>
          <p:cNvSpPr/>
          <p:nvPr/>
        </p:nvSpPr>
        <p:spPr>
          <a:xfrm>
            <a:off x="2428625" y="4152750"/>
            <a:ext cx="246000" cy="2349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5"/>
          <p:cNvSpPr/>
          <p:nvPr/>
        </p:nvSpPr>
        <p:spPr>
          <a:xfrm>
            <a:off x="3692125" y="4152750"/>
            <a:ext cx="246000" cy="234900"/>
          </a:xfrm>
          <a:prstGeom prst="ellipse">
            <a:avLst/>
          </a:prstGeom>
          <a:solidFill>
            <a:srgbClr val="98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5"/>
          <p:cNvSpPr/>
          <p:nvPr/>
        </p:nvSpPr>
        <p:spPr>
          <a:xfrm>
            <a:off x="6029075" y="4152750"/>
            <a:ext cx="246000" cy="234900"/>
          </a:xfrm>
          <a:prstGeom prst="ellipse">
            <a:avLst/>
          </a:prstGeom>
          <a:solidFill>
            <a:srgbClr val="98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2" name="Google Shape;92;p5"/>
          <p:cNvCxnSpPr/>
          <p:nvPr/>
        </p:nvCxnSpPr>
        <p:spPr>
          <a:xfrm>
            <a:off x="3099525" y="3985100"/>
            <a:ext cx="0" cy="570300"/>
          </a:xfrm>
          <a:prstGeom prst="straightConnector1">
            <a:avLst/>
          </a:prstGeom>
          <a:noFill/>
          <a:ln cap="flat" cmpd="sng" w="76200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3" name="Google Shape;93;p5"/>
          <p:cNvSpPr txBox="1"/>
          <p:nvPr/>
        </p:nvSpPr>
        <p:spPr>
          <a:xfrm>
            <a:off x="2842275" y="4555400"/>
            <a:ext cx="5145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" sz="21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="0" i="0" sz="21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8" name="Google Shape;98;p6"/>
          <p:cNvGraphicFramePr/>
          <p:nvPr/>
        </p:nvGraphicFramePr>
        <p:xfrm>
          <a:off x="158625" y="10042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{AA5F141B-6825-4BDE-A146-B7456003CC4F}</a:tableStyleId>
              </a:tblPr>
              <a:tblGrid>
                <a:gridCol w="1152100"/>
                <a:gridCol w="1152100"/>
                <a:gridCol w="1152100"/>
              </a:tblGrid>
              <a:tr h="4004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Tumor Size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Age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Condition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4004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50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malignant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4004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30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benign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4004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45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benign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4004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40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malignant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Google Shape;103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54100" y="443100"/>
            <a:ext cx="4769826" cy="350845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04" name="Google Shape;104;p7"/>
          <p:cNvGraphicFramePr/>
          <p:nvPr/>
        </p:nvGraphicFramePr>
        <p:xfrm>
          <a:off x="158625" y="10042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{AA5F141B-6825-4BDE-A146-B7456003CC4F}</a:tableStyleId>
              </a:tblPr>
              <a:tblGrid>
                <a:gridCol w="1152100"/>
                <a:gridCol w="1152100"/>
                <a:gridCol w="1152100"/>
              </a:tblGrid>
              <a:tr h="4004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Tumor Size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Age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Condition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4004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50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malignant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4004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30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benign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4004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45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benign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4004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40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malignant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54100" y="443100"/>
            <a:ext cx="4769826" cy="350845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10" name="Google Shape;110;p8"/>
          <p:cNvGraphicFramePr/>
          <p:nvPr/>
        </p:nvGraphicFramePr>
        <p:xfrm>
          <a:off x="158625" y="10042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{AA5F141B-6825-4BDE-A146-B7456003CC4F}</a:tableStyleId>
              </a:tblPr>
              <a:tblGrid>
                <a:gridCol w="1152100"/>
                <a:gridCol w="1152100"/>
                <a:gridCol w="1152100"/>
              </a:tblGrid>
              <a:tr h="4004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Tumor Size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Age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Condition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4004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50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malignant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4004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30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benign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4004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45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benign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4004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40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malignant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11" name="Google Shape;111;p8"/>
          <p:cNvSpPr txBox="1"/>
          <p:nvPr/>
        </p:nvSpPr>
        <p:spPr>
          <a:xfrm>
            <a:off x="158625" y="3215350"/>
            <a:ext cx="4189500" cy="12006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0.9*10 + 0.1*50 = 9 + 5 = 14</a:t>
            </a:r>
            <a:endParaRPr b="0" i="0" sz="2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54100" y="443100"/>
            <a:ext cx="4769826" cy="350845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17" name="Google Shape;117;p9"/>
          <p:cNvGraphicFramePr/>
          <p:nvPr/>
        </p:nvGraphicFramePr>
        <p:xfrm>
          <a:off x="158625" y="10042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{AA5F141B-6825-4BDE-A146-B7456003CC4F}</a:tableStyleId>
              </a:tblPr>
              <a:tblGrid>
                <a:gridCol w="1152100"/>
                <a:gridCol w="1152100"/>
                <a:gridCol w="1152100"/>
              </a:tblGrid>
              <a:tr h="4004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Tumor Size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Age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Condition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4004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50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malignant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4004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30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benign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4004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45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benign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4004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40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malignant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18" name="Google Shape;118;p9"/>
          <p:cNvSpPr txBox="1"/>
          <p:nvPr/>
        </p:nvSpPr>
        <p:spPr>
          <a:xfrm>
            <a:off x="158625" y="3215350"/>
            <a:ext cx="4189500" cy="18777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0.9*10 + 0.1*50 = 9 + 5 = 14</a:t>
            </a:r>
            <a:endParaRPr b="0" i="0" sz="2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" sz="2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0.9*2 + 0.1*30 = 1.8 + 3 = 4.8</a:t>
            </a:r>
            <a:endParaRPr b="0" i="0" sz="2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" sz="2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0.9*1 + 0.1*45 = 0.9 + 4.5 = 5.4</a:t>
            </a:r>
            <a:endParaRPr b="0" i="0" sz="2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" sz="2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0.9*5 + 0.1*40 = 4.5 + 4 = 8.5</a:t>
            </a:r>
            <a:endParaRPr b="0" i="0" sz="2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" name="Google Shape;123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54100" y="443100"/>
            <a:ext cx="4769826" cy="350845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24" name="Google Shape;124;p10"/>
          <p:cNvGraphicFramePr/>
          <p:nvPr/>
        </p:nvGraphicFramePr>
        <p:xfrm>
          <a:off x="158625" y="10042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{AA5F141B-6825-4BDE-A146-B7456003CC4F}</a:tableStyleId>
              </a:tblPr>
              <a:tblGrid>
                <a:gridCol w="1152100"/>
                <a:gridCol w="1152100"/>
                <a:gridCol w="1152100"/>
              </a:tblGrid>
              <a:tr h="4004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Tumor Size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Age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Condition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4004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50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malignant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4004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30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benign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4004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45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benign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4004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40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malignant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25" name="Google Shape;125;p10"/>
          <p:cNvSpPr txBox="1"/>
          <p:nvPr/>
        </p:nvSpPr>
        <p:spPr>
          <a:xfrm>
            <a:off x="158625" y="3215350"/>
            <a:ext cx="4189500" cy="18777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0.9*10 + 0.1*50 = 9 + 5 = 14</a:t>
            </a:r>
            <a:endParaRPr b="0" i="0" sz="2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" sz="2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0.9*2 + 0.1*30 = 1.8 + 3 = 4.8</a:t>
            </a:r>
            <a:endParaRPr b="0" i="0" sz="2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" sz="2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0.9*1 + 0.1*45 = 0.9 + 4.5 = 5.4</a:t>
            </a:r>
            <a:endParaRPr b="0" i="0" sz="2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" sz="2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0.9*5 + 0.1*40 = 4.5 + 4 = 8.5</a:t>
            </a:r>
            <a:endParaRPr b="0" i="0" sz="2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26" name="Google Shape;126;p10"/>
          <p:cNvCxnSpPr/>
          <p:nvPr/>
        </p:nvCxnSpPr>
        <p:spPr>
          <a:xfrm flipH="1" rot="10800000">
            <a:off x="4821475" y="4185829"/>
            <a:ext cx="3343500" cy="25200"/>
          </a:xfrm>
          <a:prstGeom prst="straightConnector1">
            <a:avLst/>
          </a:prstGeom>
          <a:noFill/>
          <a:ln cap="flat" cmpd="sng" w="38100">
            <a:solidFill>
              <a:srgbClr val="1155CC"/>
            </a:solidFill>
            <a:prstDash val="solid"/>
            <a:round/>
            <a:headEnd len="med" w="med" type="stealth"/>
            <a:tailEnd len="med" w="med" type="stealth"/>
          </a:ln>
        </p:spPr>
      </p:cxnSp>
      <p:sp>
        <p:nvSpPr>
          <p:cNvPr id="127" name="Google Shape;127;p10"/>
          <p:cNvSpPr/>
          <p:nvPr/>
        </p:nvSpPr>
        <p:spPr>
          <a:xfrm>
            <a:off x="5508413" y="4093837"/>
            <a:ext cx="126000" cy="1758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10"/>
          <p:cNvSpPr/>
          <p:nvPr/>
        </p:nvSpPr>
        <p:spPr>
          <a:xfrm>
            <a:off x="5845160" y="4093837"/>
            <a:ext cx="126000" cy="1758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10"/>
          <p:cNvSpPr/>
          <p:nvPr/>
        </p:nvSpPr>
        <p:spPr>
          <a:xfrm>
            <a:off x="6679890" y="4110662"/>
            <a:ext cx="126000" cy="175800"/>
          </a:xfrm>
          <a:prstGeom prst="ellipse">
            <a:avLst/>
          </a:prstGeom>
          <a:solidFill>
            <a:srgbClr val="98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10"/>
          <p:cNvSpPr/>
          <p:nvPr/>
        </p:nvSpPr>
        <p:spPr>
          <a:xfrm>
            <a:off x="7071345" y="4110562"/>
            <a:ext cx="126000" cy="175800"/>
          </a:xfrm>
          <a:prstGeom prst="ellipse">
            <a:avLst/>
          </a:prstGeom>
          <a:solidFill>
            <a:srgbClr val="98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1" name="Google Shape;131;p10"/>
          <p:cNvCxnSpPr/>
          <p:nvPr/>
        </p:nvCxnSpPr>
        <p:spPr>
          <a:xfrm>
            <a:off x="6414457" y="3940750"/>
            <a:ext cx="0" cy="426900"/>
          </a:xfrm>
          <a:prstGeom prst="straightConnector1">
            <a:avLst/>
          </a:prstGeom>
          <a:noFill/>
          <a:ln cap="flat" cmpd="sng" w="76200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2" name="Google Shape;132;p10"/>
          <p:cNvSpPr txBox="1"/>
          <p:nvPr/>
        </p:nvSpPr>
        <p:spPr>
          <a:xfrm>
            <a:off x="6110552" y="4367650"/>
            <a:ext cx="607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6.5</a:t>
            </a:r>
            <a:endParaRPr b="0" i="0" sz="16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54100" y="443100"/>
            <a:ext cx="4769826" cy="350845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38" name="Google Shape;138;p11"/>
          <p:cNvGraphicFramePr/>
          <p:nvPr/>
        </p:nvGraphicFramePr>
        <p:xfrm>
          <a:off x="158625" y="10042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{AA5F141B-6825-4BDE-A146-B7456003CC4F}</a:tableStyleId>
              </a:tblPr>
              <a:tblGrid>
                <a:gridCol w="1152100"/>
                <a:gridCol w="1152100"/>
                <a:gridCol w="1152100"/>
              </a:tblGrid>
              <a:tr h="4004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Tumor Size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Age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Condition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4004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50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malignant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4004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30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benign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4004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45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benign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4004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40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malignant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cxnSp>
        <p:nvCxnSpPr>
          <p:cNvPr id="139" name="Google Shape;139;p11"/>
          <p:cNvCxnSpPr/>
          <p:nvPr/>
        </p:nvCxnSpPr>
        <p:spPr>
          <a:xfrm flipH="1" rot="10800000">
            <a:off x="4821475" y="4185829"/>
            <a:ext cx="3343500" cy="25200"/>
          </a:xfrm>
          <a:prstGeom prst="straightConnector1">
            <a:avLst/>
          </a:prstGeom>
          <a:noFill/>
          <a:ln cap="flat" cmpd="sng" w="38100">
            <a:solidFill>
              <a:srgbClr val="1155CC"/>
            </a:solidFill>
            <a:prstDash val="solid"/>
            <a:round/>
            <a:headEnd len="med" w="med" type="stealth"/>
            <a:tailEnd len="med" w="med" type="stealth"/>
          </a:ln>
        </p:spPr>
      </p:cxnSp>
      <p:sp>
        <p:nvSpPr>
          <p:cNvPr id="140" name="Google Shape;140;p11"/>
          <p:cNvSpPr/>
          <p:nvPr/>
        </p:nvSpPr>
        <p:spPr>
          <a:xfrm>
            <a:off x="5508413" y="4093837"/>
            <a:ext cx="126000" cy="1758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11"/>
          <p:cNvSpPr/>
          <p:nvPr/>
        </p:nvSpPr>
        <p:spPr>
          <a:xfrm>
            <a:off x="5845160" y="4093837"/>
            <a:ext cx="126000" cy="1758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11"/>
          <p:cNvSpPr/>
          <p:nvPr/>
        </p:nvSpPr>
        <p:spPr>
          <a:xfrm>
            <a:off x="6679890" y="4110662"/>
            <a:ext cx="126000" cy="175800"/>
          </a:xfrm>
          <a:prstGeom prst="ellipse">
            <a:avLst/>
          </a:prstGeom>
          <a:solidFill>
            <a:srgbClr val="98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11"/>
          <p:cNvSpPr/>
          <p:nvPr/>
        </p:nvSpPr>
        <p:spPr>
          <a:xfrm>
            <a:off x="7071345" y="4110562"/>
            <a:ext cx="126000" cy="175800"/>
          </a:xfrm>
          <a:prstGeom prst="ellipse">
            <a:avLst/>
          </a:prstGeom>
          <a:solidFill>
            <a:srgbClr val="98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4" name="Google Shape;144;p11"/>
          <p:cNvCxnSpPr/>
          <p:nvPr/>
        </p:nvCxnSpPr>
        <p:spPr>
          <a:xfrm>
            <a:off x="6414457" y="3940750"/>
            <a:ext cx="0" cy="426900"/>
          </a:xfrm>
          <a:prstGeom prst="straightConnector1">
            <a:avLst/>
          </a:prstGeom>
          <a:noFill/>
          <a:ln cap="flat" cmpd="sng" w="76200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5" name="Google Shape;145;p11"/>
          <p:cNvSpPr txBox="1"/>
          <p:nvPr/>
        </p:nvSpPr>
        <p:spPr>
          <a:xfrm>
            <a:off x="6110552" y="4367650"/>
            <a:ext cx="607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6.5</a:t>
            </a:r>
            <a:endParaRPr b="0" i="0" sz="16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6" name="Google Shape;146;p11"/>
          <p:cNvSpPr/>
          <p:nvPr/>
        </p:nvSpPr>
        <p:spPr>
          <a:xfrm>
            <a:off x="7071350" y="1335075"/>
            <a:ext cx="301800" cy="324300"/>
          </a:xfrm>
          <a:prstGeom prst="donut">
            <a:avLst>
              <a:gd fmla="val 25000" name="adj"/>
            </a:avLst>
          </a:prstGeom>
          <a:solidFill>
            <a:schemeClr val="accent5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11"/>
          <p:cNvSpPr txBox="1"/>
          <p:nvPr/>
        </p:nvSpPr>
        <p:spPr>
          <a:xfrm>
            <a:off x="460675" y="3180025"/>
            <a:ext cx="2817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Tumor Size = 9</a:t>
            </a:r>
            <a:endParaRPr b="0" i="0" sz="1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Age = 42</a:t>
            </a:r>
            <a:endParaRPr b="0" i="0" sz="1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2" name="Google Shape;152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54100" y="443100"/>
            <a:ext cx="4769826" cy="350845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53" name="Google Shape;153;p12"/>
          <p:cNvGraphicFramePr/>
          <p:nvPr/>
        </p:nvGraphicFramePr>
        <p:xfrm>
          <a:off x="158625" y="10042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{AA5F141B-6825-4BDE-A146-B7456003CC4F}</a:tableStyleId>
              </a:tblPr>
              <a:tblGrid>
                <a:gridCol w="1152100"/>
                <a:gridCol w="1152100"/>
                <a:gridCol w="1152100"/>
              </a:tblGrid>
              <a:tr h="4004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Tumor Size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Age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Condition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4004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50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malignant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4004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30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benign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4004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45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benign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4004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40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malignant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cxnSp>
        <p:nvCxnSpPr>
          <p:cNvPr id="154" name="Google Shape;154;p12"/>
          <p:cNvCxnSpPr/>
          <p:nvPr/>
        </p:nvCxnSpPr>
        <p:spPr>
          <a:xfrm flipH="1" rot="10800000">
            <a:off x="4821475" y="4185829"/>
            <a:ext cx="3343500" cy="25200"/>
          </a:xfrm>
          <a:prstGeom prst="straightConnector1">
            <a:avLst/>
          </a:prstGeom>
          <a:noFill/>
          <a:ln cap="flat" cmpd="sng" w="38100">
            <a:solidFill>
              <a:srgbClr val="1155CC"/>
            </a:solidFill>
            <a:prstDash val="solid"/>
            <a:round/>
            <a:headEnd len="med" w="med" type="stealth"/>
            <a:tailEnd len="med" w="med" type="stealth"/>
          </a:ln>
        </p:spPr>
      </p:cxnSp>
      <p:sp>
        <p:nvSpPr>
          <p:cNvPr id="155" name="Google Shape;155;p12"/>
          <p:cNvSpPr/>
          <p:nvPr/>
        </p:nvSpPr>
        <p:spPr>
          <a:xfrm>
            <a:off x="5508413" y="4093837"/>
            <a:ext cx="126000" cy="1758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12"/>
          <p:cNvSpPr/>
          <p:nvPr/>
        </p:nvSpPr>
        <p:spPr>
          <a:xfrm>
            <a:off x="5845160" y="4093837"/>
            <a:ext cx="126000" cy="1758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12"/>
          <p:cNvSpPr/>
          <p:nvPr/>
        </p:nvSpPr>
        <p:spPr>
          <a:xfrm>
            <a:off x="6679890" y="4110662"/>
            <a:ext cx="126000" cy="175800"/>
          </a:xfrm>
          <a:prstGeom prst="ellipse">
            <a:avLst/>
          </a:prstGeom>
          <a:solidFill>
            <a:srgbClr val="98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12"/>
          <p:cNvSpPr/>
          <p:nvPr/>
        </p:nvSpPr>
        <p:spPr>
          <a:xfrm>
            <a:off x="7071345" y="4110562"/>
            <a:ext cx="126000" cy="175800"/>
          </a:xfrm>
          <a:prstGeom prst="ellipse">
            <a:avLst/>
          </a:prstGeom>
          <a:solidFill>
            <a:srgbClr val="98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9" name="Google Shape;159;p12"/>
          <p:cNvCxnSpPr/>
          <p:nvPr/>
        </p:nvCxnSpPr>
        <p:spPr>
          <a:xfrm>
            <a:off x="6414457" y="3940750"/>
            <a:ext cx="0" cy="426900"/>
          </a:xfrm>
          <a:prstGeom prst="straightConnector1">
            <a:avLst/>
          </a:prstGeom>
          <a:noFill/>
          <a:ln cap="flat" cmpd="sng" w="76200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0" name="Google Shape;160;p12"/>
          <p:cNvSpPr txBox="1"/>
          <p:nvPr/>
        </p:nvSpPr>
        <p:spPr>
          <a:xfrm>
            <a:off x="6110552" y="4367650"/>
            <a:ext cx="607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6.5</a:t>
            </a:r>
            <a:endParaRPr b="0" i="0" sz="16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1" name="Google Shape;161;p12"/>
          <p:cNvSpPr/>
          <p:nvPr/>
        </p:nvSpPr>
        <p:spPr>
          <a:xfrm>
            <a:off x="7071350" y="1335075"/>
            <a:ext cx="301800" cy="324300"/>
          </a:xfrm>
          <a:prstGeom prst="donut">
            <a:avLst>
              <a:gd fmla="val 25000" name="adj"/>
            </a:avLst>
          </a:prstGeom>
          <a:solidFill>
            <a:schemeClr val="accent5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12"/>
          <p:cNvSpPr txBox="1"/>
          <p:nvPr/>
        </p:nvSpPr>
        <p:spPr>
          <a:xfrm>
            <a:off x="460675" y="3180025"/>
            <a:ext cx="2817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Tumor Size = 9</a:t>
            </a:r>
            <a:endParaRPr b="0" i="0" sz="1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Age = 42</a:t>
            </a:r>
            <a:endParaRPr b="0" i="0" sz="1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3" name="Google Shape;163;p12"/>
          <p:cNvSpPr txBox="1"/>
          <p:nvPr/>
        </p:nvSpPr>
        <p:spPr>
          <a:xfrm>
            <a:off x="158625" y="3951550"/>
            <a:ext cx="4189500" cy="8619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0.9*9 + 0.1*42 = 8.1 + 4.2 = 12.3</a:t>
            </a:r>
            <a:endParaRPr b="0" i="0" sz="2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8" name="Google Shape;168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54100" y="443100"/>
            <a:ext cx="4769826" cy="350845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69" name="Google Shape;169;p13"/>
          <p:cNvGraphicFramePr/>
          <p:nvPr/>
        </p:nvGraphicFramePr>
        <p:xfrm>
          <a:off x="158625" y="10042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{AA5F141B-6825-4BDE-A146-B7456003CC4F}</a:tableStyleId>
              </a:tblPr>
              <a:tblGrid>
                <a:gridCol w="1152100"/>
                <a:gridCol w="1152100"/>
                <a:gridCol w="1152100"/>
              </a:tblGrid>
              <a:tr h="4004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Tumor Size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Age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Condition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4004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50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malignant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4004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30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benign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4004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45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benign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4004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40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malignant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cxnSp>
        <p:nvCxnSpPr>
          <p:cNvPr id="170" name="Google Shape;170;p13"/>
          <p:cNvCxnSpPr/>
          <p:nvPr/>
        </p:nvCxnSpPr>
        <p:spPr>
          <a:xfrm flipH="1" rot="10800000">
            <a:off x="4821475" y="4185829"/>
            <a:ext cx="3343500" cy="25200"/>
          </a:xfrm>
          <a:prstGeom prst="straightConnector1">
            <a:avLst/>
          </a:prstGeom>
          <a:noFill/>
          <a:ln cap="flat" cmpd="sng" w="38100">
            <a:solidFill>
              <a:srgbClr val="1155CC"/>
            </a:solidFill>
            <a:prstDash val="solid"/>
            <a:round/>
            <a:headEnd len="med" w="med" type="stealth"/>
            <a:tailEnd len="med" w="med" type="stealth"/>
          </a:ln>
        </p:spPr>
      </p:cxnSp>
      <p:sp>
        <p:nvSpPr>
          <p:cNvPr id="171" name="Google Shape;171;p13"/>
          <p:cNvSpPr/>
          <p:nvPr/>
        </p:nvSpPr>
        <p:spPr>
          <a:xfrm>
            <a:off x="5508413" y="4093837"/>
            <a:ext cx="126000" cy="1758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13"/>
          <p:cNvSpPr/>
          <p:nvPr/>
        </p:nvSpPr>
        <p:spPr>
          <a:xfrm>
            <a:off x="5845160" y="4093837"/>
            <a:ext cx="126000" cy="1758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13"/>
          <p:cNvSpPr/>
          <p:nvPr/>
        </p:nvSpPr>
        <p:spPr>
          <a:xfrm>
            <a:off x="6679890" y="4110662"/>
            <a:ext cx="126000" cy="175800"/>
          </a:xfrm>
          <a:prstGeom prst="ellipse">
            <a:avLst/>
          </a:prstGeom>
          <a:solidFill>
            <a:srgbClr val="98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13"/>
          <p:cNvSpPr/>
          <p:nvPr/>
        </p:nvSpPr>
        <p:spPr>
          <a:xfrm>
            <a:off x="7071345" y="4110562"/>
            <a:ext cx="126000" cy="175800"/>
          </a:xfrm>
          <a:prstGeom prst="ellipse">
            <a:avLst/>
          </a:prstGeom>
          <a:solidFill>
            <a:srgbClr val="98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5" name="Google Shape;175;p13"/>
          <p:cNvCxnSpPr/>
          <p:nvPr/>
        </p:nvCxnSpPr>
        <p:spPr>
          <a:xfrm>
            <a:off x="6414457" y="3940750"/>
            <a:ext cx="0" cy="426900"/>
          </a:xfrm>
          <a:prstGeom prst="straightConnector1">
            <a:avLst/>
          </a:prstGeom>
          <a:noFill/>
          <a:ln cap="flat" cmpd="sng" w="76200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6" name="Google Shape;176;p13"/>
          <p:cNvSpPr txBox="1"/>
          <p:nvPr/>
        </p:nvSpPr>
        <p:spPr>
          <a:xfrm>
            <a:off x="6110552" y="4367650"/>
            <a:ext cx="607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6.5</a:t>
            </a:r>
            <a:endParaRPr b="0" i="0" sz="16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7" name="Google Shape;177;p13"/>
          <p:cNvSpPr/>
          <p:nvPr/>
        </p:nvSpPr>
        <p:spPr>
          <a:xfrm>
            <a:off x="7071350" y="1335075"/>
            <a:ext cx="301800" cy="324300"/>
          </a:xfrm>
          <a:prstGeom prst="donut">
            <a:avLst>
              <a:gd fmla="val 25000" name="adj"/>
            </a:avLst>
          </a:prstGeom>
          <a:solidFill>
            <a:schemeClr val="accent5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13"/>
          <p:cNvSpPr txBox="1"/>
          <p:nvPr/>
        </p:nvSpPr>
        <p:spPr>
          <a:xfrm>
            <a:off x="460675" y="3180025"/>
            <a:ext cx="2817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Tumor Size = 9</a:t>
            </a:r>
            <a:endParaRPr b="0" i="0" sz="1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Age = 42</a:t>
            </a:r>
            <a:endParaRPr b="0" i="0" sz="1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9" name="Google Shape;179;p13"/>
          <p:cNvSpPr txBox="1"/>
          <p:nvPr/>
        </p:nvSpPr>
        <p:spPr>
          <a:xfrm>
            <a:off x="158625" y="3951550"/>
            <a:ext cx="4189500" cy="8466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0.9*9 + 0.1*42 = 8.1 + 4.2 = 12.3</a:t>
            </a:r>
            <a:endParaRPr b="0" i="0" sz="2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" sz="2100" u="none" cap="none" strike="noStrike">
                <a:solidFill>
                  <a:srgbClr val="98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malignant</a:t>
            </a:r>
            <a:endParaRPr b="0" i="0" sz="2900" u="none" cap="none" strike="noStrike">
              <a:solidFill>
                <a:srgbClr val="98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4" name="Google Shape;184;p14"/>
          <p:cNvGraphicFramePr/>
          <p:nvPr/>
        </p:nvGraphicFramePr>
        <p:xfrm>
          <a:off x="158625" y="10042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{AA5F141B-6825-4BDE-A146-B7456003CC4F}</a:tableStyleId>
              </a:tblPr>
              <a:tblGrid>
                <a:gridCol w="1152100"/>
                <a:gridCol w="1152100"/>
                <a:gridCol w="1152100"/>
              </a:tblGrid>
              <a:tr h="4004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Tumor Size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Age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Condition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4004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50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malignant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4004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30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benign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4004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45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benign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4004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40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malignant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cxnSp>
        <p:nvCxnSpPr>
          <p:cNvPr id="185" name="Google Shape;185;p14"/>
          <p:cNvCxnSpPr/>
          <p:nvPr/>
        </p:nvCxnSpPr>
        <p:spPr>
          <a:xfrm flipH="1" rot="10800000">
            <a:off x="4821475" y="4185829"/>
            <a:ext cx="3343500" cy="25200"/>
          </a:xfrm>
          <a:prstGeom prst="straightConnector1">
            <a:avLst/>
          </a:prstGeom>
          <a:noFill/>
          <a:ln cap="flat" cmpd="sng" w="38100">
            <a:solidFill>
              <a:srgbClr val="1155CC"/>
            </a:solidFill>
            <a:prstDash val="solid"/>
            <a:round/>
            <a:headEnd len="med" w="med" type="stealth"/>
            <a:tailEnd len="med" w="med" type="stealth"/>
          </a:ln>
        </p:spPr>
      </p:cxnSp>
      <p:sp>
        <p:nvSpPr>
          <p:cNvPr id="186" name="Google Shape;186;p14"/>
          <p:cNvSpPr/>
          <p:nvPr/>
        </p:nvSpPr>
        <p:spPr>
          <a:xfrm>
            <a:off x="5508413" y="4093837"/>
            <a:ext cx="126000" cy="1758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14"/>
          <p:cNvSpPr/>
          <p:nvPr/>
        </p:nvSpPr>
        <p:spPr>
          <a:xfrm>
            <a:off x="5845160" y="4093837"/>
            <a:ext cx="126000" cy="1758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14"/>
          <p:cNvSpPr/>
          <p:nvPr/>
        </p:nvSpPr>
        <p:spPr>
          <a:xfrm>
            <a:off x="6679890" y="4110662"/>
            <a:ext cx="126000" cy="175800"/>
          </a:xfrm>
          <a:prstGeom prst="ellipse">
            <a:avLst/>
          </a:prstGeom>
          <a:solidFill>
            <a:srgbClr val="98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14"/>
          <p:cNvSpPr/>
          <p:nvPr/>
        </p:nvSpPr>
        <p:spPr>
          <a:xfrm>
            <a:off x="7071345" y="4110562"/>
            <a:ext cx="126000" cy="175800"/>
          </a:xfrm>
          <a:prstGeom prst="ellipse">
            <a:avLst/>
          </a:prstGeom>
          <a:solidFill>
            <a:srgbClr val="98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0" name="Google Shape;190;p14"/>
          <p:cNvCxnSpPr/>
          <p:nvPr/>
        </p:nvCxnSpPr>
        <p:spPr>
          <a:xfrm>
            <a:off x="6414457" y="3940750"/>
            <a:ext cx="0" cy="426900"/>
          </a:xfrm>
          <a:prstGeom prst="straightConnector1">
            <a:avLst/>
          </a:prstGeom>
          <a:noFill/>
          <a:ln cap="flat" cmpd="sng" w="76200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1" name="Google Shape;191;p14"/>
          <p:cNvSpPr txBox="1"/>
          <p:nvPr/>
        </p:nvSpPr>
        <p:spPr>
          <a:xfrm>
            <a:off x="6110552" y="4367650"/>
            <a:ext cx="607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6.5</a:t>
            </a:r>
            <a:endParaRPr b="0" i="0" sz="16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2" name="Google Shape;192;p14"/>
          <p:cNvSpPr txBox="1"/>
          <p:nvPr/>
        </p:nvSpPr>
        <p:spPr>
          <a:xfrm>
            <a:off x="4172950" y="910175"/>
            <a:ext cx="50652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n" sz="27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w1 * x1  +  w2 * x2  =  y</a:t>
            </a:r>
            <a:endParaRPr b="0" i="0" sz="27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3" name="Google Shape;193;p14"/>
          <p:cNvSpPr txBox="1"/>
          <p:nvPr/>
        </p:nvSpPr>
        <p:spPr>
          <a:xfrm>
            <a:off x="158625" y="3951550"/>
            <a:ext cx="4189500" cy="8466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0.9*9 + 0.1*42 = 8.1 + 4.2 = 12.3</a:t>
            </a:r>
            <a:endParaRPr b="0" i="0" sz="2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" sz="2100" u="none" cap="none" strike="noStrike">
                <a:solidFill>
                  <a:srgbClr val="98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malignant</a:t>
            </a:r>
            <a:endParaRPr b="0" i="0" sz="2900" u="none" cap="none" strike="noStrike">
              <a:solidFill>
                <a:srgbClr val="98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4" name="Google Shape;194;p14"/>
          <p:cNvSpPr txBox="1"/>
          <p:nvPr/>
        </p:nvSpPr>
        <p:spPr>
          <a:xfrm>
            <a:off x="382425" y="527275"/>
            <a:ext cx="7380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" sz="19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x1</a:t>
            </a:r>
            <a:endParaRPr b="0" i="0" sz="19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5" name="Google Shape;195;p14"/>
          <p:cNvSpPr txBox="1"/>
          <p:nvPr/>
        </p:nvSpPr>
        <p:spPr>
          <a:xfrm>
            <a:off x="1517775" y="527275"/>
            <a:ext cx="7380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" sz="19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x2</a:t>
            </a:r>
            <a:endParaRPr b="0" i="0" sz="19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6" name="Google Shape;196;p14"/>
          <p:cNvSpPr txBox="1"/>
          <p:nvPr/>
        </p:nvSpPr>
        <p:spPr>
          <a:xfrm>
            <a:off x="2653125" y="527275"/>
            <a:ext cx="7380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" sz="19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b="0" i="0" sz="19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1" name="Google Shape;201;p15"/>
          <p:cNvGraphicFramePr/>
          <p:nvPr/>
        </p:nvGraphicFramePr>
        <p:xfrm>
          <a:off x="158625" y="10042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{AA5F141B-6825-4BDE-A146-B7456003CC4F}</a:tableStyleId>
              </a:tblPr>
              <a:tblGrid>
                <a:gridCol w="1152100"/>
                <a:gridCol w="1152100"/>
                <a:gridCol w="1152100"/>
              </a:tblGrid>
              <a:tr h="4004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Tumor Size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Age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Condition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4004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50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malignant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4004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30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benign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4004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45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benign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4004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40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malignant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02" name="Google Shape;202;p15"/>
          <p:cNvSpPr txBox="1"/>
          <p:nvPr/>
        </p:nvSpPr>
        <p:spPr>
          <a:xfrm>
            <a:off x="4172950" y="910175"/>
            <a:ext cx="50652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n" sz="27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w1 * x1  +  w2 * x2  =  y</a:t>
            </a:r>
            <a:endParaRPr b="0" i="0" sz="27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3" name="Google Shape;203;p15"/>
          <p:cNvSpPr txBox="1"/>
          <p:nvPr/>
        </p:nvSpPr>
        <p:spPr>
          <a:xfrm>
            <a:off x="382425" y="527275"/>
            <a:ext cx="7380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" sz="19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x1</a:t>
            </a:r>
            <a:endParaRPr b="0" i="0" sz="19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4" name="Google Shape;204;p15"/>
          <p:cNvSpPr txBox="1"/>
          <p:nvPr/>
        </p:nvSpPr>
        <p:spPr>
          <a:xfrm>
            <a:off x="1517775" y="527275"/>
            <a:ext cx="7380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" sz="19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x2</a:t>
            </a:r>
            <a:endParaRPr b="0" i="0" sz="19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5" name="Google Shape;205;p15"/>
          <p:cNvSpPr txBox="1"/>
          <p:nvPr/>
        </p:nvSpPr>
        <p:spPr>
          <a:xfrm>
            <a:off x="2653125" y="527275"/>
            <a:ext cx="7380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" sz="19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b="0" i="0" sz="19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6" name="Google Shape;206;p15"/>
          <p:cNvSpPr txBox="1"/>
          <p:nvPr/>
        </p:nvSpPr>
        <p:spPr>
          <a:xfrm>
            <a:off x="628400" y="3258300"/>
            <a:ext cx="4248900" cy="6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0" i="0" lang="en" sz="29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x1, x2, ....., xn = Features</a:t>
            </a:r>
            <a:endParaRPr b="0" i="0" sz="29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7" name="Google Shape;207;p15"/>
          <p:cNvSpPr txBox="1"/>
          <p:nvPr/>
        </p:nvSpPr>
        <p:spPr>
          <a:xfrm>
            <a:off x="628400" y="3889500"/>
            <a:ext cx="4248900" cy="6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0" i="0" lang="en" sz="29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w1, w2, ....., wn = Weights</a:t>
            </a:r>
            <a:endParaRPr b="0" i="0" sz="29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8" name="Google Shape;208;p15"/>
          <p:cNvSpPr txBox="1"/>
          <p:nvPr/>
        </p:nvSpPr>
        <p:spPr>
          <a:xfrm>
            <a:off x="5257525" y="3560175"/>
            <a:ext cx="2985600" cy="6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0" i="0" lang="en" sz="29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= output/ target</a:t>
            </a:r>
            <a:endParaRPr b="0" i="0" sz="29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13" name="Google Shape;213;p16"/>
          <p:cNvGraphicFramePr/>
          <p:nvPr/>
        </p:nvGraphicFramePr>
        <p:xfrm>
          <a:off x="158625" y="10042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{AA5F141B-6825-4BDE-A146-B7456003CC4F}</a:tableStyleId>
              </a:tblPr>
              <a:tblGrid>
                <a:gridCol w="1152100"/>
                <a:gridCol w="1152100"/>
                <a:gridCol w="1152100"/>
              </a:tblGrid>
              <a:tr h="4004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Tumor Size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Age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Condition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4004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50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malignant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4004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30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benign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4004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45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benign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4004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40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malignant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14" name="Google Shape;214;p16"/>
          <p:cNvSpPr txBox="1"/>
          <p:nvPr/>
        </p:nvSpPr>
        <p:spPr>
          <a:xfrm>
            <a:off x="4172950" y="910175"/>
            <a:ext cx="50652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n" sz="27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w1 * x1  +  w2 * x2  =  y</a:t>
            </a:r>
            <a:endParaRPr b="0" i="0" sz="27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5" name="Google Shape;215;p16"/>
          <p:cNvSpPr txBox="1"/>
          <p:nvPr/>
        </p:nvSpPr>
        <p:spPr>
          <a:xfrm>
            <a:off x="382425" y="527275"/>
            <a:ext cx="7380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" sz="19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x1</a:t>
            </a:r>
            <a:endParaRPr b="0" i="0" sz="19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6" name="Google Shape;216;p16"/>
          <p:cNvSpPr txBox="1"/>
          <p:nvPr/>
        </p:nvSpPr>
        <p:spPr>
          <a:xfrm>
            <a:off x="1517775" y="527275"/>
            <a:ext cx="7380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" sz="19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x2</a:t>
            </a:r>
            <a:endParaRPr b="0" i="0" sz="19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7" name="Google Shape;217;p16"/>
          <p:cNvSpPr txBox="1"/>
          <p:nvPr/>
        </p:nvSpPr>
        <p:spPr>
          <a:xfrm>
            <a:off x="2653125" y="527275"/>
            <a:ext cx="7380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" sz="19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b="0" i="0" sz="19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8" name="Google Shape;218;p16"/>
          <p:cNvSpPr txBox="1"/>
          <p:nvPr/>
        </p:nvSpPr>
        <p:spPr>
          <a:xfrm>
            <a:off x="4027425" y="1725150"/>
            <a:ext cx="4189500" cy="15237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Let w1 = 0.1 and w2 = 0.9</a:t>
            </a:r>
            <a:endParaRPr b="0" i="0" sz="2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x1 = 2 and x2 = 5</a:t>
            </a:r>
            <a:endParaRPr b="0" i="0" sz="2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0.1*2 + 0.9*5 = 0.2 + 4.5 = 4.7</a:t>
            </a:r>
            <a:endParaRPr b="0" i="0" sz="2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" sz="2100" u="none" cap="none" strike="noStrike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benign</a:t>
            </a:r>
            <a:endParaRPr b="0" i="0" sz="2900" u="none" cap="none" strike="noStrike">
              <a:solidFill>
                <a:schemeClr val="accent5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3" name="Google Shape;223;p17"/>
          <p:cNvGraphicFramePr/>
          <p:nvPr/>
        </p:nvGraphicFramePr>
        <p:xfrm>
          <a:off x="158625" y="10042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{AA5F141B-6825-4BDE-A146-B7456003CC4F}</a:tableStyleId>
              </a:tblPr>
              <a:tblGrid>
                <a:gridCol w="1152100"/>
                <a:gridCol w="1152100"/>
                <a:gridCol w="1152100"/>
              </a:tblGrid>
              <a:tr h="4004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Tumor Size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Age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Condition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4004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50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malignant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4004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30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benign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4004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45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benign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4004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40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malignant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24" name="Google Shape;224;p17"/>
          <p:cNvSpPr txBox="1"/>
          <p:nvPr/>
        </p:nvSpPr>
        <p:spPr>
          <a:xfrm>
            <a:off x="4172950" y="910175"/>
            <a:ext cx="50652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n" sz="27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w1 * x1  +  w2 * x2  =  y</a:t>
            </a:r>
            <a:endParaRPr b="0" i="0" sz="27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5" name="Google Shape;225;p17"/>
          <p:cNvSpPr txBox="1"/>
          <p:nvPr/>
        </p:nvSpPr>
        <p:spPr>
          <a:xfrm>
            <a:off x="382425" y="527275"/>
            <a:ext cx="7380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" sz="19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x1</a:t>
            </a:r>
            <a:endParaRPr b="0" i="0" sz="19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6" name="Google Shape;226;p17"/>
          <p:cNvSpPr txBox="1"/>
          <p:nvPr/>
        </p:nvSpPr>
        <p:spPr>
          <a:xfrm>
            <a:off x="1517775" y="527275"/>
            <a:ext cx="7380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" sz="19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x2</a:t>
            </a:r>
            <a:endParaRPr b="0" i="0" sz="19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7" name="Google Shape;227;p17"/>
          <p:cNvSpPr txBox="1"/>
          <p:nvPr/>
        </p:nvSpPr>
        <p:spPr>
          <a:xfrm>
            <a:off x="2653125" y="527275"/>
            <a:ext cx="7380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" sz="19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b="0" i="0" sz="19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8" name="Google Shape;228;p17"/>
          <p:cNvSpPr txBox="1"/>
          <p:nvPr/>
        </p:nvSpPr>
        <p:spPr>
          <a:xfrm>
            <a:off x="4027425" y="1725150"/>
            <a:ext cx="4189500" cy="15237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Let w1 = 0.1 and w2 = 0.9</a:t>
            </a:r>
            <a:endParaRPr b="0" i="0" sz="2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x1 = 2 and x2 = 30</a:t>
            </a:r>
            <a:endParaRPr b="0" i="0" sz="2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0.1*2 + 0.9*30 = 0.2 + 27 = 27.2</a:t>
            </a:r>
            <a:endParaRPr b="0" i="0" sz="2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" sz="2100" u="none" cap="none" strike="noStrike">
                <a:solidFill>
                  <a:srgbClr val="98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malignant</a:t>
            </a:r>
            <a:endParaRPr b="0" i="0" sz="2900" u="none" cap="none" strike="noStrike">
              <a:solidFill>
                <a:srgbClr val="98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3" name="Google Shape;233;p18"/>
          <p:cNvGraphicFramePr/>
          <p:nvPr/>
        </p:nvGraphicFramePr>
        <p:xfrm>
          <a:off x="158625" y="10042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{AA5F141B-6825-4BDE-A146-B7456003CC4F}</a:tableStyleId>
              </a:tblPr>
              <a:tblGrid>
                <a:gridCol w="1152100"/>
                <a:gridCol w="1152100"/>
                <a:gridCol w="1152100"/>
              </a:tblGrid>
              <a:tr h="4004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Tumor Size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Age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Condition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4004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50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malignant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4004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30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benign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4004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45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benign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4004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40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malignant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34" name="Google Shape;234;p18"/>
          <p:cNvSpPr txBox="1"/>
          <p:nvPr/>
        </p:nvSpPr>
        <p:spPr>
          <a:xfrm>
            <a:off x="4172950" y="910175"/>
            <a:ext cx="50652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n" sz="27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w1 * x1  +  w2 * x2  =  y</a:t>
            </a:r>
            <a:endParaRPr b="0" i="0" sz="27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5" name="Google Shape;235;p18"/>
          <p:cNvSpPr txBox="1"/>
          <p:nvPr/>
        </p:nvSpPr>
        <p:spPr>
          <a:xfrm>
            <a:off x="382425" y="527275"/>
            <a:ext cx="7380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" sz="19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x1</a:t>
            </a:r>
            <a:endParaRPr b="0" i="0" sz="19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6" name="Google Shape;236;p18"/>
          <p:cNvSpPr txBox="1"/>
          <p:nvPr/>
        </p:nvSpPr>
        <p:spPr>
          <a:xfrm>
            <a:off x="1517775" y="527275"/>
            <a:ext cx="7380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" sz="19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x2</a:t>
            </a:r>
            <a:endParaRPr b="0" i="0" sz="19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7" name="Google Shape;237;p18"/>
          <p:cNvSpPr txBox="1"/>
          <p:nvPr/>
        </p:nvSpPr>
        <p:spPr>
          <a:xfrm>
            <a:off x="2653125" y="527275"/>
            <a:ext cx="7380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" sz="19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b="0" i="0" sz="19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8" name="Google Shape;238;p18"/>
          <p:cNvSpPr txBox="1"/>
          <p:nvPr/>
        </p:nvSpPr>
        <p:spPr>
          <a:xfrm>
            <a:off x="4027425" y="1725150"/>
            <a:ext cx="4189500" cy="15237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Let w1 = 0.1 and w2 = 0.9</a:t>
            </a:r>
            <a:endParaRPr b="0" i="0" sz="2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x1 = 2 and x2 = 30</a:t>
            </a:r>
            <a:endParaRPr b="0" i="0" sz="2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0.1*2 + 0.9*30 = 0.2 + 27 = 27.2</a:t>
            </a:r>
            <a:endParaRPr b="0" i="0" sz="2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" sz="2100" u="none" cap="none" strike="noStrike">
                <a:solidFill>
                  <a:srgbClr val="98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malignant</a:t>
            </a:r>
            <a:endParaRPr b="0" i="0" sz="2900" u="none" cap="none" strike="noStrike">
              <a:solidFill>
                <a:srgbClr val="98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9" name="Google Shape;239;p18"/>
          <p:cNvSpPr txBox="1"/>
          <p:nvPr/>
        </p:nvSpPr>
        <p:spPr>
          <a:xfrm>
            <a:off x="874400" y="3403650"/>
            <a:ext cx="57921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" sz="3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Weights are very important.</a:t>
            </a:r>
            <a:endParaRPr b="0" i="0" sz="3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44" name="Google Shape;244;p19"/>
          <p:cNvGraphicFramePr/>
          <p:nvPr/>
        </p:nvGraphicFramePr>
        <p:xfrm>
          <a:off x="688050" y="1139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{AA5F141B-6825-4BDE-A146-B7456003CC4F}</a:tableStyleId>
              </a:tblPr>
              <a:tblGrid>
                <a:gridCol w="1294650"/>
                <a:gridCol w="1294650"/>
                <a:gridCol w="1294650"/>
                <a:gridCol w="1294650"/>
                <a:gridCol w="1294650"/>
                <a:gridCol w="1294650"/>
              </a:tblGrid>
              <a:tr h="573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Size(sq-feet)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Bedroom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Kitchen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Main road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Balcony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Price(dollar)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573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1600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0.2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20000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3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1400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0.5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12000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3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1600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0.2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10000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3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2000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0.1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43000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49" name="Google Shape;249;p20"/>
          <p:cNvGraphicFramePr/>
          <p:nvPr/>
        </p:nvGraphicFramePr>
        <p:xfrm>
          <a:off x="688050" y="1139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{AA5F141B-6825-4BDE-A146-B7456003CC4F}</a:tableStyleId>
              </a:tblPr>
              <a:tblGrid>
                <a:gridCol w="1294650"/>
                <a:gridCol w="1294650"/>
                <a:gridCol w="1294650"/>
                <a:gridCol w="1294650"/>
                <a:gridCol w="1294650"/>
                <a:gridCol w="1294650"/>
              </a:tblGrid>
              <a:tr h="573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Size(sq-feet)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Bedroom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Kitchen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Main road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Balcony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Price(dollar)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573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1600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0.2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20000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3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1400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0.5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12000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3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1600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0.2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10000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3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2000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0.1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43000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50" name="Google Shape;250;p20"/>
          <p:cNvSpPr txBox="1"/>
          <p:nvPr/>
        </p:nvSpPr>
        <p:spPr>
          <a:xfrm>
            <a:off x="963850" y="662000"/>
            <a:ext cx="7380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" sz="19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x1</a:t>
            </a:r>
            <a:endParaRPr b="0" i="0" sz="19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1" name="Google Shape;251;p20"/>
          <p:cNvSpPr txBox="1"/>
          <p:nvPr/>
        </p:nvSpPr>
        <p:spPr>
          <a:xfrm>
            <a:off x="2260900" y="662000"/>
            <a:ext cx="7380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" sz="19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x2</a:t>
            </a:r>
            <a:endParaRPr b="0" i="0" sz="19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2" name="Google Shape;252;p20"/>
          <p:cNvSpPr txBox="1"/>
          <p:nvPr/>
        </p:nvSpPr>
        <p:spPr>
          <a:xfrm>
            <a:off x="3557950" y="662000"/>
            <a:ext cx="7380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" sz="19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x3</a:t>
            </a:r>
            <a:endParaRPr b="0" i="0" sz="19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3" name="Google Shape;253;p20"/>
          <p:cNvSpPr txBox="1"/>
          <p:nvPr/>
        </p:nvSpPr>
        <p:spPr>
          <a:xfrm>
            <a:off x="6152050" y="662000"/>
            <a:ext cx="7380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" sz="19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x4</a:t>
            </a:r>
            <a:endParaRPr b="0" i="0" sz="19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4" name="Google Shape;254;p20"/>
          <p:cNvSpPr txBox="1"/>
          <p:nvPr/>
        </p:nvSpPr>
        <p:spPr>
          <a:xfrm>
            <a:off x="4855000" y="662000"/>
            <a:ext cx="7380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" sz="19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x4</a:t>
            </a:r>
            <a:endParaRPr b="0" i="0" sz="19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5" name="Google Shape;255;p20"/>
          <p:cNvSpPr txBox="1"/>
          <p:nvPr/>
        </p:nvSpPr>
        <p:spPr>
          <a:xfrm>
            <a:off x="7449100" y="662000"/>
            <a:ext cx="7380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" sz="19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b="0" i="0" sz="19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0" name="Google Shape;260;p21"/>
          <p:cNvGraphicFramePr/>
          <p:nvPr/>
        </p:nvGraphicFramePr>
        <p:xfrm>
          <a:off x="688050" y="1139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{AA5F141B-6825-4BDE-A146-B7456003CC4F}</a:tableStyleId>
              </a:tblPr>
              <a:tblGrid>
                <a:gridCol w="1294650"/>
                <a:gridCol w="1294650"/>
                <a:gridCol w="1294650"/>
                <a:gridCol w="1294650"/>
                <a:gridCol w="1294650"/>
                <a:gridCol w="1294650"/>
              </a:tblGrid>
              <a:tr h="573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Size(sq-feet)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Bedroom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Kitchen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Main road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Balcony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Price(dollar)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573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1600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0.2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20000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3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1400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0.5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12000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3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1600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0.2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10000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3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2000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0.1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43000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61" name="Google Shape;261;p21"/>
          <p:cNvSpPr txBox="1"/>
          <p:nvPr/>
        </p:nvSpPr>
        <p:spPr>
          <a:xfrm>
            <a:off x="963850" y="662000"/>
            <a:ext cx="7380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" sz="19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x1</a:t>
            </a:r>
            <a:endParaRPr b="0" i="0" sz="19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2" name="Google Shape;262;p21"/>
          <p:cNvSpPr txBox="1"/>
          <p:nvPr/>
        </p:nvSpPr>
        <p:spPr>
          <a:xfrm>
            <a:off x="2260900" y="662000"/>
            <a:ext cx="7380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" sz="19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x2</a:t>
            </a:r>
            <a:endParaRPr b="0" i="0" sz="19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3" name="Google Shape;263;p21"/>
          <p:cNvSpPr txBox="1"/>
          <p:nvPr/>
        </p:nvSpPr>
        <p:spPr>
          <a:xfrm>
            <a:off x="3557950" y="662000"/>
            <a:ext cx="7380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" sz="19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x3</a:t>
            </a:r>
            <a:endParaRPr b="0" i="0" sz="19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4" name="Google Shape;264;p21"/>
          <p:cNvSpPr txBox="1"/>
          <p:nvPr/>
        </p:nvSpPr>
        <p:spPr>
          <a:xfrm>
            <a:off x="6152050" y="662000"/>
            <a:ext cx="7380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" sz="19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x5</a:t>
            </a:r>
            <a:endParaRPr b="0" i="0" sz="19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5" name="Google Shape;265;p21"/>
          <p:cNvSpPr txBox="1"/>
          <p:nvPr/>
        </p:nvSpPr>
        <p:spPr>
          <a:xfrm>
            <a:off x="4855000" y="662000"/>
            <a:ext cx="7380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" sz="19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x4</a:t>
            </a:r>
            <a:endParaRPr b="0" i="0" sz="19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6" name="Google Shape;266;p21"/>
          <p:cNvSpPr txBox="1"/>
          <p:nvPr/>
        </p:nvSpPr>
        <p:spPr>
          <a:xfrm>
            <a:off x="7449100" y="662000"/>
            <a:ext cx="7380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" sz="19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b="0" i="0" sz="19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7" name="Google Shape;267;p21"/>
          <p:cNvSpPr txBox="1"/>
          <p:nvPr/>
        </p:nvSpPr>
        <p:spPr>
          <a:xfrm>
            <a:off x="850950" y="4108075"/>
            <a:ext cx="74421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n" sz="27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w1 * x1  +  w2 * x2 + ….. + w4 * x4 =  y</a:t>
            </a:r>
            <a:endParaRPr b="0" i="0" sz="27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8" name="Google Shape;268;p21"/>
          <p:cNvSpPr txBox="1"/>
          <p:nvPr/>
        </p:nvSpPr>
        <p:spPr>
          <a:xfrm>
            <a:off x="2753100" y="163425"/>
            <a:ext cx="54663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chemeClr val="dk2"/>
                </a:solidFill>
              </a:rPr>
              <a:t>Example of </a:t>
            </a:r>
            <a:r>
              <a:rPr lang="en" sz="2300">
                <a:solidFill>
                  <a:schemeClr val="dk2"/>
                </a:solidFill>
              </a:rPr>
              <a:t>Regression</a:t>
            </a:r>
            <a:endParaRPr sz="23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Two Types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4" name="Google Shape;274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4000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Times New Roman"/>
              <a:buAutoNum type="arabicPeriod"/>
            </a:pPr>
            <a:r>
              <a:rPr lang="en" sz="2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Regression</a:t>
            </a:r>
            <a:endParaRPr sz="2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000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Times New Roman"/>
              <a:buAutoNum type="arabicPeriod"/>
            </a:pPr>
            <a:r>
              <a:rPr lang="en" sz="2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Classification</a:t>
            </a:r>
            <a:endParaRPr sz="2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9" name="Google Shape;279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8000" y="608863"/>
            <a:ext cx="8027990" cy="3925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24"/>
          <p:cNvSpPr txBox="1"/>
          <p:nvPr>
            <p:ph type="title"/>
          </p:nvPr>
        </p:nvSpPr>
        <p:spPr>
          <a:xfrm>
            <a:off x="311700" y="585425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What if x3 is not important?</a:t>
            </a:r>
            <a:endParaRPr/>
          </a:p>
        </p:txBody>
      </p:sp>
      <p:sp>
        <p:nvSpPr>
          <p:cNvPr id="285" name="Google Shape;285;p24"/>
          <p:cNvSpPr txBox="1"/>
          <p:nvPr/>
        </p:nvSpPr>
        <p:spPr>
          <a:xfrm>
            <a:off x="850950" y="1871775"/>
            <a:ext cx="74421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n" sz="27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w1 * x1  +  w2 * x2 + w3 * x3 =  y</a:t>
            </a:r>
            <a:endParaRPr b="0" i="0" sz="27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25"/>
          <p:cNvSpPr txBox="1"/>
          <p:nvPr>
            <p:ph type="title"/>
          </p:nvPr>
        </p:nvSpPr>
        <p:spPr>
          <a:xfrm>
            <a:off x="311700" y="585425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What if x3 is not important?</a:t>
            </a:r>
            <a:endParaRPr/>
          </a:p>
        </p:txBody>
      </p:sp>
      <p:sp>
        <p:nvSpPr>
          <p:cNvPr id="291" name="Google Shape;291;p25"/>
          <p:cNvSpPr txBox="1"/>
          <p:nvPr/>
        </p:nvSpPr>
        <p:spPr>
          <a:xfrm>
            <a:off x="850950" y="1871775"/>
            <a:ext cx="74421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n" sz="27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w1 * x1  +  w2 * x2 + w3 * x3 =  y</a:t>
            </a:r>
            <a:endParaRPr b="0" i="0" sz="27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2" name="Google Shape;292;p25"/>
          <p:cNvSpPr txBox="1"/>
          <p:nvPr/>
        </p:nvSpPr>
        <p:spPr>
          <a:xfrm>
            <a:off x="2182625" y="2743950"/>
            <a:ext cx="4237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" sz="2400" u="none" cap="none" strike="noStrike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Simply set w3 = 0</a:t>
            </a:r>
            <a:endParaRPr b="0" i="0" sz="2400" u="none" cap="none" strike="noStrike">
              <a:solidFill>
                <a:srgbClr val="1155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" sz="2400" u="none" cap="none" strike="noStrike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w1 * x1  +  w2 * x2 =  y</a:t>
            </a:r>
            <a:endParaRPr b="0" i="0" sz="2400" u="none" cap="none" strike="noStrike">
              <a:solidFill>
                <a:srgbClr val="1155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26"/>
          <p:cNvSpPr txBox="1"/>
          <p:nvPr>
            <p:ph type="title"/>
          </p:nvPr>
        </p:nvSpPr>
        <p:spPr>
          <a:xfrm>
            <a:off x="311700" y="585425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Mother Law of Machine Learning</a:t>
            </a:r>
            <a:endParaRPr/>
          </a:p>
        </p:txBody>
      </p:sp>
      <p:sp>
        <p:nvSpPr>
          <p:cNvPr id="298" name="Google Shape;298;p26"/>
          <p:cNvSpPr txBox="1"/>
          <p:nvPr/>
        </p:nvSpPr>
        <p:spPr>
          <a:xfrm>
            <a:off x="850950" y="1871775"/>
            <a:ext cx="74421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n" sz="27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w1 * x1  +  w2 * x2 + w3 * x3 =  y</a:t>
            </a:r>
            <a:endParaRPr b="0" i="0" sz="27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27"/>
          <p:cNvSpPr txBox="1"/>
          <p:nvPr>
            <p:ph type="title"/>
          </p:nvPr>
        </p:nvSpPr>
        <p:spPr>
          <a:xfrm>
            <a:off x="311700" y="585425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Mother Law of Machine Learning</a:t>
            </a:r>
            <a:endParaRPr/>
          </a:p>
        </p:txBody>
      </p:sp>
      <p:sp>
        <p:nvSpPr>
          <p:cNvPr id="304" name="Google Shape;304;p27"/>
          <p:cNvSpPr txBox="1"/>
          <p:nvPr/>
        </p:nvSpPr>
        <p:spPr>
          <a:xfrm>
            <a:off x="850950" y="1871775"/>
            <a:ext cx="74421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n" sz="27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w1 * x1  +  w2 * x2 + w3 * x3 =  y</a:t>
            </a:r>
            <a:endParaRPr b="0" i="0" sz="27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05" name="Google Shape;305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99250" y="2571750"/>
            <a:ext cx="4687048" cy="2366625"/>
          </a:xfrm>
          <a:prstGeom prst="rect">
            <a:avLst/>
          </a:prstGeom>
          <a:noFill/>
          <a:ln>
            <a:noFill/>
          </a:ln>
        </p:spPr>
      </p:pic>
      <p:sp>
        <p:nvSpPr>
          <p:cNvPr id="306" name="Google Shape;306;p27"/>
          <p:cNvSpPr/>
          <p:nvPr/>
        </p:nvSpPr>
        <p:spPr>
          <a:xfrm>
            <a:off x="4182900" y="3034650"/>
            <a:ext cx="851100" cy="841800"/>
          </a:xfrm>
          <a:prstGeom prst="ellipse">
            <a:avLst/>
          </a:prstGeom>
          <a:solidFill>
            <a:srgbClr val="6AA8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p27"/>
          <p:cNvSpPr/>
          <p:nvPr/>
        </p:nvSpPr>
        <p:spPr>
          <a:xfrm>
            <a:off x="2249725" y="4600075"/>
            <a:ext cx="4785600" cy="543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28"/>
          <p:cNvSpPr txBox="1"/>
          <p:nvPr>
            <p:ph type="title"/>
          </p:nvPr>
        </p:nvSpPr>
        <p:spPr>
          <a:xfrm>
            <a:off x="311700" y="585425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Mother Law of Machine Learning</a:t>
            </a:r>
            <a:endParaRPr/>
          </a:p>
        </p:txBody>
      </p:sp>
      <p:sp>
        <p:nvSpPr>
          <p:cNvPr id="313" name="Google Shape;313;p28"/>
          <p:cNvSpPr txBox="1"/>
          <p:nvPr/>
        </p:nvSpPr>
        <p:spPr>
          <a:xfrm>
            <a:off x="850950" y="1871775"/>
            <a:ext cx="74421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n" sz="27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w1 * x1  +  w2 * x2 + w3 * x3 =  y</a:t>
            </a:r>
            <a:endParaRPr b="0" i="0" sz="27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14" name="Google Shape;314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99250" y="2571750"/>
            <a:ext cx="4687048" cy="2366625"/>
          </a:xfrm>
          <a:prstGeom prst="rect">
            <a:avLst/>
          </a:prstGeom>
          <a:noFill/>
          <a:ln>
            <a:noFill/>
          </a:ln>
        </p:spPr>
      </p:pic>
      <p:sp>
        <p:nvSpPr>
          <p:cNvPr id="315" name="Google Shape;315;p28"/>
          <p:cNvSpPr/>
          <p:nvPr/>
        </p:nvSpPr>
        <p:spPr>
          <a:xfrm>
            <a:off x="2249725" y="4600075"/>
            <a:ext cx="4785600" cy="543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29"/>
          <p:cNvSpPr txBox="1"/>
          <p:nvPr>
            <p:ph type="title"/>
          </p:nvPr>
        </p:nvSpPr>
        <p:spPr>
          <a:xfrm>
            <a:off x="311700" y="585425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Mother Law of Machine Learning</a:t>
            </a:r>
            <a:endParaRPr/>
          </a:p>
        </p:txBody>
      </p:sp>
      <p:sp>
        <p:nvSpPr>
          <p:cNvPr id="321" name="Google Shape;321;p29"/>
          <p:cNvSpPr txBox="1"/>
          <p:nvPr/>
        </p:nvSpPr>
        <p:spPr>
          <a:xfrm>
            <a:off x="850950" y="1871775"/>
            <a:ext cx="74421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n" sz="27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w1 * x1  +  w2 * x2 + w3 * x3 =  y</a:t>
            </a:r>
            <a:endParaRPr b="0" i="0" sz="27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22" name="Google Shape;322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99250" y="2571750"/>
            <a:ext cx="4687048" cy="2366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30"/>
          <p:cNvSpPr txBox="1"/>
          <p:nvPr>
            <p:ph type="title"/>
          </p:nvPr>
        </p:nvSpPr>
        <p:spPr>
          <a:xfrm>
            <a:off x="311700" y="585425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Neural Network</a:t>
            </a:r>
            <a:endParaRPr/>
          </a:p>
        </p:txBody>
      </p:sp>
      <p:sp>
        <p:nvSpPr>
          <p:cNvPr id="328" name="Google Shape;328;p30"/>
          <p:cNvSpPr txBox="1"/>
          <p:nvPr/>
        </p:nvSpPr>
        <p:spPr>
          <a:xfrm>
            <a:off x="850950" y="1871775"/>
            <a:ext cx="74421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n" sz="27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w1 * x1  +  w2 * x2 + w3 * x3 =  y</a:t>
            </a:r>
            <a:endParaRPr b="0" i="0" sz="27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29" name="Google Shape;329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99250" y="2571750"/>
            <a:ext cx="4687048" cy="2366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31"/>
          <p:cNvSpPr txBox="1"/>
          <p:nvPr>
            <p:ph type="title"/>
          </p:nvPr>
        </p:nvSpPr>
        <p:spPr>
          <a:xfrm>
            <a:off x="311700" y="249975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Neural Network</a:t>
            </a:r>
            <a:endParaRPr/>
          </a:p>
        </p:txBody>
      </p:sp>
      <p:pic>
        <p:nvPicPr>
          <p:cNvPr id="335" name="Google Shape;335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30250" y="1091775"/>
            <a:ext cx="5642580" cy="3411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32"/>
          <p:cNvSpPr txBox="1"/>
          <p:nvPr>
            <p:ph type="title"/>
          </p:nvPr>
        </p:nvSpPr>
        <p:spPr>
          <a:xfrm>
            <a:off x="222250" y="864975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Human Brain</a:t>
            </a:r>
            <a:endParaRPr/>
          </a:p>
        </p:txBody>
      </p:sp>
      <p:pic>
        <p:nvPicPr>
          <p:cNvPr id="341" name="Google Shape;341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22557" y="2413845"/>
            <a:ext cx="1956705" cy="1314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342" name="Google Shape;342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71800" y="2413845"/>
            <a:ext cx="1956705" cy="1314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343" name="Google Shape;343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27253" y="2413844"/>
            <a:ext cx="1956705" cy="1314074"/>
          </a:xfrm>
          <a:prstGeom prst="rect">
            <a:avLst/>
          </a:prstGeom>
          <a:noFill/>
          <a:ln>
            <a:noFill/>
          </a:ln>
        </p:spPr>
      </p:pic>
      <p:sp>
        <p:nvSpPr>
          <p:cNvPr id="344" name="Google Shape;344;p32"/>
          <p:cNvSpPr txBox="1"/>
          <p:nvPr/>
        </p:nvSpPr>
        <p:spPr>
          <a:xfrm>
            <a:off x="289350" y="2907975"/>
            <a:ext cx="17856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Informations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" name="Google Shape;345;p32"/>
          <p:cNvSpPr txBox="1"/>
          <p:nvPr/>
        </p:nvSpPr>
        <p:spPr>
          <a:xfrm>
            <a:off x="7692450" y="2717775"/>
            <a:ext cx="14517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Decision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" name="Google Shape;346;p32"/>
          <p:cNvSpPr/>
          <p:nvPr/>
        </p:nvSpPr>
        <p:spPr>
          <a:xfrm>
            <a:off x="528075" y="2717775"/>
            <a:ext cx="1039800" cy="1902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" name="Google Shape;347;p32"/>
          <p:cNvSpPr/>
          <p:nvPr/>
        </p:nvSpPr>
        <p:spPr>
          <a:xfrm>
            <a:off x="7683950" y="2571750"/>
            <a:ext cx="1039800" cy="1902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33"/>
          <p:cNvSpPr txBox="1"/>
          <p:nvPr>
            <p:ph type="title"/>
          </p:nvPr>
        </p:nvSpPr>
        <p:spPr>
          <a:xfrm>
            <a:off x="222250" y="864975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Machine Brain</a:t>
            </a:r>
            <a:endParaRPr/>
          </a:p>
        </p:txBody>
      </p:sp>
      <p:sp>
        <p:nvSpPr>
          <p:cNvPr id="353" name="Google Shape;353;p33"/>
          <p:cNvSpPr txBox="1"/>
          <p:nvPr/>
        </p:nvSpPr>
        <p:spPr>
          <a:xfrm>
            <a:off x="289350" y="2907975"/>
            <a:ext cx="17856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Informations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354;p33"/>
          <p:cNvSpPr txBox="1"/>
          <p:nvPr/>
        </p:nvSpPr>
        <p:spPr>
          <a:xfrm>
            <a:off x="7692450" y="2717775"/>
            <a:ext cx="14517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Decision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p33"/>
          <p:cNvSpPr/>
          <p:nvPr/>
        </p:nvSpPr>
        <p:spPr>
          <a:xfrm>
            <a:off x="528075" y="2717775"/>
            <a:ext cx="1039800" cy="1902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6" name="Google Shape;356;p33"/>
          <p:cNvSpPr/>
          <p:nvPr/>
        </p:nvSpPr>
        <p:spPr>
          <a:xfrm>
            <a:off x="7683950" y="2571750"/>
            <a:ext cx="1039800" cy="1902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57" name="Google Shape;357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86300" y="1706775"/>
            <a:ext cx="4448474" cy="2689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34"/>
          <p:cNvSpPr txBox="1"/>
          <p:nvPr>
            <p:ph type="title"/>
          </p:nvPr>
        </p:nvSpPr>
        <p:spPr>
          <a:xfrm>
            <a:off x="311700" y="585425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Next Class</a:t>
            </a:r>
            <a:endParaRPr/>
          </a:p>
        </p:txBody>
      </p:sp>
      <p:sp>
        <p:nvSpPr>
          <p:cNvPr id="363" name="Google Shape;363;p34"/>
          <p:cNvSpPr txBox="1"/>
          <p:nvPr/>
        </p:nvSpPr>
        <p:spPr>
          <a:xfrm>
            <a:off x="471875" y="1427225"/>
            <a:ext cx="65517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" sz="2100" u="none" cap="none" strike="noStrike">
                <a:solidFill>
                  <a:srgbClr val="274E1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CNN, Object Detection using </a:t>
            </a:r>
            <a:r>
              <a:rPr lang="en" sz="2100">
                <a:solidFill>
                  <a:srgbClr val="274E1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Neural Network</a:t>
            </a:r>
            <a:r>
              <a:rPr b="0" i="0" lang="en" sz="2100" u="none" cap="none" strike="noStrike">
                <a:solidFill>
                  <a:srgbClr val="274E1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Learning</a:t>
            </a:r>
            <a:endParaRPr b="0" i="0" sz="2100" u="none" cap="none" strike="noStrike">
              <a:solidFill>
                <a:srgbClr val="274E1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64" name="Google Shape;364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1500" y="2020450"/>
            <a:ext cx="4033349" cy="2903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3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Thank You So Much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