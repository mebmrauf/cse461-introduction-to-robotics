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12192000"/>
  <p:notesSz cx="12192000" cy="6858000"/>
  <p:embeddedFontLst>
    <p:embeddedFont>
      <p:font typeface="Noto Sans Symbols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ixZVgW+G4D7j3gM7QL1UJfkSQz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BC74EA-06E3-4300-B101-C6C7F87303B0}">
  <a:tblStyle styleId="{3FBC74EA-06E3-4300-B101-C6C7F87303B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toSansSymbols-bold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NotoSansSymbols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/>
          <p:nvPr>
            <p:ph idx="2" type="sldImg"/>
          </p:nvPr>
        </p:nvSpPr>
        <p:spPr>
          <a:xfrm>
            <a:off x="3810000" y="514350"/>
            <a:ext cx="4573588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/>
          <p:nvPr>
            <p:ph idx="2" type="sldImg"/>
          </p:nvPr>
        </p:nvSpPr>
        <p:spPr>
          <a:xfrm>
            <a:off x="3810000" y="514350"/>
            <a:ext cx="4573588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4" name="Google Shape;14;p3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5" name="Google Shape;15;p34"/>
          <p:cNvSpPr txBox="1"/>
          <p:nvPr>
            <p:ph idx="12" type="sldNum"/>
          </p:nvPr>
        </p:nvSpPr>
        <p:spPr>
          <a:xfrm>
            <a:off x="11296610" y="6217622"/>
            <a:ext cx="731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5"/>
          <p:cNvSpPr txBox="1"/>
          <p:nvPr>
            <p:ph type="title"/>
          </p:nvPr>
        </p:nvSpPr>
        <p:spPr>
          <a:xfrm>
            <a:off x="917257" y="389953"/>
            <a:ext cx="82239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5"/>
          <p:cNvSpPr txBox="1"/>
          <p:nvPr>
            <p:ph idx="1" type="body"/>
          </p:nvPr>
        </p:nvSpPr>
        <p:spPr>
          <a:xfrm>
            <a:off x="917257" y="1422463"/>
            <a:ext cx="8268300" cy="45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1" type="ftr"/>
          </p:nvPr>
        </p:nvSpPr>
        <p:spPr>
          <a:xfrm>
            <a:off x="917257" y="6465252"/>
            <a:ext cx="676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0" type="dt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idx="12" type="sldNum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6"/>
          <p:cNvSpPr txBox="1"/>
          <p:nvPr>
            <p:ph type="ctrTitle"/>
          </p:nvPr>
        </p:nvSpPr>
        <p:spPr>
          <a:xfrm>
            <a:off x="914400" y="2125980"/>
            <a:ext cx="103632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1" type="ftr"/>
          </p:nvPr>
        </p:nvSpPr>
        <p:spPr>
          <a:xfrm>
            <a:off x="917257" y="6465252"/>
            <a:ext cx="676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0" type="dt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2" type="sldNum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3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612119" y="137160"/>
            <a:ext cx="1163320" cy="106425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33"/>
          <p:cNvSpPr txBox="1"/>
          <p:nvPr>
            <p:ph type="title"/>
          </p:nvPr>
        </p:nvSpPr>
        <p:spPr>
          <a:xfrm>
            <a:off x="917257" y="389953"/>
            <a:ext cx="82239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" type="body"/>
          </p:nvPr>
        </p:nvSpPr>
        <p:spPr>
          <a:xfrm>
            <a:off x="917257" y="1422463"/>
            <a:ext cx="8268300" cy="45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917257" y="6465252"/>
            <a:ext cx="6768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3"/>
          <p:cNvSpPr txBox="1"/>
          <p:nvPr>
            <p:ph idx="10" type="dt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3"/>
          <p:cNvSpPr txBox="1"/>
          <p:nvPr>
            <p:ph idx="12" type="sldNum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>
            <p:ph type="ctrTitle"/>
          </p:nvPr>
        </p:nvSpPr>
        <p:spPr>
          <a:xfrm>
            <a:off x="209361" y="859259"/>
            <a:ext cx="11360700" cy="212365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Frontier Based Algorithm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Simulation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415600" y="3729567"/>
            <a:ext cx="11360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Brac University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 txBox="1"/>
          <p:nvPr>
            <p:ph type="title"/>
          </p:nvPr>
        </p:nvSpPr>
        <p:spPr>
          <a:xfrm>
            <a:off x="917257" y="389953"/>
            <a:ext cx="82239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is an Occupancy Grid?</a:t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917257" y="1468056"/>
            <a:ext cx="98298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27965" lvl="0" marL="240665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A6A6A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🡽</a:t>
            </a:r>
            <a:r>
              <a:rPr b="0" i="0" lang="en-US" sz="1800" u="none" cap="none" strike="noStrike">
                <a:solidFill>
                  <a:srgbClr val="A6A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18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A way of representing a map as a gridded world where each cell is either “occupied” or “empty” or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4130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52525"/>
                </a:solidFill>
                <a:latin typeface="Calibri"/>
                <a:ea typeface="Calibri"/>
                <a:cs typeface="Calibri"/>
                <a:sym typeface="Calibri"/>
              </a:rPr>
              <a:t>“unknown”.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1399" y="2455991"/>
            <a:ext cx="5108551" cy="3438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2427" y="2914163"/>
            <a:ext cx="2871904" cy="218477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 txBox="1"/>
          <p:nvPr>
            <p:ph idx="10" type="dt"/>
          </p:nvPr>
        </p:nvSpPr>
        <p:spPr>
          <a:xfrm>
            <a:off x="5048503" y="6465252"/>
            <a:ext cx="20949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CSE461 : Introduction to Robotics</a:t>
            </a:r>
            <a:endParaRPr/>
          </a:p>
        </p:txBody>
      </p:sp>
      <p:sp>
        <p:nvSpPr>
          <p:cNvPr id="43" name="Google Shape;43;p2"/>
          <p:cNvSpPr txBox="1"/>
          <p:nvPr>
            <p:ph idx="12" type="sldNum"/>
          </p:nvPr>
        </p:nvSpPr>
        <p:spPr>
          <a:xfrm>
            <a:off x="11074018" y="6465252"/>
            <a:ext cx="2412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Google Shape;48;p3"/>
          <p:cNvGraphicFramePr/>
          <p:nvPr/>
        </p:nvGraphicFramePr>
        <p:xfrm>
          <a:off x="753551" y="1388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4" name="Google Shape;54;p4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0" name="Google Shape;60;p5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Google Shape;65;p6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66" name="Google Shape;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7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72" name="Google Shape;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" name="Google Shape;77;p8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78" name="Google Shape;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Google Shape;83;p9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84" name="Google Shape;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0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Google Shape;95;p11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96" name="Google Shape;9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12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102" name="Google Shape;10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p13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108" name="Google Shape;10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Google Shape;113;p14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114" name="Google Shape;1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Google Shape;119;p15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" name="Google Shape;125;p16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" name="Google Shape;131;p17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18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p19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144" name="Google Shape;1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20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150" name="Google Shape;15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Google Shape;155;p21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156" name="Google Shape;1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" name="Google Shape;161;p22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162" name="Google Shape;1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" name="Google Shape;167;p23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168" name="Google Shape;1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3" name="Google Shape;173;p24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174" name="Google Shape;17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" name="Google Shape;179;p25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180" name="Google Shape;1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Google Shape;185;p26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186" name="Google Shape;18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" name="Google Shape;191;p27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192" name="Google Shape;19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" name="Google Shape;197;p28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198" name="Google Shape;19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" name="Google Shape;203;p29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204" name="Google Shape;20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" name="Google Shape;209;p30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210" name="Google Shape;2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" name="Google Shape;215;p31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216" name="Google Shape;2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" name="Google Shape;221;p32"/>
          <p:cNvGraphicFramePr/>
          <p:nvPr/>
        </p:nvGraphicFramePr>
        <p:xfrm>
          <a:off x="457200" y="457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{3FBC74EA-06E3-4300-B101-C6C7F87303B0}</a:tableStyleId>
              </a:tblPr>
              <a:tblGrid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  <a:gridCol w="275175"/>
              </a:tblGrid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  <a:tr h="31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0070C0"/>
                    </a:solidFill>
                  </a:tcPr>
                </a:tc>
              </a:tr>
            </a:tbl>
          </a:graphicData>
        </a:graphic>
      </p:graphicFrame>
      <p:pic>
        <p:nvPicPr>
          <p:cNvPr id="222" name="Google Shape;22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4560" y="3972561"/>
            <a:ext cx="3535680" cy="227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</cp:coreProperties>
</file>