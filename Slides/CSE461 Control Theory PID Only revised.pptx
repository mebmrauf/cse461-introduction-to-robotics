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4"/>
  </p:notesMasterIdLst>
  <p:sldIdLst>
    <p:sldId id="256" r:id="rId2"/>
    <p:sldId id="295" r:id="rId3"/>
    <p:sldId id="296" r:id="rId4"/>
    <p:sldId id="297"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91" r:id="rId19"/>
    <p:sldId id="292" r:id="rId20"/>
    <p:sldId id="270" r:id="rId21"/>
    <p:sldId id="293" r:id="rId22"/>
    <p:sldId id="273" r:id="rId23"/>
    <p:sldId id="294" r:id="rId24"/>
    <p:sldId id="274" r:id="rId25"/>
    <p:sldId id="275" r:id="rId26"/>
    <p:sldId id="276" r:id="rId27"/>
    <p:sldId id="299" r:id="rId28"/>
    <p:sldId id="300" r:id="rId29"/>
    <p:sldId id="277" r:id="rId30"/>
    <p:sldId id="279" r:id="rId31"/>
    <p:sldId id="278" r:id="rId32"/>
    <p:sldId id="280" r:id="rId33"/>
    <p:sldId id="301" r:id="rId34"/>
    <p:sldId id="281" r:id="rId35"/>
    <p:sldId id="282" r:id="rId36"/>
    <p:sldId id="298" r:id="rId37"/>
    <p:sldId id="283" r:id="rId38"/>
    <p:sldId id="286" r:id="rId39"/>
    <p:sldId id="287" r:id="rId40"/>
    <p:sldId id="288" r:id="rId41"/>
    <p:sldId id="289" r:id="rId42"/>
    <p:sldId id="290" r:id="rId4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5" roundtripDataSignature="AMtx7mg6MpGq5T1t/A7TIvbbUzdh5UPHo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780" y="6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26caf2632e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26caf2632e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26caf2632ea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26caf2632ea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26caf2632ea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6caf2632ea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26caf2632ea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26caf2632ea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26caf2632ea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26caf2632ea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26caf2632ea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26caf2632ea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26caf2632ea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6caf2632ea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26caf2632ea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26caf2632ea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6caf2632ea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26caf2632ea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26caf2632ea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26caf2632ea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26caf2632ea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26caf2632ea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26caf2632ea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26caf2632ea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26caf2632ea_0_1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26caf2632ea_0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26caf2632ea_0_1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26caf2632ea_0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970437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26caf2632ea_0_1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26caf2632ea_0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331850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26caf2632ea_0_1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26caf2632ea_0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26caf2632ea_3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26caf2632ea_3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17395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26caf2632ea_3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26caf2632ea_3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26caf2632ea_3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26caf2632ea_3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185647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6caf2632ea_0_1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6caf2632ea_0_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26caf2632ea_0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g26caf2632ea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26caf2632ea_3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26caf2632ea_3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1" name="Google Shape;371;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10073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9" name="Google Shape;379;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8745894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26caf2632ea_1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26caf2632ea_1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26caf2632ea_1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26caf2632ea_1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26caf2632ea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26caf2632ea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26caf2632ea_1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26caf2632ea_1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26caf2632ea_3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26caf2632ea_3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4970675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26caf2632ea_1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26caf2632ea_1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26caf2632ea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 name="Google Shape;349;g26caf2632ea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26caf2632ea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 name="Google Shape;349;g26caf2632ea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457642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2c70e3cbe86_1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 name="Google Shape;365;g2c70e3cbe86_1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7" name="Google Shape;387;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3" name="Google Shape;393;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g2c7146d54e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0" name="Google Shape;400;g2c7146d54e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g2c7146d54e6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6" name="Google Shape;406;g2c7146d54e6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2" name="Google Shape;412;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3"/>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3"/>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2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2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6" name="Google Shape;16;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2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2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26"/>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26"/>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2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28"/>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28"/>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29"/>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30"/>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3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3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3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31"/>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32"/>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32"/>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3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3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2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2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1.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1.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1.xml"/><Relationship Id="rId5"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1.xml"/><Relationship Id="rId5" Type="http://schemas.openxmlformats.org/officeDocument/2006/relationships/image" Target="../media/image9.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1.xml"/><Relationship Id="rId5" Type="http://schemas.openxmlformats.org/officeDocument/2006/relationships/image" Target="../media/image9.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1.xml"/><Relationship Id="rId5" Type="http://schemas.openxmlformats.org/officeDocument/2006/relationships/image" Target="../media/image9.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1.xml"/><Relationship Id="rId5" Type="http://schemas.openxmlformats.org/officeDocument/2006/relationships/image" Target="../media/image9.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1.xml"/><Relationship Id="rId5" Type="http://schemas.openxmlformats.org/officeDocument/2006/relationships/image" Target="../media/image9.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1.xml"/><Relationship Id="rId5" Type="http://schemas.openxmlformats.org/officeDocument/2006/relationships/image" Target="../media/image9.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1.xml"/><Relationship Id="rId5" Type="http://schemas.openxmlformats.org/officeDocument/2006/relationships/image" Target="../media/image12.png"/><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1.xml"/><Relationship Id="rId5" Type="http://schemas.openxmlformats.org/officeDocument/2006/relationships/image" Target="../media/image13.png"/><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11.xml"/><Relationship Id="rId5" Type="http://schemas.openxmlformats.org/officeDocument/2006/relationships/image" Target="../media/image14.png"/><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11.xml"/><Relationship Id="rId5" Type="http://schemas.openxmlformats.org/officeDocument/2006/relationships/image" Target="../media/image13.png"/><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11.xml"/><Relationship Id="rId5" Type="http://schemas.openxmlformats.org/officeDocument/2006/relationships/image" Target="../media/image12.png"/><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11.xml"/><Relationship Id="rId5" Type="http://schemas.openxmlformats.org/officeDocument/2006/relationships/image" Target="../media/image12.png"/><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11.xml"/><Relationship Id="rId5" Type="http://schemas.openxmlformats.org/officeDocument/2006/relationships/image" Target="../media/image12.png"/><Relationship Id="rId4" Type="http://schemas.openxmlformats.org/officeDocument/2006/relationships/image" Target="../media/image9.png"/></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11.xml"/><Relationship Id="rId5" Type="http://schemas.openxmlformats.org/officeDocument/2006/relationships/image" Target="../media/image12.png"/><Relationship Id="rId4" Type="http://schemas.openxmlformats.org/officeDocument/2006/relationships/image" Target="../media/image9.png"/></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11.xml"/><Relationship Id="rId5" Type="http://schemas.openxmlformats.org/officeDocument/2006/relationships/image" Target="../media/image12.png"/><Relationship Id="rId4" Type="http://schemas.openxmlformats.org/officeDocument/2006/relationships/image" Target="../media/image9.png"/></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11.xml"/><Relationship Id="rId5" Type="http://schemas.openxmlformats.org/officeDocument/2006/relationships/image" Target="../media/image18.png"/><Relationship Id="rId4" Type="http://schemas.openxmlformats.org/officeDocument/2006/relationships/image" Target="../media/image12.png"/></Relationships>
</file>

<file path=ppt/slides/_rels/slide33.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11.xml"/><Relationship Id="rId5" Type="http://schemas.openxmlformats.org/officeDocument/2006/relationships/image" Target="../media/image12.png"/><Relationship Id="rId4" Type="http://schemas.openxmlformats.org/officeDocument/2006/relationships/image" Target="../media/image9.png"/></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2.xml"/><Relationship Id="rId1" Type="http://schemas.openxmlformats.org/officeDocument/2006/relationships/slideLayout" Target="../slideLayouts/slideLayout11.xml"/><Relationship Id="rId5" Type="http://schemas.openxmlformats.org/officeDocument/2006/relationships/image" Target="../media/image12.png"/><Relationship Id="rId4" Type="http://schemas.openxmlformats.org/officeDocument/2006/relationships/image" Target="../media/image9.png"/></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3.xml"/><Relationship Id="rId1" Type="http://schemas.openxmlformats.org/officeDocument/2006/relationships/slideLayout" Target="../slideLayouts/slideLayout11.xml"/><Relationship Id="rId5" Type="http://schemas.openxmlformats.org/officeDocument/2006/relationships/image" Target="../media/image12.png"/><Relationship Id="rId4" Type="http://schemas.openxmlformats.org/officeDocument/2006/relationships/image" Target="../media/image9.png"/></Relationships>
</file>

<file path=ppt/slides/_rels/slide37.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p>
            <a:pPr marL="0" lvl="0" indent="0" algn="ctr" rtl="0">
              <a:lnSpc>
                <a:spcPct val="100000"/>
              </a:lnSpc>
              <a:spcBef>
                <a:spcPts val="0"/>
              </a:spcBef>
              <a:spcAft>
                <a:spcPts val="0"/>
              </a:spcAft>
              <a:buSzPts val="5200"/>
              <a:buNone/>
            </a:pPr>
            <a:r>
              <a:rPr lang="en" sz="4100">
                <a:latin typeface="Times New Roman"/>
                <a:ea typeface="Times New Roman"/>
                <a:cs typeface="Times New Roman"/>
                <a:sym typeface="Times New Roman"/>
              </a:rPr>
              <a:t>Introduction to Robotics</a:t>
            </a:r>
            <a:endParaRPr sz="4100">
              <a:latin typeface="Times New Roman"/>
              <a:ea typeface="Times New Roman"/>
              <a:cs typeface="Times New Roman"/>
              <a:sym typeface="Times New Roman"/>
            </a:endParaRPr>
          </a:p>
          <a:p>
            <a:pPr marL="0" lvl="0" indent="0" algn="ctr" rtl="0">
              <a:lnSpc>
                <a:spcPct val="100000"/>
              </a:lnSpc>
              <a:spcBef>
                <a:spcPts val="0"/>
              </a:spcBef>
              <a:spcAft>
                <a:spcPts val="0"/>
              </a:spcAft>
              <a:buSzPts val="5200"/>
              <a:buNone/>
            </a:pPr>
            <a:r>
              <a:rPr lang="en" sz="4100">
                <a:latin typeface="Times New Roman"/>
                <a:ea typeface="Times New Roman"/>
                <a:cs typeface="Times New Roman"/>
                <a:sym typeface="Times New Roman"/>
              </a:rPr>
              <a:t>CSE 461</a:t>
            </a:r>
            <a:endParaRPr sz="4100">
              <a:latin typeface="Times New Roman"/>
              <a:ea typeface="Times New Roman"/>
              <a:cs typeface="Times New Roman"/>
              <a:sym typeface="Times New Roman"/>
            </a:endParaRPr>
          </a:p>
        </p:txBody>
      </p:sp>
      <p:sp>
        <p:nvSpPr>
          <p:cNvPr id="55" name="Google Shape;55;p1"/>
          <p:cNvSpPr txBox="1">
            <a:spLocks noGrp="1"/>
          </p:cNvSpPr>
          <p:nvPr>
            <p:ph type="subTitle" idx="1"/>
          </p:nvPr>
        </p:nvSpPr>
        <p:spPr>
          <a:xfrm>
            <a:off x="46975" y="2834125"/>
            <a:ext cx="8978700" cy="1383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ct val="117646"/>
              <a:buNone/>
            </a:pPr>
            <a:r>
              <a:rPr lang="en" dirty="0">
                <a:latin typeface="Times New Roman"/>
                <a:ea typeface="Times New Roman"/>
                <a:cs typeface="Times New Roman"/>
                <a:sym typeface="Times New Roman"/>
              </a:rPr>
              <a:t>Class Topic: Introduction to Control System Theory (PID)</a:t>
            </a:r>
            <a:endParaRPr dirty="0">
              <a:latin typeface="Times New Roman"/>
              <a:ea typeface="Times New Roman"/>
              <a:cs typeface="Times New Roman"/>
              <a:sym typeface="Times New Roman"/>
            </a:endParaRPr>
          </a:p>
          <a:p>
            <a:pPr marL="0" lvl="0" indent="0" algn="ctr" rtl="0">
              <a:lnSpc>
                <a:spcPct val="100000"/>
              </a:lnSpc>
              <a:spcBef>
                <a:spcPts val="0"/>
              </a:spcBef>
              <a:spcAft>
                <a:spcPts val="0"/>
              </a:spcAft>
              <a:buSzPct val="117646"/>
              <a:buNone/>
            </a:pPr>
            <a:r>
              <a:rPr lang="en" dirty="0" smtClean="0">
                <a:latin typeface="Times New Roman"/>
                <a:ea typeface="Times New Roman"/>
                <a:cs typeface="Times New Roman"/>
                <a:sym typeface="Times New Roman"/>
              </a:rPr>
              <a:t>Brac </a:t>
            </a:r>
            <a:r>
              <a:rPr lang="en" dirty="0">
                <a:latin typeface="Times New Roman"/>
                <a:ea typeface="Times New Roman"/>
                <a:cs typeface="Times New Roman"/>
                <a:sym typeface="Times New Roman"/>
              </a:rPr>
              <a:t>University</a:t>
            </a:r>
            <a:endParaRPr dirty="0">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2</a:t>
            </a:r>
            <a:r>
              <a:rPr lang="en-US" baseline="30000" dirty="0" smtClean="0"/>
              <a:t>nd</a:t>
            </a:r>
            <a:r>
              <a:rPr lang="en-US" dirty="0" smtClean="0"/>
              <a:t> order control system</a:t>
            </a:r>
            <a:endParaRPr lang="en-US" dirty="0"/>
          </a:p>
        </p:txBody>
      </p:sp>
      <p:pic>
        <p:nvPicPr>
          <p:cNvPr id="6" name="Picture 5"/>
          <p:cNvPicPr>
            <a:picLocks noChangeAspect="1"/>
          </p:cNvPicPr>
          <p:nvPr/>
        </p:nvPicPr>
        <p:blipFill>
          <a:blip r:embed="rId2"/>
          <a:stretch>
            <a:fillRect/>
          </a:stretch>
        </p:blipFill>
        <p:spPr>
          <a:xfrm>
            <a:off x="381000" y="1181100"/>
            <a:ext cx="8230313" cy="3798137"/>
          </a:xfrm>
          <a:prstGeom prst="rect">
            <a:avLst/>
          </a:prstGeom>
        </p:spPr>
      </p:pic>
    </p:spTree>
    <p:extLst>
      <p:ext uri="{BB962C8B-B14F-4D97-AF65-F5344CB8AC3E}">
        <p14:creationId xmlns:p14="http://schemas.microsoft.com/office/powerpoint/2010/main" val="314707989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Effect of PID controller function</a:t>
            </a:r>
            <a:endParaRPr lang="en-US" dirty="0"/>
          </a:p>
        </p:txBody>
      </p:sp>
      <p:pic>
        <p:nvPicPr>
          <p:cNvPr id="3" name="Picture 2"/>
          <p:cNvPicPr>
            <a:picLocks noChangeAspect="1"/>
          </p:cNvPicPr>
          <p:nvPr/>
        </p:nvPicPr>
        <p:blipFill>
          <a:blip r:embed="rId2"/>
          <a:stretch>
            <a:fillRect/>
          </a:stretch>
        </p:blipFill>
        <p:spPr>
          <a:xfrm>
            <a:off x="248283" y="1457115"/>
            <a:ext cx="4244889" cy="2731589"/>
          </a:xfrm>
          <a:prstGeom prst="rect">
            <a:avLst/>
          </a:prstGeom>
        </p:spPr>
      </p:pic>
      <p:pic>
        <p:nvPicPr>
          <p:cNvPr id="1026" name="Picture 2" descr="What Is A PID Controller And How It Works? - PLCynergy"/>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508937" y="1344267"/>
            <a:ext cx="4346247" cy="34583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605558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Proportional works with football field</a:t>
            </a:r>
            <a:endParaRPr lang="en-US" dirty="0"/>
          </a:p>
        </p:txBody>
      </p:sp>
      <p:pic>
        <p:nvPicPr>
          <p:cNvPr id="3" name="Picture 2"/>
          <p:cNvPicPr>
            <a:picLocks noChangeAspect="1"/>
          </p:cNvPicPr>
          <p:nvPr/>
        </p:nvPicPr>
        <p:blipFill>
          <a:blip r:embed="rId2"/>
          <a:stretch>
            <a:fillRect/>
          </a:stretch>
        </p:blipFill>
        <p:spPr>
          <a:xfrm>
            <a:off x="1466527" y="1250068"/>
            <a:ext cx="6400800" cy="3565636"/>
          </a:xfrm>
          <a:prstGeom prst="rect">
            <a:avLst/>
          </a:prstGeom>
        </p:spPr>
      </p:pic>
    </p:spTree>
    <p:extLst>
      <p:ext uri="{BB962C8B-B14F-4D97-AF65-F5344CB8AC3E}">
        <p14:creationId xmlns:p14="http://schemas.microsoft.com/office/powerpoint/2010/main" val="174551567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g26caf2632ea_0_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61" name="Google Shape;61;g26caf2632ea_0_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pic>
        <p:nvPicPr>
          <p:cNvPr id="62" name="Google Shape;62;g26caf2632ea_0_0"/>
          <p:cNvPicPr preferRelativeResize="0"/>
          <p:nvPr/>
        </p:nvPicPr>
        <p:blipFill>
          <a:blip r:embed="rId3">
            <a:alphaModFix/>
          </a:blip>
          <a:stretch>
            <a:fillRect/>
          </a:stretch>
        </p:blipFill>
        <p:spPr>
          <a:xfrm>
            <a:off x="264725" y="97388"/>
            <a:ext cx="8073800" cy="5046125"/>
          </a:xfrm>
          <a:prstGeom prst="rect">
            <a:avLst/>
          </a:prstGeom>
          <a:noFill/>
          <a:ln>
            <a:noFill/>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pic>
        <p:nvPicPr>
          <p:cNvPr id="67" name="Google Shape;67;g26caf2632ea_0_6"/>
          <p:cNvPicPr preferRelativeResize="0"/>
          <p:nvPr/>
        </p:nvPicPr>
        <p:blipFill>
          <a:blip r:embed="rId3">
            <a:alphaModFix/>
          </a:blip>
          <a:stretch>
            <a:fillRect/>
          </a:stretch>
        </p:blipFill>
        <p:spPr>
          <a:xfrm>
            <a:off x="245804" y="48725"/>
            <a:ext cx="8073723" cy="5046051"/>
          </a:xfrm>
          <a:prstGeom prst="rect">
            <a:avLst/>
          </a:prstGeom>
          <a:noFill/>
          <a:ln>
            <a:noFill/>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pic>
        <p:nvPicPr>
          <p:cNvPr id="72" name="Google Shape;72;g26caf2632ea_0_12"/>
          <p:cNvPicPr preferRelativeResize="0"/>
          <p:nvPr/>
        </p:nvPicPr>
        <p:blipFill>
          <a:blip r:embed="rId3">
            <a:alphaModFix/>
          </a:blip>
          <a:stretch>
            <a:fillRect/>
          </a:stretch>
        </p:blipFill>
        <p:spPr>
          <a:xfrm>
            <a:off x="472175" y="97441"/>
            <a:ext cx="7917798" cy="4948621"/>
          </a:xfrm>
          <a:prstGeom prst="rect">
            <a:avLst/>
          </a:prstGeom>
          <a:noFill/>
          <a:ln>
            <a:noFill/>
          </a:ln>
        </p:spPr>
      </p:pic>
      <p:sp>
        <p:nvSpPr>
          <p:cNvPr id="73" name="Google Shape;73;g26caf2632ea_0_12"/>
          <p:cNvSpPr txBox="1"/>
          <p:nvPr/>
        </p:nvSpPr>
        <p:spPr>
          <a:xfrm>
            <a:off x="3396125" y="2059750"/>
            <a:ext cx="3123600" cy="120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b="1">
                <a:solidFill>
                  <a:schemeClr val="dk1"/>
                </a:solidFill>
              </a:rPr>
              <a:t>Desired Altitude - Actual Altitude</a:t>
            </a:r>
            <a:endParaRPr sz="1300" b="1">
              <a:solidFill>
                <a:schemeClr val="dk1"/>
              </a:solidFill>
            </a:endParaRPr>
          </a:p>
          <a:p>
            <a:pPr marL="0" lvl="0" indent="0" algn="l" rtl="0">
              <a:spcBef>
                <a:spcPts val="0"/>
              </a:spcBef>
              <a:spcAft>
                <a:spcPts val="0"/>
              </a:spcAft>
              <a:buNone/>
            </a:pPr>
            <a:r>
              <a:rPr lang="en" sz="1300" b="1">
                <a:solidFill>
                  <a:schemeClr val="dk1"/>
                </a:solidFill>
              </a:rPr>
              <a:t>= 60m - 0m</a:t>
            </a:r>
            <a:endParaRPr sz="1300" b="1">
              <a:solidFill>
                <a:schemeClr val="dk1"/>
              </a:solidFill>
            </a:endParaRPr>
          </a:p>
          <a:p>
            <a:pPr marL="0" lvl="0" indent="0" algn="l" rtl="0">
              <a:spcBef>
                <a:spcPts val="0"/>
              </a:spcBef>
              <a:spcAft>
                <a:spcPts val="0"/>
              </a:spcAft>
              <a:buNone/>
            </a:pPr>
            <a:r>
              <a:rPr lang="en" sz="1300" b="1">
                <a:solidFill>
                  <a:schemeClr val="dk1"/>
                </a:solidFill>
              </a:rPr>
              <a:t>= 60</a:t>
            </a:r>
            <a:endParaRPr sz="1300" b="1">
              <a:solidFill>
                <a:schemeClr val="dk1"/>
              </a:solidFill>
            </a:endParaRPr>
          </a:p>
          <a:p>
            <a:pPr marL="0" lvl="0" indent="0" algn="l" rtl="0">
              <a:spcBef>
                <a:spcPts val="0"/>
              </a:spcBef>
              <a:spcAft>
                <a:spcPts val="0"/>
              </a:spcAft>
              <a:buNone/>
            </a:pPr>
            <a:endParaRPr sz="1300" b="1">
              <a:solidFill>
                <a:schemeClr val="dk1"/>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pic>
        <p:nvPicPr>
          <p:cNvPr id="78" name="Google Shape;78;g26caf2632ea_0_17"/>
          <p:cNvPicPr preferRelativeResize="0"/>
          <p:nvPr/>
        </p:nvPicPr>
        <p:blipFill>
          <a:blip r:embed="rId3">
            <a:alphaModFix/>
          </a:blip>
          <a:stretch>
            <a:fillRect/>
          </a:stretch>
        </p:blipFill>
        <p:spPr>
          <a:xfrm>
            <a:off x="613100" y="97441"/>
            <a:ext cx="7917798" cy="4948621"/>
          </a:xfrm>
          <a:prstGeom prst="rect">
            <a:avLst/>
          </a:prstGeom>
          <a:noFill/>
          <a:ln>
            <a:noFill/>
          </a:ln>
        </p:spPr>
      </p:pic>
      <p:sp>
        <p:nvSpPr>
          <p:cNvPr id="79" name="Google Shape;79;g26caf2632ea_0_17"/>
          <p:cNvSpPr txBox="1"/>
          <p:nvPr/>
        </p:nvSpPr>
        <p:spPr>
          <a:xfrm>
            <a:off x="3396125" y="2059750"/>
            <a:ext cx="3123600" cy="120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b="1">
                <a:solidFill>
                  <a:schemeClr val="dk1"/>
                </a:solidFill>
              </a:rPr>
              <a:t>Desired Altitude - Actual Altitude</a:t>
            </a:r>
            <a:endParaRPr sz="1300" b="1">
              <a:solidFill>
                <a:schemeClr val="dk1"/>
              </a:solidFill>
            </a:endParaRPr>
          </a:p>
          <a:p>
            <a:pPr marL="0" lvl="0" indent="0" algn="l" rtl="0">
              <a:spcBef>
                <a:spcPts val="0"/>
              </a:spcBef>
              <a:spcAft>
                <a:spcPts val="0"/>
              </a:spcAft>
              <a:buNone/>
            </a:pPr>
            <a:r>
              <a:rPr lang="en" sz="1300" b="1">
                <a:solidFill>
                  <a:schemeClr val="dk1"/>
                </a:solidFill>
              </a:rPr>
              <a:t>= 60m - 0m</a:t>
            </a:r>
            <a:endParaRPr sz="1300" b="1">
              <a:solidFill>
                <a:schemeClr val="dk1"/>
              </a:solidFill>
            </a:endParaRPr>
          </a:p>
          <a:p>
            <a:pPr marL="0" lvl="0" indent="0" algn="l" rtl="0">
              <a:spcBef>
                <a:spcPts val="0"/>
              </a:spcBef>
              <a:spcAft>
                <a:spcPts val="0"/>
              </a:spcAft>
              <a:buNone/>
            </a:pPr>
            <a:r>
              <a:rPr lang="en" sz="1300" b="1">
                <a:solidFill>
                  <a:schemeClr val="dk1"/>
                </a:solidFill>
              </a:rPr>
              <a:t>= 60</a:t>
            </a:r>
            <a:endParaRPr sz="1300" b="1">
              <a:solidFill>
                <a:schemeClr val="dk1"/>
              </a:solidFill>
            </a:endParaRPr>
          </a:p>
          <a:p>
            <a:pPr marL="0" lvl="0" indent="0" algn="l" rtl="0">
              <a:spcBef>
                <a:spcPts val="0"/>
              </a:spcBef>
              <a:spcAft>
                <a:spcPts val="0"/>
              </a:spcAft>
              <a:buNone/>
            </a:pPr>
            <a:r>
              <a:rPr lang="en" sz="1300" b="1">
                <a:solidFill>
                  <a:schemeClr val="dk1"/>
                </a:solidFill>
              </a:rPr>
              <a:t>= Error</a:t>
            </a:r>
            <a:endParaRPr sz="1300" b="1">
              <a:solidFill>
                <a:schemeClr val="dk1"/>
              </a:solidFil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g26caf2632ea_0_22"/>
          <p:cNvPicPr preferRelativeResize="0"/>
          <p:nvPr/>
        </p:nvPicPr>
        <p:blipFill>
          <a:blip r:embed="rId3">
            <a:alphaModFix/>
          </a:blip>
          <a:stretch>
            <a:fillRect/>
          </a:stretch>
        </p:blipFill>
        <p:spPr>
          <a:xfrm>
            <a:off x="542525" y="53325"/>
            <a:ext cx="7900426" cy="4937776"/>
          </a:xfrm>
          <a:prstGeom prst="rect">
            <a:avLst/>
          </a:prstGeom>
          <a:noFill/>
          <a:ln>
            <a:noFill/>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pic>
        <p:nvPicPr>
          <p:cNvPr id="89" name="Google Shape;89;g26caf2632ea_0_26"/>
          <p:cNvPicPr preferRelativeResize="0"/>
          <p:nvPr/>
        </p:nvPicPr>
        <p:blipFill>
          <a:blip r:embed="rId3">
            <a:alphaModFix/>
          </a:blip>
          <a:stretch>
            <a:fillRect/>
          </a:stretch>
        </p:blipFill>
        <p:spPr>
          <a:xfrm>
            <a:off x="-575375" y="492863"/>
            <a:ext cx="8073800" cy="5046125"/>
          </a:xfrm>
          <a:prstGeom prst="rect">
            <a:avLst/>
          </a:prstGeom>
          <a:noFill/>
          <a:ln>
            <a:noFill/>
          </a:ln>
        </p:spPr>
      </p:pic>
      <p:pic>
        <p:nvPicPr>
          <p:cNvPr id="90" name="Google Shape;90;g26caf2632ea_0_26"/>
          <p:cNvPicPr preferRelativeResize="0"/>
          <p:nvPr/>
        </p:nvPicPr>
        <p:blipFill>
          <a:blip r:embed="rId4">
            <a:alphaModFix/>
          </a:blip>
          <a:stretch>
            <a:fillRect/>
          </a:stretch>
        </p:blipFill>
        <p:spPr>
          <a:xfrm>
            <a:off x="1043175" y="-1268225"/>
            <a:ext cx="7386450" cy="4616499"/>
          </a:xfrm>
          <a:prstGeom prst="rect">
            <a:avLst/>
          </a:prstGeom>
          <a:noFill/>
          <a:ln>
            <a:noFill/>
          </a:ln>
        </p:spPr>
      </p:pic>
      <p:sp>
        <p:nvSpPr>
          <p:cNvPr id="91" name="Google Shape;91;g26caf2632ea_0_26"/>
          <p:cNvSpPr txBox="1"/>
          <p:nvPr/>
        </p:nvSpPr>
        <p:spPr>
          <a:xfrm>
            <a:off x="1043175" y="29357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rPr>
              <a:t>Desired Altitude</a:t>
            </a:r>
            <a:endParaRPr sz="1300">
              <a:solidFill>
                <a:schemeClr val="dk1"/>
              </a:solidFill>
            </a:endParaRPr>
          </a:p>
        </p:txBody>
      </p:sp>
      <p:sp>
        <p:nvSpPr>
          <p:cNvPr id="92" name="Google Shape;92;g26caf2632ea_0_26"/>
          <p:cNvSpPr txBox="1"/>
          <p:nvPr/>
        </p:nvSpPr>
        <p:spPr>
          <a:xfrm>
            <a:off x="6268625" y="21112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rPr>
              <a:t>Actual Altitude</a:t>
            </a:r>
            <a:endParaRPr sz="1300">
              <a:solidFill>
                <a:schemeClr val="dk1"/>
              </a:solidFill>
            </a:endParaRPr>
          </a:p>
        </p:txBody>
      </p:sp>
      <p:sp>
        <p:nvSpPr>
          <p:cNvPr id="93" name="Google Shape;93;g26caf2632ea_0_26"/>
          <p:cNvSpPr txBox="1"/>
          <p:nvPr/>
        </p:nvSpPr>
        <p:spPr>
          <a:xfrm>
            <a:off x="3274100" y="304875"/>
            <a:ext cx="869100" cy="399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solidFill>
                  <a:schemeClr val="dk1"/>
                </a:solidFill>
              </a:rPr>
              <a:t>Gain</a:t>
            </a:r>
            <a:endParaRPr sz="1300">
              <a:solidFill>
                <a:schemeClr val="dk1"/>
              </a:solidFill>
            </a:endParaRPr>
          </a:p>
        </p:txBody>
      </p:sp>
      <p:sp>
        <p:nvSpPr>
          <p:cNvPr id="94" name="Google Shape;94;g26caf2632ea_0_26"/>
          <p:cNvSpPr txBox="1"/>
          <p:nvPr/>
        </p:nvSpPr>
        <p:spPr>
          <a:xfrm>
            <a:off x="4830088" y="29357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Propeller</a:t>
            </a:r>
            <a:endParaRPr sz="1200">
              <a:solidFill>
                <a:schemeClr val="dk1"/>
              </a:solidFill>
            </a:endParaRPr>
          </a:p>
        </p:txBody>
      </p:sp>
      <p:sp>
        <p:nvSpPr>
          <p:cNvPr id="95" name="Google Shape;95;g26caf2632ea_0_26"/>
          <p:cNvSpPr txBox="1"/>
          <p:nvPr/>
        </p:nvSpPr>
        <p:spPr>
          <a:xfrm>
            <a:off x="3560500" y="1068625"/>
            <a:ext cx="1187400" cy="71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solidFill>
                  <a:schemeClr val="dk1"/>
                </a:solidFill>
              </a:rPr>
              <a:t>Altitude Measuring Sensor</a:t>
            </a:r>
            <a:endParaRPr sz="1300">
              <a:solidFill>
                <a:schemeClr val="dk1"/>
              </a:solidFill>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pic>
        <p:nvPicPr>
          <p:cNvPr id="100" name="Google Shape;100;g26caf2632ea_0_36"/>
          <p:cNvPicPr preferRelativeResize="0"/>
          <p:nvPr/>
        </p:nvPicPr>
        <p:blipFill>
          <a:blip r:embed="rId3">
            <a:alphaModFix/>
          </a:blip>
          <a:stretch>
            <a:fillRect/>
          </a:stretch>
        </p:blipFill>
        <p:spPr>
          <a:xfrm>
            <a:off x="-575375" y="492863"/>
            <a:ext cx="8073800" cy="5046125"/>
          </a:xfrm>
          <a:prstGeom prst="rect">
            <a:avLst/>
          </a:prstGeom>
          <a:noFill/>
          <a:ln>
            <a:noFill/>
          </a:ln>
        </p:spPr>
      </p:pic>
      <p:pic>
        <p:nvPicPr>
          <p:cNvPr id="101" name="Google Shape;101;g26caf2632ea_0_36"/>
          <p:cNvPicPr preferRelativeResize="0"/>
          <p:nvPr/>
        </p:nvPicPr>
        <p:blipFill>
          <a:blip r:embed="rId4">
            <a:alphaModFix/>
          </a:blip>
          <a:stretch>
            <a:fillRect/>
          </a:stretch>
        </p:blipFill>
        <p:spPr>
          <a:xfrm>
            <a:off x="1043175" y="-1268225"/>
            <a:ext cx="7386450" cy="4616499"/>
          </a:xfrm>
          <a:prstGeom prst="rect">
            <a:avLst/>
          </a:prstGeom>
          <a:noFill/>
          <a:ln>
            <a:noFill/>
          </a:ln>
        </p:spPr>
      </p:pic>
      <p:sp>
        <p:nvSpPr>
          <p:cNvPr id="102" name="Google Shape;102;g26caf2632ea_0_36"/>
          <p:cNvSpPr txBox="1"/>
          <p:nvPr/>
        </p:nvSpPr>
        <p:spPr>
          <a:xfrm>
            <a:off x="1043175" y="29357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rPr>
              <a:t>Desired Altitude</a:t>
            </a:r>
            <a:endParaRPr sz="1300">
              <a:solidFill>
                <a:schemeClr val="dk1"/>
              </a:solidFill>
            </a:endParaRPr>
          </a:p>
        </p:txBody>
      </p:sp>
      <p:sp>
        <p:nvSpPr>
          <p:cNvPr id="103" name="Google Shape;103;g26caf2632ea_0_36"/>
          <p:cNvSpPr txBox="1"/>
          <p:nvPr/>
        </p:nvSpPr>
        <p:spPr>
          <a:xfrm>
            <a:off x="6268625" y="21112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rPr>
              <a:t>Actual Altitude</a:t>
            </a:r>
            <a:endParaRPr sz="1300">
              <a:solidFill>
                <a:schemeClr val="dk1"/>
              </a:solidFill>
            </a:endParaRPr>
          </a:p>
        </p:txBody>
      </p:sp>
      <p:sp>
        <p:nvSpPr>
          <p:cNvPr id="104" name="Google Shape;104;g26caf2632ea_0_36"/>
          <p:cNvSpPr txBox="1"/>
          <p:nvPr/>
        </p:nvSpPr>
        <p:spPr>
          <a:xfrm>
            <a:off x="3274100" y="304875"/>
            <a:ext cx="869100" cy="399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solidFill>
                  <a:schemeClr val="dk1"/>
                </a:solidFill>
              </a:rPr>
              <a:t>1</a:t>
            </a:r>
            <a:endParaRPr sz="1300">
              <a:solidFill>
                <a:schemeClr val="dk1"/>
              </a:solidFill>
            </a:endParaRPr>
          </a:p>
        </p:txBody>
      </p:sp>
      <p:sp>
        <p:nvSpPr>
          <p:cNvPr id="105" name="Google Shape;105;g26caf2632ea_0_36"/>
          <p:cNvSpPr txBox="1"/>
          <p:nvPr/>
        </p:nvSpPr>
        <p:spPr>
          <a:xfrm>
            <a:off x="4830088" y="29357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Propeller</a:t>
            </a:r>
            <a:endParaRPr sz="1200">
              <a:solidFill>
                <a:schemeClr val="dk1"/>
              </a:solidFill>
            </a:endParaRPr>
          </a:p>
        </p:txBody>
      </p:sp>
      <p:sp>
        <p:nvSpPr>
          <p:cNvPr id="106" name="Google Shape;106;g26caf2632ea_0_36"/>
          <p:cNvSpPr txBox="1"/>
          <p:nvPr/>
        </p:nvSpPr>
        <p:spPr>
          <a:xfrm>
            <a:off x="3560500" y="1068625"/>
            <a:ext cx="1187400" cy="71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solidFill>
                  <a:schemeClr val="dk1"/>
                </a:solidFill>
              </a:rPr>
              <a:t>Altitude Measuring Sensor</a:t>
            </a:r>
            <a:endParaRPr sz="1300">
              <a:solidFill>
                <a:schemeClr val="dk1"/>
              </a:solidFill>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pic>
        <p:nvPicPr>
          <p:cNvPr id="111" name="Google Shape;111;g26caf2632ea_0_46"/>
          <p:cNvPicPr preferRelativeResize="0"/>
          <p:nvPr/>
        </p:nvPicPr>
        <p:blipFill>
          <a:blip r:embed="rId3">
            <a:alphaModFix/>
          </a:blip>
          <a:stretch>
            <a:fillRect/>
          </a:stretch>
        </p:blipFill>
        <p:spPr>
          <a:xfrm>
            <a:off x="-575375" y="492863"/>
            <a:ext cx="8073800" cy="5046125"/>
          </a:xfrm>
          <a:prstGeom prst="rect">
            <a:avLst/>
          </a:prstGeom>
          <a:noFill/>
          <a:ln>
            <a:noFill/>
          </a:ln>
        </p:spPr>
      </p:pic>
      <p:pic>
        <p:nvPicPr>
          <p:cNvPr id="112" name="Google Shape;112;g26caf2632ea_0_46"/>
          <p:cNvPicPr preferRelativeResize="0"/>
          <p:nvPr/>
        </p:nvPicPr>
        <p:blipFill>
          <a:blip r:embed="rId4">
            <a:alphaModFix/>
          </a:blip>
          <a:stretch>
            <a:fillRect/>
          </a:stretch>
        </p:blipFill>
        <p:spPr>
          <a:xfrm>
            <a:off x="1043175" y="-1268225"/>
            <a:ext cx="7386450" cy="4616499"/>
          </a:xfrm>
          <a:prstGeom prst="rect">
            <a:avLst/>
          </a:prstGeom>
          <a:noFill/>
          <a:ln>
            <a:noFill/>
          </a:ln>
        </p:spPr>
      </p:pic>
      <p:sp>
        <p:nvSpPr>
          <p:cNvPr id="113" name="Google Shape;113;g26caf2632ea_0_46"/>
          <p:cNvSpPr txBox="1"/>
          <p:nvPr/>
        </p:nvSpPr>
        <p:spPr>
          <a:xfrm>
            <a:off x="1043175" y="29357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rPr>
              <a:t>Desired Altitude</a:t>
            </a:r>
            <a:endParaRPr sz="1300">
              <a:solidFill>
                <a:schemeClr val="dk1"/>
              </a:solidFill>
            </a:endParaRPr>
          </a:p>
        </p:txBody>
      </p:sp>
      <p:sp>
        <p:nvSpPr>
          <p:cNvPr id="114" name="Google Shape;114;g26caf2632ea_0_46"/>
          <p:cNvSpPr txBox="1"/>
          <p:nvPr/>
        </p:nvSpPr>
        <p:spPr>
          <a:xfrm>
            <a:off x="6268625" y="21112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rPr>
              <a:t>Actual Altitude</a:t>
            </a:r>
            <a:endParaRPr sz="1300">
              <a:solidFill>
                <a:schemeClr val="dk1"/>
              </a:solidFill>
            </a:endParaRPr>
          </a:p>
        </p:txBody>
      </p:sp>
      <p:sp>
        <p:nvSpPr>
          <p:cNvPr id="115" name="Google Shape;115;g26caf2632ea_0_46"/>
          <p:cNvSpPr txBox="1"/>
          <p:nvPr/>
        </p:nvSpPr>
        <p:spPr>
          <a:xfrm>
            <a:off x="3274100" y="304875"/>
            <a:ext cx="869100" cy="399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solidFill>
                  <a:schemeClr val="dk1"/>
                </a:solidFill>
              </a:rPr>
              <a:t>1</a:t>
            </a:r>
            <a:endParaRPr sz="1300">
              <a:solidFill>
                <a:schemeClr val="dk1"/>
              </a:solidFill>
            </a:endParaRPr>
          </a:p>
        </p:txBody>
      </p:sp>
      <p:sp>
        <p:nvSpPr>
          <p:cNvPr id="116" name="Google Shape;116;g26caf2632ea_0_46"/>
          <p:cNvSpPr txBox="1"/>
          <p:nvPr/>
        </p:nvSpPr>
        <p:spPr>
          <a:xfrm>
            <a:off x="4830088" y="29357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Propeller</a:t>
            </a:r>
            <a:endParaRPr sz="1200">
              <a:solidFill>
                <a:schemeClr val="dk1"/>
              </a:solidFill>
            </a:endParaRPr>
          </a:p>
        </p:txBody>
      </p:sp>
      <p:sp>
        <p:nvSpPr>
          <p:cNvPr id="117" name="Google Shape;117;g26caf2632ea_0_46"/>
          <p:cNvSpPr txBox="1"/>
          <p:nvPr/>
        </p:nvSpPr>
        <p:spPr>
          <a:xfrm>
            <a:off x="3560500" y="1068625"/>
            <a:ext cx="1187400" cy="71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solidFill>
                  <a:schemeClr val="dk1"/>
                </a:solidFill>
              </a:rPr>
              <a:t>Altitude Measuring Sensor</a:t>
            </a:r>
            <a:endParaRPr sz="1300">
              <a:solidFill>
                <a:schemeClr val="dk1"/>
              </a:solidFill>
            </a:endParaRPr>
          </a:p>
        </p:txBody>
      </p:sp>
      <p:sp>
        <p:nvSpPr>
          <p:cNvPr id="118" name="Google Shape;118;g26caf2632ea_0_46"/>
          <p:cNvSpPr txBox="1"/>
          <p:nvPr/>
        </p:nvSpPr>
        <p:spPr>
          <a:xfrm>
            <a:off x="3396125" y="2059750"/>
            <a:ext cx="3123600" cy="120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b="1">
                <a:solidFill>
                  <a:schemeClr val="dk1"/>
                </a:solidFill>
              </a:rPr>
              <a:t>Desired Altitude - Actual Altitude</a:t>
            </a:r>
            <a:endParaRPr sz="1300" b="1">
              <a:solidFill>
                <a:schemeClr val="dk1"/>
              </a:solidFill>
            </a:endParaRPr>
          </a:p>
          <a:p>
            <a:pPr marL="0" lvl="0" indent="0" algn="l" rtl="0">
              <a:spcBef>
                <a:spcPts val="0"/>
              </a:spcBef>
              <a:spcAft>
                <a:spcPts val="0"/>
              </a:spcAft>
              <a:buNone/>
            </a:pPr>
            <a:r>
              <a:rPr lang="en" sz="1300" b="1">
                <a:solidFill>
                  <a:schemeClr val="dk1"/>
                </a:solidFill>
              </a:rPr>
              <a:t>= 60m - 0m</a:t>
            </a:r>
            <a:endParaRPr sz="1300" b="1">
              <a:solidFill>
                <a:schemeClr val="dk1"/>
              </a:solidFill>
            </a:endParaRPr>
          </a:p>
          <a:p>
            <a:pPr marL="0" lvl="0" indent="0" algn="l" rtl="0">
              <a:spcBef>
                <a:spcPts val="0"/>
              </a:spcBef>
              <a:spcAft>
                <a:spcPts val="0"/>
              </a:spcAft>
              <a:buNone/>
            </a:pPr>
            <a:r>
              <a:rPr lang="en" sz="1300" b="1">
                <a:solidFill>
                  <a:schemeClr val="dk1"/>
                </a:solidFill>
              </a:rPr>
              <a:t>= 60</a:t>
            </a:r>
            <a:endParaRPr sz="1300" b="1">
              <a:solidFill>
                <a:schemeClr val="dk1"/>
              </a:solidFill>
            </a:endParaRPr>
          </a:p>
          <a:p>
            <a:pPr marL="0" lvl="0" indent="0" algn="l" rtl="0">
              <a:spcBef>
                <a:spcPts val="0"/>
              </a:spcBef>
              <a:spcAft>
                <a:spcPts val="0"/>
              </a:spcAft>
              <a:buNone/>
            </a:pPr>
            <a:endParaRPr sz="1300" b="1">
              <a:solidFill>
                <a:schemeClr val="dk1"/>
              </a:solidFill>
            </a:endParaRPr>
          </a:p>
          <a:p>
            <a:pPr marL="0" lvl="0" indent="0" algn="l" rtl="0">
              <a:spcBef>
                <a:spcPts val="0"/>
              </a:spcBef>
              <a:spcAft>
                <a:spcPts val="0"/>
              </a:spcAft>
              <a:buNone/>
            </a:pPr>
            <a:r>
              <a:rPr lang="en" sz="1300" b="1">
                <a:solidFill>
                  <a:schemeClr val="dk1"/>
                </a:solidFill>
              </a:rPr>
              <a:t>Propeller Speed = 60 * 1 = 60 rpm</a:t>
            </a:r>
            <a:endParaRPr sz="1300" b="1">
              <a:solidFill>
                <a:schemeClr val="dk1"/>
              </a:solidFill>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pic>
        <p:nvPicPr>
          <p:cNvPr id="123" name="Google Shape;123;g26caf2632ea_0_68"/>
          <p:cNvPicPr preferRelativeResize="0"/>
          <p:nvPr/>
        </p:nvPicPr>
        <p:blipFill>
          <a:blip r:embed="rId3">
            <a:alphaModFix/>
          </a:blip>
          <a:stretch>
            <a:fillRect/>
          </a:stretch>
        </p:blipFill>
        <p:spPr>
          <a:xfrm>
            <a:off x="-575375" y="492863"/>
            <a:ext cx="8073800" cy="5046125"/>
          </a:xfrm>
          <a:prstGeom prst="rect">
            <a:avLst/>
          </a:prstGeom>
          <a:noFill/>
          <a:ln>
            <a:noFill/>
          </a:ln>
        </p:spPr>
      </p:pic>
      <p:pic>
        <p:nvPicPr>
          <p:cNvPr id="124" name="Google Shape;124;g26caf2632ea_0_68"/>
          <p:cNvPicPr preferRelativeResize="0"/>
          <p:nvPr/>
        </p:nvPicPr>
        <p:blipFill>
          <a:blip r:embed="rId4">
            <a:alphaModFix/>
          </a:blip>
          <a:stretch>
            <a:fillRect/>
          </a:stretch>
        </p:blipFill>
        <p:spPr>
          <a:xfrm>
            <a:off x="1043175" y="-1268225"/>
            <a:ext cx="7386450" cy="4616499"/>
          </a:xfrm>
          <a:prstGeom prst="rect">
            <a:avLst/>
          </a:prstGeom>
          <a:noFill/>
          <a:ln>
            <a:noFill/>
          </a:ln>
        </p:spPr>
      </p:pic>
      <p:sp>
        <p:nvSpPr>
          <p:cNvPr id="125" name="Google Shape;125;g26caf2632ea_0_68"/>
          <p:cNvSpPr txBox="1"/>
          <p:nvPr/>
        </p:nvSpPr>
        <p:spPr>
          <a:xfrm>
            <a:off x="1043175" y="29357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rPr>
              <a:t>Desired Altitude</a:t>
            </a:r>
            <a:endParaRPr sz="1300">
              <a:solidFill>
                <a:schemeClr val="dk1"/>
              </a:solidFill>
            </a:endParaRPr>
          </a:p>
        </p:txBody>
      </p:sp>
      <p:sp>
        <p:nvSpPr>
          <p:cNvPr id="126" name="Google Shape;126;g26caf2632ea_0_68"/>
          <p:cNvSpPr txBox="1"/>
          <p:nvPr/>
        </p:nvSpPr>
        <p:spPr>
          <a:xfrm>
            <a:off x="6268625" y="21112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rPr>
              <a:t>Actual Altitude</a:t>
            </a:r>
            <a:endParaRPr sz="1300">
              <a:solidFill>
                <a:schemeClr val="dk1"/>
              </a:solidFill>
            </a:endParaRPr>
          </a:p>
        </p:txBody>
      </p:sp>
      <p:sp>
        <p:nvSpPr>
          <p:cNvPr id="127" name="Google Shape;127;g26caf2632ea_0_68"/>
          <p:cNvSpPr txBox="1"/>
          <p:nvPr/>
        </p:nvSpPr>
        <p:spPr>
          <a:xfrm>
            <a:off x="3274100" y="304875"/>
            <a:ext cx="869100" cy="399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solidFill>
                  <a:schemeClr val="dk1"/>
                </a:solidFill>
              </a:rPr>
              <a:t>1</a:t>
            </a:r>
            <a:endParaRPr sz="1300">
              <a:solidFill>
                <a:schemeClr val="dk1"/>
              </a:solidFill>
            </a:endParaRPr>
          </a:p>
        </p:txBody>
      </p:sp>
      <p:sp>
        <p:nvSpPr>
          <p:cNvPr id="128" name="Google Shape;128;g26caf2632ea_0_68"/>
          <p:cNvSpPr txBox="1"/>
          <p:nvPr/>
        </p:nvSpPr>
        <p:spPr>
          <a:xfrm>
            <a:off x="4830088" y="29357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Propeller</a:t>
            </a:r>
            <a:endParaRPr sz="1200">
              <a:solidFill>
                <a:schemeClr val="dk1"/>
              </a:solidFill>
            </a:endParaRPr>
          </a:p>
        </p:txBody>
      </p:sp>
      <p:sp>
        <p:nvSpPr>
          <p:cNvPr id="129" name="Google Shape;129;g26caf2632ea_0_68"/>
          <p:cNvSpPr txBox="1"/>
          <p:nvPr/>
        </p:nvSpPr>
        <p:spPr>
          <a:xfrm>
            <a:off x="3560500" y="1068625"/>
            <a:ext cx="1187400" cy="71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solidFill>
                  <a:schemeClr val="dk1"/>
                </a:solidFill>
              </a:rPr>
              <a:t>Altitude Measuring Sensor</a:t>
            </a:r>
            <a:endParaRPr sz="1300">
              <a:solidFill>
                <a:schemeClr val="dk1"/>
              </a:solidFill>
            </a:endParaRPr>
          </a:p>
        </p:txBody>
      </p:sp>
      <p:sp>
        <p:nvSpPr>
          <p:cNvPr id="130" name="Google Shape;130;g26caf2632ea_0_68"/>
          <p:cNvSpPr txBox="1"/>
          <p:nvPr/>
        </p:nvSpPr>
        <p:spPr>
          <a:xfrm>
            <a:off x="3396125" y="2059750"/>
            <a:ext cx="3123600" cy="120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b="1">
                <a:solidFill>
                  <a:schemeClr val="dk1"/>
                </a:solidFill>
              </a:rPr>
              <a:t>Desired Altitude - Actual Altitude</a:t>
            </a:r>
            <a:endParaRPr sz="1300" b="1">
              <a:solidFill>
                <a:schemeClr val="dk1"/>
              </a:solidFill>
            </a:endParaRPr>
          </a:p>
          <a:p>
            <a:pPr marL="0" lvl="0" indent="0" algn="l" rtl="0">
              <a:spcBef>
                <a:spcPts val="0"/>
              </a:spcBef>
              <a:spcAft>
                <a:spcPts val="0"/>
              </a:spcAft>
              <a:buNone/>
            </a:pPr>
            <a:r>
              <a:rPr lang="en" sz="1300" b="1">
                <a:solidFill>
                  <a:schemeClr val="dk1"/>
                </a:solidFill>
              </a:rPr>
              <a:t>= 60m - 0m</a:t>
            </a:r>
            <a:endParaRPr sz="1300" b="1">
              <a:solidFill>
                <a:schemeClr val="dk1"/>
              </a:solidFill>
            </a:endParaRPr>
          </a:p>
          <a:p>
            <a:pPr marL="0" lvl="0" indent="0" algn="l" rtl="0">
              <a:spcBef>
                <a:spcPts val="0"/>
              </a:spcBef>
              <a:spcAft>
                <a:spcPts val="0"/>
              </a:spcAft>
              <a:buNone/>
            </a:pPr>
            <a:r>
              <a:rPr lang="en" sz="1300" b="1">
                <a:solidFill>
                  <a:schemeClr val="dk1"/>
                </a:solidFill>
              </a:rPr>
              <a:t>= 60</a:t>
            </a:r>
            <a:endParaRPr sz="1300" b="1">
              <a:solidFill>
                <a:schemeClr val="dk1"/>
              </a:solidFill>
            </a:endParaRPr>
          </a:p>
          <a:p>
            <a:pPr marL="0" lvl="0" indent="0" algn="l" rtl="0">
              <a:spcBef>
                <a:spcPts val="0"/>
              </a:spcBef>
              <a:spcAft>
                <a:spcPts val="0"/>
              </a:spcAft>
              <a:buNone/>
            </a:pPr>
            <a:endParaRPr sz="1300" b="1">
              <a:solidFill>
                <a:schemeClr val="dk1"/>
              </a:solidFill>
            </a:endParaRPr>
          </a:p>
          <a:p>
            <a:pPr marL="0" lvl="0" indent="0" algn="l" rtl="0">
              <a:spcBef>
                <a:spcPts val="0"/>
              </a:spcBef>
              <a:spcAft>
                <a:spcPts val="0"/>
              </a:spcAft>
              <a:buNone/>
            </a:pPr>
            <a:r>
              <a:rPr lang="en" sz="1300" b="1">
                <a:solidFill>
                  <a:schemeClr val="dk1"/>
                </a:solidFill>
              </a:rPr>
              <a:t>Propeller Speed = 60 * 1 = 60 rpm</a:t>
            </a:r>
            <a:endParaRPr sz="1300" b="1">
              <a:solidFill>
                <a:schemeClr val="dk1"/>
              </a:solidFill>
            </a:endParaRPr>
          </a:p>
        </p:txBody>
      </p:sp>
      <p:pic>
        <p:nvPicPr>
          <p:cNvPr id="131" name="Google Shape;131;g26caf2632ea_0_68"/>
          <p:cNvPicPr preferRelativeResize="0"/>
          <p:nvPr/>
        </p:nvPicPr>
        <p:blipFill>
          <a:blip r:embed="rId5">
            <a:alphaModFix/>
          </a:blip>
          <a:stretch>
            <a:fillRect/>
          </a:stretch>
        </p:blipFill>
        <p:spPr>
          <a:xfrm>
            <a:off x="6519725" y="1784125"/>
            <a:ext cx="2231650" cy="2016175"/>
          </a:xfrm>
          <a:prstGeom prst="rect">
            <a:avLst/>
          </a:prstGeom>
          <a:noFill/>
          <a:ln>
            <a:noFill/>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pic>
        <p:nvPicPr>
          <p:cNvPr id="136" name="Google Shape;136;g26caf2632ea_0_80"/>
          <p:cNvPicPr preferRelativeResize="0"/>
          <p:nvPr/>
        </p:nvPicPr>
        <p:blipFill>
          <a:blip r:embed="rId3">
            <a:alphaModFix/>
          </a:blip>
          <a:stretch>
            <a:fillRect/>
          </a:stretch>
        </p:blipFill>
        <p:spPr>
          <a:xfrm>
            <a:off x="-575375" y="492863"/>
            <a:ext cx="8073800" cy="5046125"/>
          </a:xfrm>
          <a:prstGeom prst="rect">
            <a:avLst/>
          </a:prstGeom>
          <a:noFill/>
          <a:ln>
            <a:noFill/>
          </a:ln>
        </p:spPr>
      </p:pic>
      <p:pic>
        <p:nvPicPr>
          <p:cNvPr id="137" name="Google Shape;137;g26caf2632ea_0_80"/>
          <p:cNvPicPr preferRelativeResize="0"/>
          <p:nvPr/>
        </p:nvPicPr>
        <p:blipFill>
          <a:blip r:embed="rId4">
            <a:alphaModFix/>
          </a:blip>
          <a:stretch>
            <a:fillRect/>
          </a:stretch>
        </p:blipFill>
        <p:spPr>
          <a:xfrm>
            <a:off x="1043175" y="-1268225"/>
            <a:ext cx="7386450" cy="4616499"/>
          </a:xfrm>
          <a:prstGeom prst="rect">
            <a:avLst/>
          </a:prstGeom>
          <a:noFill/>
          <a:ln>
            <a:noFill/>
          </a:ln>
        </p:spPr>
      </p:pic>
      <p:sp>
        <p:nvSpPr>
          <p:cNvPr id="138" name="Google Shape;138;g26caf2632ea_0_80"/>
          <p:cNvSpPr txBox="1"/>
          <p:nvPr/>
        </p:nvSpPr>
        <p:spPr>
          <a:xfrm>
            <a:off x="1043175" y="29357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rPr>
              <a:t>Desired Altitude</a:t>
            </a:r>
            <a:endParaRPr sz="1300">
              <a:solidFill>
                <a:schemeClr val="dk1"/>
              </a:solidFill>
            </a:endParaRPr>
          </a:p>
        </p:txBody>
      </p:sp>
      <p:sp>
        <p:nvSpPr>
          <p:cNvPr id="139" name="Google Shape;139;g26caf2632ea_0_80"/>
          <p:cNvSpPr txBox="1"/>
          <p:nvPr/>
        </p:nvSpPr>
        <p:spPr>
          <a:xfrm>
            <a:off x="6268625" y="21112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rPr>
              <a:t>Actual Altitude</a:t>
            </a:r>
            <a:endParaRPr sz="1300">
              <a:solidFill>
                <a:schemeClr val="dk1"/>
              </a:solidFill>
            </a:endParaRPr>
          </a:p>
        </p:txBody>
      </p:sp>
      <p:sp>
        <p:nvSpPr>
          <p:cNvPr id="140" name="Google Shape;140;g26caf2632ea_0_80"/>
          <p:cNvSpPr txBox="1"/>
          <p:nvPr/>
        </p:nvSpPr>
        <p:spPr>
          <a:xfrm>
            <a:off x="3274100" y="304875"/>
            <a:ext cx="869100" cy="399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a:solidFill>
                  <a:schemeClr val="dk1"/>
                </a:solidFill>
              </a:rPr>
              <a:t>2</a:t>
            </a:r>
            <a:endParaRPr sz="1500" b="1">
              <a:solidFill>
                <a:schemeClr val="dk1"/>
              </a:solidFill>
            </a:endParaRPr>
          </a:p>
        </p:txBody>
      </p:sp>
      <p:sp>
        <p:nvSpPr>
          <p:cNvPr id="141" name="Google Shape;141;g26caf2632ea_0_80"/>
          <p:cNvSpPr txBox="1"/>
          <p:nvPr/>
        </p:nvSpPr>
        <p:spPr>
          <a:xfrm>
            <a:off x="4830088" y="29357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Propeller</a:t>
            </a:r>
            <a:endParaRPr sz="1200">
              <a:solidFill>
                <a:schemeClr val="dk1"/>
              </a:solidFill>
            </a:endParaRPr>
          </a:p>
        </p:txBody>
      </p:sp>
      <p:sp>
        <p:nvSpPr>
          <p:cNvPr id="142" name="Google Shape;142;g26caf2632ea_0_80"/>
          <p:cNvSpPr txBox="1"/>
          <p:nvPr/>
        </p:nvSpPr>
        <p:spPr>
          <a:xfrm>
            <a:off x="3560500" y="1068625"/>
            <a:ext cx="1187400" cy="71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solidFill>
                  <a:schemeClr val="dk1"/>
                </a:solidFill>
              </a:rPr>
              <a:t>Altitude Measuring Sensor</a:t>
            </a:r>
            <a:endParaRPr sz="1300">
              <a:solidFill>
                <a:schemeClr val="dk1"/>
              </a:solidFill>
            </a:endParaRPr>
          </a:p>
        </p:txBody>
      </p:sp>
      <p:pic>
        <p:nvPicPr>
          <p:cNvPr id="143" name="Google Shape;143;g26caf2632ea_0_80"/>
          <p:cNvPicPr preferRelativeResize="0"/>
          <p:nvPr/>
        </p:nvPicPr>
        <p:blipFill>
          <a:blip r:embed="rId5">
            <a:alphaModFix/>
          </a:blip>
          <a:stretch>
            <a:fillRect/>
          </a:stretch>
        </p:blipFill>
        <p:spPr>
          <a:xfrm>
            <a:off x="6519725" y="1784125"/>
            <a:ext cx="2231650" cy="2016175"/>
          </a:xfrm>
          <a:prstGeom prst="rect">
            <a:avLst/>
          </a:prstGeom>
          <a:noFill/>
          <a:ln>
            <a:noFill/>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pic>
        <p:nvPicPr>
          <p:cNvPr id="148" name="Google Shape;148;g26caf2632ea_0_92"/>
          <p:cNvPicPr preferRelativeResize="0"/>
          <p:nvPr/>
        </p:nvPicPr>
        <p:blipFill>
          <a:blip r:embed="rId3">
            <a:alphaModFix/>
          </a:blip>
          <a:stretch>
            <a:fillRect/>
          </a:stretch>
        </p:blipFill>
        <p:spPr>
          <a:xfrm>
            <a:off x="-575375" y="492863"/>
            <a:ext cx="8073800" cy="5046125"/>
          </a:xfrm>
          <a:prstGeom prst="rect">
            <a:avLst/>
          </a:prstGeom>
          <a:noFill/>
          <a:ln>
            <a:noFill/>
          </a:ln>
        </p:spPr>
      </p:pic>
      <p:pic>
        <p:nvPicPr>
          <p:cNvPr id="149" name="Google Shape;149;g26caf2632ea_0_92"/>
          <p:cNvPicPr preferRelativeResize="0"/>
          <p:nvPr/>
        </p:nvPicPr>
        <p:blipFill>
          <a:blip r:embed="rId4">
            <a:alphaModFix/>
          </a:blip>
          <a:stretch>
            <a:fillRect/>
          </a:stretch>
        </p:blipFill>
        <p:spPr>
          <a:xfrm>
            <a:off x="1043175" y="-1268225"/>
            <a:ext cx="7386450" cy="4616499"/>
          </a:xfrm>
          <a:prstGeom prst="rect">
            <a:avLst/>
          </a:prstGeom>
          <a:noFill/>
          <a:ln>
            <a:noFill/>
          </a:ln>
        </p:spPr>
      </p:pic>
      <p:sp>
        <p:nvSpPr>
          <p:cNvPr id="150" name="Google Shape;150;g26caf2632ea_0_92"/>
          <p:cNvSpPr txBox="1"/>
          <p:nvPr/>
        </p:nvSpPr>
        <p:spPr>
          <a:xfrm>
            <a:off x="1043175" y="29357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rPr>
              <a:t>Desired Altitude</a:t>
            </a:r>
            <a:endParaRPr sz="1300">
              <a:solidFill>
                <a:schemeClr val="dk1"/>
              </a:solidFill>
            </a:endParaRPr>
          </a:p>
        </p:txBody>
      </p:sp>
      <p:sp>
        <p:nvSpPr>
          <p:cNvPr id="151" name="Google Shape;151;g26caf2632ea_0_92"/>
          <p:cNvSpPr txBox="1"/>
          <p:nvPr/>
        </p:nvSpPr>
        <p:spPr>
          <a:xfrm>
            <a:off x="6268625" y="21112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rPr>
              <a:t>Actual Altitude</a:t>
            </a:r>
            <a:endParaRPr sz="1300">
              <a:solidFill>
                <a:schemeClr val="dk1"/>
              </a:solidFill>
            </a:endParaRPr>
          </a:p>
        </p:txBody>
      </p:sp>
      <p:sp>
        <p:nvSpPr>
          <p:cNvPr id="152" name="Google Shape;152;g26caf2632ea_0_92"/>
          <p:cNvSpPr txBox="1"/>
          <p:nvPr/>
        </p:nvSpPr>
        <p:spPr>
          <a:xfrm>
            <a:off x="3274100" y="304875"/>
            <a:ext cx="869100" cy="399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solidFill>
                  <a:schemeClr val="dk1"/>
                </a:solidFill>
              </a:rPr>
              <a:t>2</a:t>
            </a:r>
            <a:endParaRPr sz="1300">
              <a:solidFill>
                <a:schemeClr val="dk1"/>
              </a:solidFill>
            </a:endParaRPr>
          </a:p>
        </p:txBody>
      </p:sp>
      <p:sp>
        <p:nvSpPr>
          <p:cNvPr id="153" name="Google Shape;153;g26caf2632ea_0_92"/>
          <p:cNvSpPr txBox="1"/>
          <p:nvPr/>
        </p:nvSpPr>
        <p:spPr>
          <a:xfrm>
            <a:off x="4830088" y="29357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Propeller</a:t>
            </a:r>
            <a:endParaRPr sz="1200">
              <a:solidFill>
                <a:schemeClr val="dk1"/>
              </a:solidFill>
            </a:endParaRPr>
          </a:p>
        </p:txBody>
      </p:sp>
      <p:sp>
        <p:nvSpPr>
          <p:cNvPr id="154" name="Google Shape;154;g26caf2632ea_0_92"/>
          <p:cNvSpPr txBox="1"/>
          <p:nvPr/>
        </p:nvSpPr>
        <p:spPr>
          <a:xfrm>
            <a:off x="3560500" y="1068625"/>
            <a:ext cx="1187400" cy="71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solidFill>
                  <a:schemeClr val="dk1"/>
                </a:solidFill>
              </a:rPr>
              <a:t>Altitude Measuring Sensor</a:t>
            </a:r>
            <a:endParaRPr sz="1300">
              <a:solidFill>
                <a:schemeClr val="dk1"/>
              </a:solidFill>
            </a:endParaRPr>
          </a:p>
        </p:txBody>
      </p:sp>
      <p:sp>
        <p:nvSpPr>
          <p:cNvPr id="155" name="Google Shape;155;g26caf2632ea_0_92"/>
          <p:cNvSpPr txBox="1"/>
          <p:nvPr/>
        </p:nvSpPr>
        <p:spPr>
          <a:xfrm>
            <a:off x="3396125" y="2059750"/>
            <a:ext cx="3123600" cy="120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b="1">
                <a:solidFill>
                  <a:schemeClr val="dk1"/>
                </a:solidFill>
              </a:rPr>
              <a:t>Desired Altitude - Actual Altitude</a:t>
            </a:r>
            <a:endParaRPr sz="1300" b="1">
              <a:solidFill>
                <a:schemeClr val="dk1"/>
              </a:solidFill>
            </a:endParaRPr>
          </a:p>
          <a:p>
            <a:pPr marL="0" lvl="0" indent="0" algn="l" rtl="0">
              <a:spcBef>
                <a:spcPts val="0"/>
              </a:spcBef>
              <a:spcAft>
                <a:spcPts val="0"/>
              </a:spcAft>
              <a:buNone/>
            </a:pPr>
            <a:r>
              <a:rPr lang="en" sz="1300" b="1">
                <a:solidFill>
                  <a:schemeClr val="dk1"/>
                </a:solidFill>
              </a:rPr>
              <a:t>= 60m - 0m</a:t>
            </a:r>
            <a:endParaRPr sz="1300" b="1">
              <a:solidFill>
                <a:schemeClr val="dk1"/>
              </a:solidFill>
            </a:endParaRPr>
          </a:p>
          <a:p>
            <a:pPr marL="0" lvl="0" indent="0" algn="l" rtl="0">
              <a:spcBef>
                <a:spcPts val="0"/>
              </a:spcBef>
              <a:spcAft>
                <a:spcPts val="0"/>
              </a:spcAft>
              <a:buNone/>
            </a:pPr>
            <a:r>
              <a:rPr lang="en" sz="1300" b="1">
                <a:solidFill>
                  <a:schemeClr val="dk1"/>
                </a:solidFill>
              </a:rPr>
              <a:t>= 60</a:t>
            </a:r>
            <a:endParaRPr sz="1300" b="1">
              <a:solidFill>
                <a:schemeClr val="dk1"/>
              </a:solidFill>
            </a:endParaRPr>
          </a:p>
          <a:p>
            <a:pPr marL="0" lvl="0" indent="0" algn="l" rtl="0">
              <a:spcBef>
                <a:spcPts val="0"/>
              </a:spcBef>
              <a:spcAft>
                <a:spcPts val="0"/>
              </a:spcAft>
              <a:buNone/>
            </a:pPr>
            <a:endParaRPr sz="1300" b="1">
              <a:solidFill>
                <a:schemeClr val="dk1"/>
              </a:solidFill>
            </a:endParaRPr>
          </a:p>
          <a:p>
            <a:pPr marL="0" lvl="0" indent="0" algn="l" rtl="0">
              <a:spcBef>
                <a:spcPts val="0"/>
              </a:spcBef>
              <a:spcAft>
                <a:spcPts val="0"/>
              </a:spcAft>
              <a:buNone/>
            </a:pPr>
            <a:r>
              <a:rPr lang="en" sz="1300" b="1">
                <a:solidFill>
                  <a:schemeClr val="dk1"/>
                </a:solidFill>
              </a:rPr>
              <a:t>Propeller Speed = 60 * 2 = 120 rpm</a:t>
            </a:r>
            <a:endParaRPr sz="1300" b="1">
              <a:solidFill>
                <a:schemeClr val="dk1"/>
              </a:solidFill>
            </a:endParaRPr>
          </a:p>
        </p:txBody>
      </p:sp>
      <p:pic>
        <p:nvPicPr>
          <p:cNvPr id="156" name="Google Shape;156;g26caf2632ea_0_92"/>
          <p:cNvPicPr preferRelativeResize="0"/>
          <p:nvPr/>
        </p:nvPicPr>
        <p:blipFill>
          <a:blip r:embed="rId5">
            <a:alphaModFix/>
          </a:blip>
          <a:stretch>
            <a:fillRect/>
          </a:stretch>
        </p:blipFill>
        <p:spPr>
          <a:xfrm>
            <a:off x="6519725" y="1784125"/>
            <a:ext cx="2231650" cy="2016175"/>
          </a:xfrm>
          <a:prstGeom prst="rect">
            <a:avLst/>
          </a:prstGeom>
          <a:noFill/>
          <a:ln>
            <a:noFill/>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pic>
        <p:nvPicPr>
          <p:cNvPr id="161" name="Google Shape;161;g26caf2632ea_0_104"/>
          <p:cNvPicPr preferRelativeResize="0"/>
          <p:nvPr/>
        </p:nvPicPr>
        <p:blipFill>
          <a:blip r:embed="rId3">
            <a:alphaModFix/>
          </a:blip>
          <a:stretch>
            <a:fillRect/>
          </a:stretch>
        </p:blipFill>
        <p:spPr>
          <a:xfrm>
            <a:off x="-604075" y="551800"/>
            <a:ext cx="7741798" cy="4838624"/>
          </a:xfrm>
          <a:prstGeom prst="rect">
            <a:avLst/>
          </a:prstGeom>
          <a:noFill/>
          <a:ln>
            <a:noFill/>
          </a:ln>
        </p:spPr>
      </p:pic>
      <p:pic>
        <p:nvPicPr>
          <p:cNvPr id="162" name="Google Shape;162;g26caf2632ea_0_104"/>
          <p:cNvPicPr preferRelativeResize="0"/>
          <p:nvPr/>
        </p:nvPicPr>
        <p:blipFill>
          <a:blip r:embed="rId4">
            <a:alphaModFix/>
          </a:blip>
          <a:stretch>
            <a:fillRect/>
          </a:stretch>
        </p:blipFill>
        <p:spPr>
          <a:xfrm>
            <a:off x="1043175" y="-1268225"/>
            <a:ext cx="7386450" cy="4616499"/>
          </a:xfrm>
          <a:prstGeom prst="rect">
            <a:avLst/>
          </a:prstGeom>
          <a:noFill/>
          <a:ln>
            <a:noFill/>
          </a:ln>
        </p:spPr>
      </p:pic>
      <p:sp>
        <p:nvSpPr>
          <p:cNvPr id="163" name="Google Shape;163;g26caf2632ea_0_104"/>
          <p:cNvSpPr txBox="1"/>
          <p:nvPr/>
        </p:nvSpPr>
        <p:spPr>
          <a:xfrm>
            <a:off x="1043175" y="29357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rPr>
              <a:t>Desired Altitude</a:t>
            </a:r>
            <a:endParaRPr sz="1300">
              <a:solidFill>
                <a:schemeClr val="dk1"/>
              </a:solidFill>
            </a:endParaRPr>
          </a:p>
        </p:txBody>
      </p:sp>
      <p:sp>
        <p:nvSpPr>
          <p:cNvPr id="164" name="Google Shape;164;g26caf2632ea_0_104"/>
          <p:cNvSpPr txBox="1"/>
          <p:nvPr/>
        </p:nvSpPr>
        <p:spPr>
          <a:xfrm>
            <a:off x="6268625" y="21112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rPr>
              <a:t>Actual Altitude</a:t>
            </a:r>
            <a:endParaRPr sz="1300">
              <a:solidFill>
                <a:schemeClr val="dk1"/>
              </a:solidFill>
            </a:endParaRPr>
          </a:p>
        </p:txBody>
      </p:sp>
      <p:sp>
        <p:nvSpPr>
          <p:cNvPr id="165" name="Google Shape;165;g26caf2632ea_0_104"/>
          <p:cNvSpPr txBox="1"/>
          <p:nvPr/>
        </p:nvSpPr>
        <p:spPr>
          <a:xfrm>
            <a:off x="3274100" y="304875"/>
            <a:ext cx="869100" cy="399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solidFill>
                  <a:schemeClr val="dk1"/>
                </a:solidFill>
              </a:rPr>
              <a:t>2</a:t>
            </a:r>
            <a:endParaRPr sz="1300">
              <a:solidFill>
                <a:schemeClr val="dk1"/>
              </a:solidFill>
            </a:endParaRPr>
          </a:p>
        </p:txBody>
      </p:sp>
      <p:sp>
        <p:nvSpPr>
          <p:cNvPr id="166" name="Google Shape;166;g26caf2632ea_0_104"/>
          <p:cNvSpPr txBox="1"/>
          <p:nvPr/>
        </p:nvSpPr>
        <p:spPr>
          <a:xfrm>
            <a:off x="4830088" y="29357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Propeller</a:t>
            </a:r>
            <a:endParaRPr sz="1200">
              <a:solidFill>
                <a:schemeClr val="dk1"/>
              </a:solidFill>
            </a:endParaRPr>
          </a:p>
        </p:txBody>
      </p:sp>
      <p:sp>
        <p:nvSpPr>
          <p:cNvPr id="167" name="Google Shape;167;g26caf2632ea_0_104"/>
          <p:cNvSpPr txBox="1"/>
          <p:nvPr/>
        </p:nvSpPr>
        <p:spPr>
          <a:xfrm>
            <a:off x="3560500" y="1068625"/>
            <a:ext cx="1187400" cy="71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solidFill>
                  <a:schemeClr val="dk1"/>
                </a:solidFill>
              </a:rPr>
              <a:t>Altitude Measuring Sensor</a:t>
            </a:r>
            <a:endParaRPr sz="1300">
              <a:solidFill>
                <a:schemeClr val="dk1"/>
              </a:solidFill>
            </a:endParaRPr>
          </a:p>
        </p:txBody>
      </p:sp>
      <p:sp>
        <p:nvSpPr>
          <p:cNvPr id="168" name="Google Shape;168;g26caf2632ea_0_104"/>
          <p:cNvSpPr txBox="1"/>
          <p:nvPr/>
        </p:nvSpPr>
        <p:spPr>
          <a:xfrm>
            <a:off x="3396125" y="2059750"/>
            <a:ext cx="3123600" cy="120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b="1">
                <a:solidFill>
                  <a:schemeClr val="dk1"/>
                </a:solidFill>
              </a:rPr>
              <a:t>Desired Altitude - Actual Altitude</a:t>
            </a:r>
            <a:endParaRPr sz="1300" b="1">
              <a:solidFill>
                <a:schemeClr val="dk1"/>
              </a:solidFill>
            </a:endParaRPr>
          </a:p>
          <a:p>
            <a:pPr marL="0" lvl="0" indent="0" algn="l" rtl="0">
              <a:spcBef>
                <a:spcPts val="0"/>
              </a:spcBef>
              <a:spcAft>
                <a:spcPts val="0"/>
              </a:spcAft>
              <a:buNone/>
            </a:pPr>
            <a:r>
              <a:rPr lang="en" sz="1300" b="1">
                <a:solidFill>
                  <a:schemeClr val="dk1"/>
                </a:solidFill>
              </a:rPr>
              <a:t>= 60m - 5m</a:t>
            </a:r>
            <a:endParaRPr sz="1300" b="1">
              <a:solidFill>
                <a:schemeClr val="dk1"/>
              </a:solidFill>
            </a:endParaRPr>
          </a:p>
          <a:p>
            <a:pPr marL="0" lvl="0" indent="0" algn="l" rtl="0">
              <a:spcBef>
                <a:spcPts val="0"/>
              </a:spcBef>
              <a:spcAft>
                <a:spcPts val="0"/>
              </a:spcAft>
              <a:buNone/>
            </a:pPr>
            <a:r>
              <a:rPr lang="en" sz="1300" b="1">
                <a:solidFill>
                  <a:schemeClr val="dk1"/>
                </a:solidFill>
              </a:rPr>
              <a:t>= 55</a:t>
            </a:r>
            <a:endParaRPr sz="1300" b="1">
              <a:solidFill>
                <a:schemeClr val="dk1"/>
              </a:solidFill>
            </a:endParaRPr>
          </a:p>
          <a:p>
            <a:pPr marL="0" lvl="0" indent="0" algn="l" rtl="0">
              <a:spcBef>
                <a:spcPts val="0"/>
              </a:spcBef>
              <a:spcAft>
                <a:spcPts val="0"/>
              </a:spcAft>
              <a:buNone/>
            </a:pPr>
            <a:endParaRPr sz="1300" b="1">
              <a:solidFill>
                <a:schemeClr val="dk1"/>
              </a:solidFill>
            </a:endParaRPr>
          </a:p>
          <a:p>
            <a:pPr marL="0" lvl="0" indent="0" algn="l" rtl="0">
              <a:spcBef>
                <a:spcPts val="0"/>
              </a:spcBef>
              <a:spcAft>
                <a:spcPts val="0"/>
              </a:spcAft>
              <a:buNone/>
            </a:pPr>
            <a:r>
              <a:rPr lang="en" sz="1300" b="1">
                <a:solidFill>
                  <a:schemeClr val="dk1"/>
                </a:solidFill>
              </a:rPr>
              <a:t>Propeller Speed = 55 * 2 = 110 rpm</a:t>
            </a:r>
            <a:endParaRPr sz="1300" b="1">
              <a:solidFill>
                <a:schemeClr val="dk1"/>
              </a:solidFill>
            </a:endParaRPr>
          </a:p>
        </p:txBody>
      </p:sp>
      <p:pic>
        <p:nvPicPr>
          <p:cNvPr id="169" name="Google Shape;169;g26caf2632ea_0_104"/>
          <p:cNvPicPr preferRelativeResize="0"/>
          <p:nvPr/>
        </p:nvPicPr>
        <p:blipFill>
          <a:blip r:embed="rId5">
            <a:alphaModFix/>
          </a:blip>
          <a:stretch>
            <a:fillRect/>
          </a:stretch>
        </p:blipFill>
        <p:spPr>
          <a:xfrm>
            <a:off x="6519725" y="1784125"/>
            <a:ext cx="2231650" cy="2016175"/>
          </a:xfrm>
          <a:prstGeom prst="rect">
            <a:avLst/>
          </a:prstGeom>
          <a:noFill/>
          <a:ln>
            <a:noFill/>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4" name="Google Shape;174;g26caf2632ea_0_117"/>
          <p:cNvPicPr preferRelativeResize="0"/>
          <p:nvPr/>
        </p:nvPicPr>
        <p:blipFill>
          <a:blip r:embed="rId3">
            <a:alphaModFix/>
          </a:blip>
          <a:stretch>
            <a:fillRect/>
          </a:stretch>
        </p:blipFill>
        <p:spPr>
          <a:xfrm>
            <a:off x="-611450" y="880663"/>
            <a:ext cx="8229601" cy="5143501"/>
          </a:xfrm>
          <a:prstGeom prst="rect">
            <a:avLst/>
          </a:prstGeom>
          <a:noFill/>
          <a:ln>
            <a:noFill/>
          </a:ln>
        </p:spPr>
      </p:pic>
      <p:pic>
        <p:nvPicPr>
          <p:cNvPr id="175" name="Google Shape;175;g26caf2632ea_0_117"/>
          <p:cNvPicPr preferRelativeResize="0"/>
          <p:nvPr/>
        </p:nvPicPr>
        <p:blipFill>
          <a:blip r:embed="rId4">
            <a:alphaModFix/>
          </a:blip>
          <a:stretch>
            <a:fillRect/>
          </a:stretch>
        </p:blipFill>
        <p:spPr>
          <a:xfrm>
            <a:off x="1043175" y="-1268225"/>
            <a:ext cx="7386450" cy="4616499"/>
          </a:xfrm>
          <a:prstGeom prst="rect">
            <a:avLst/>
          </a:prstGeom>
          <a:noFill/>
          <a:ln>
            <a:noFill/>
          </a:ln>
        </p:spPr>
      </p:pic>
      <p:sp>
        <p:nvSpPr>
          <p:cNvPr id="176" name="Google Shape;176;g26caf2632ea_0_117"/>
          <p:cNvSpPr txBox="1"/>
          <p:nvPr/>
        </p:nvSpPr>
        <p:spPr>
          <a:xfrm>
            <a:off x="1043175" y="29357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rPr>
              <a:t>Desired Altitude</a:t>
            </a:r>
            <a:endParaRPr sz="1300">
              <a:solidFill>
                <a:schemeClr val="dk1"/>
              </a:solidFill>
            </a:endParaRPr>
          </a:p>
        </p:txBody>
      </p:sp>
      <p:sp>
        <p:nvSpPr>
          <p:cNvPr id="177" name="Google Shape;177;g26caf2632ea_0_117"/>
          <p:cNvSpPr txBox="1"/>
          <p:nvPr/>
        </p:nvSpPr>
        <p:spPr>
          <a:xfrm>
            <a:off x="6268625" y="21112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rPr>
              <a:t>Actual Altitude</a:t>
            </a:r>
            <a:endParaRPr sz="1300">
              <a:solidFill>
                <a:schemeClr val="dk1"/>
              </a:solidFill>
            </a:endParaRPr>
          </a:p>
        </p:txBody>
      </p:sp>
      <p:sp>
        <p:nvSpPr>
          <p:cNvPr id="178" name="Google Shape;178;g26caf2632ea_0_117"/>
          <p:cNvSpPr txBox="1"/>
          <p:nvPr/>
        </p:nvSpPr>
        <p:spPr>
          <a:xfrm>
            <a:off x="3274100" y="304875"/>
            <a:ext cx="869100" cy="399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solidFill>
                  <a:schemeClr val="dk1"/>
                </a:solidFill>
              </a:rPr>
              <a:t>2</a:t>
            </a:r>
            <a:endParaRPr sz="1300">
              <a:solidFill>
                <a:schemeClr val="dk1"/>
              </a:solidFill>
            </a:endParaRPr>
          </a:p>
        </p:txBody>
      </p:sp>
      <p:sp>
        <p:nvSpPr>
          <p:cNvPr id="179" name="Google Shape;179;g26caf2632ea_0_117"/>
          <p:cNvSpPr txBox="1"/>
          <p:nvPr/>
        </p:nvSpPr>
        <p:spPr>
          <a:xfrm>
            <a:off x="4830088" y="29357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Propeller</a:t>
            </a:r>
            <a:endParaRPr sz="1200">
              <a:solidFill>
                <a:schemeClr val="dk1"/>
              </a:solidFill>
            </a:endParaRPr>
          </a:p>
        </p:txBody>
      </p:sp>
      <p:sp>
        <p:nvSpPr>
          <p:cNvPr id="180" name="Google Shape;180;g26caf2632ea_0_117"/>
          <p:cNvSpPr txBox="1"/>
          <p:nvPr/>
        </p:nvSpPr>
        <p:spPr>
          <a:xfrm>
            <a:off x="3560500" y="1068625"/>
            <a:ext cx="1187400" cy="71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solidFill>
                  <a:schemeClr val="dk1"/>
                </a:solidFill>
              </a:rPr>
              <a:t>Altitude Measuring Sensor</a:t>
            </a:r>
            <a:endParaRPr sz="1300">
              <a:solidFill>
                <a:schemeClr val="dk1"/>
              </a:solidFill>
            </a:endParaRPr>
          </a:p>
        </p:txBody>
      </p:sp>
      <p:sp>
        <p:nvSpPr>
          <p:cNvPr id="181" name="Google Shape;181;g26caf2632ea_0_117"/>
          <p:cNvSpPr txBox="1"/>
          <p:nvPr/>
        </p:nvSpPr>
        <p:spPr>
          <a:xfrm>
            <a:off x="3396125" y="2059750"/>
            <a:ext cx="3123600" cy="120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b="1">
                <a:solidFill>
                  <a:schemeClr val="dk1"/>
                </a:solidFill>
              </a:rPr>
              <a:t>Desired Altitude - Actual Altitude</a:t>
            </a:r>
            <a:endParaRPr sz="1300" b="1">
              <a:solidFill>
                <a:schemeClr val="dk1"/>
              </a:solidFill>
            </a:endParaRPr>
          </a:p>
          <a:p>
            <a:pPr marL="0" lvl="0" indent="0" algn="l" rtl="0">
              <a:spcBef>
                <a:spcPts val="0"/>
              </a:spcBef>
              <a:spcAft>
                <a:spcPts val="0"/>
              </a:spcAft>
              <a:buNone/>
            </a:pPr>
            <a:r>
              <a:rPr lang="en" sz="1300" b="1">
                <a:solidFill>
                  <a:schemeClr val="dk1"/>
                </a:solidFill>
              </a:rPr>
              <a:t>= 60m - 10m</a:t>
            </a:r>
            <a:endParaRPr sz="1300" b="1">
              <a:solidFill>
                <a:schemeClr val="dk1"/>
              </a:solidFill>
            </a:endParaRPr>
          </a:p>
          <a:p>
            <a:pPr marL="0" lvl="0" indent="0" algn="l" rtl="0">
              <a:spcBef>
                <a:spcPts val="0"/>
              </a:spcBef>
              <a:spcAft>
                <a:spcPts val="0"/>
              </a:spcAft>
              <a:buNone/>
            </a:pPr>
            <a:r>
              <a:rPr lang="en" sz="1300" b="1">
                <a:solidFill>
                  <a:schemeClr val="dk1"/>
                </a:solidFill>
              </a:rPr>
              <a:t>= 50</a:t>
            </a:r>
            <a:endParaRPr sz="1300" b="1">
              <a:solidFill>
                <a:schemeClr val="dk1"/>
              </a:solidFill>
            </a:endParaRPr>
          </a:p>
          <a:p>
            <a:pPr marL="0" lvl="0" indent="0" algn="l" rtl="0">
              <a:spcBef>
                <a:spcPts val="0"/>
              </a:spcBef>
              <a:spcAft>
                <a:spcPts val="0"/>
              </a:spcAft>
              <a:buNone/>
            </a:pPr>
            <a:endParaRPr sz="1300" b="1">
              <a:solidFill>
                <a:schemeClr val="dk1"/>
              </a:solidFill>
            </a:endParaRPr>
          </a:p>
          <a:p>
            <a:pPr marL="0" lvl="0" indent="0" algn="l" rtl="0">
              <a:spcBef>
                <a:spcPts val="0"/>
              </a:spcBef>
              <a:spcAft>
                <a:spcPts val="0"/>
              </a:spcAft>
              <a:buNone/>
            </a:pPr>
            <a:r>
              <a:rPr lang="en" sz="1300" b="1">
                <a:solidFill>
                  <a:schemeClr val="dk1"/>
                </a:solidFill>
              </a:rPr>
              <a:t>Propeller Speed = 50 * 2 = 100 rpm</a:t>
            </a:r>
            <a:endParaRPr sz="1300" b="1">
              <a:solidFill>
                <a:schemeClr val="dk1"/>
              </a:solidFill>
            </a:endParaRPr>
          </a:p>
        </p:txBody>
      </p:sp>
      <p:pic>
        <p:nvPicPr>
          <p:cNvPr id="182" name="Google Shape;182;g26caf2632ea_0_117"/>
          <p:cNvPicPr preferRelativeResize="0"/>
          <p:nvPr/>
        </p:nvPicPr>
        <p:blipFill>
          <a:blip r:embed="rId5">
            <a:alphaModFix/>
          </a:blip>
          <a:stretch>
            <a:fillRect/>
          </a:stretch>
        </p:blipFill>
        <p:spPr>
          <a:xfrm>
            <a:off x="6519725" y="1784125"/>
            <a:ext cx="2231650" cy="2016175"/>
          </a:xfrm>
          <a:prstGeom prst="rect">
            <a:avLst/>
          </a:prstGeom>
          <a:noFill/>
          <a:ln>
            <a:noFill/>
          </a:ln>
        </p:spPr>
      </p:pic>
      <p:sp>
        <p:nvSpPr>
          <p:cNvPr id="183" name="Google Shape;183;g26caf2632ea_0_117"/>
          <p:cNvSpPr txBox="1"/>
          <p:nvPr/>
        </p:nvSpPr>
        <p:spPr>
          <a:xfrm>
            <a:off x="164400" y="3661525"/>
            <a:ext cx="563700" cy="61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solidFill>
                  <a:schemeClr val="dk1"/>
                </a:solidFill>
              </a:rPr>
              <a:t>10m</a:t>
            </a:r>
            <a:endParaRPr sz="1500">
              <a:solidFill>
                <a:schemeClr val="dk1"/>
              </a:solidFill>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4" name="Google Shape;174;g26caf2632ea_0_117"/>
          <p:cNvPicPr preferRelativeResize="0"/>
          <p:nvPr/>
        </p:nvPicPr>
        <p:blipFill>
          <a:blip r:embed="rId3">
            <a:alphaModFix/>
          </a:blip>
          <a:stretch>
            <a:fillRect/>
          </a:stretch>
        </p:blipFill>
        <p:spPr>
          <a:xfrm>
            <a:off x="-611450" y="880663"/>
            <a:ext cx="8229601" cy="5143501"/>
          </a:xfrm>
          <a:prstGeom prst="rect">
            <a:avLst/>
          </a:prstGeom>
          <a:noFill/>
          <a:ln>
            <a:noFill/>
          </a:ln>
        </p:spPr>
      </p:pic>
      <p:pic>
        <p:nvPicPr>
          <p:cNvPr id="175" name="Google Shape;175;g26caf2632ea_0_117"/>
          <p:cNvPicPr preferRelativeResize="0"/>
          <p:nvPr/>
        </p:nvPicPr>
        <p:blipFill>
          <a:blip r:embed="rId4">
            <a:alphaModFix/>
          </a:blip>
          <a:stretch>
            <a:fillRect/>
          </a:stretch>
        </p:blipFill>
        <p:spPr>
          <a:xfrm>
            <a:off x="1043175" y="-1268225"/>
            <a:ext cx="7386450" cy="4616499"/>
          </a:xfrm>
          <a:prstGeom prst="rect">
            <a:avLst/>
          </a:prstGeom>
          <a:noFill/>
          <a:ln>
            <a:noFill/>
          </a:ln>
        </p:spPr>
      </p:pic>
      <p:sp>
        <p:nvSpPr>
          <p:cNvPr id="176" name="Google Shape;176;g26caf2632ea_0_117"/>
          <p:cNvSpPr txBox="1"/>
          <p:nvPr/>
        </p:nvSpPr>
        <p:spPr>
          <a:xfrm>
            <a:off x="1043175" y="29357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rPr>
              <a:t>Desired Altitude</a:t>
            </a:r>
            <a:endParaRPr sz="1300">
              <a:solidFill>
                <a:schemeClr val="dk1"/>
              </a:solidFill>
            </a:endParaRPr>
          </a:p>
        </p:txBody>
      </p:sp>
      <p:sp>
        <p:nvSpPr>
          <p:cNvPr id="177" name="Google Shape;177;g26caf2632ea_0_117"/>
          <p:cNvSpPr txBox="1"/>
          <p:nvPr/>
        </p:nvSpPr>
        <p:spPr>
          <a:xfrm>
            <a:off x="6268625" y="21112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rPr>
              <a:t>Actual Altitude</a:t>
            </a:r>
            <a:endParaRPr sz="1300">
              <a:solidFill>
                <a:schemeClr val="dk1"/>
              </a:solidFill>
            </a:endParaRPr>
          </a:p>
        </p:txBody>
      </p:sp>
      <p:sp>
        <p:nvSpPr>
          <p:cNvPr id="178" name="Google Shape;178;g26caf2632ea_0_117"/>
          <p:cNvSpPr txBox="1"/>
          <p:nvPr/>
        </p:nvSpPr>
        <p:spPr>
          <a:xfrm>
            <a:off x="3274100" y="304875"/>
            <a:ext cx="869100" cy="399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solidFill>
                  <a:schemeClr val="dk1"/>
                </a:solidFill>
              </a:rPr>
              <a:t>2</a:t>
            </a:r>
            <a:endParaRPr sz="1300">
              <a:solidFill>
                <a:schemeClr val="dk1"/>
              </a:solidFill>
            </a:endParaRPr>
          </a:p>
        </p:txBody>
      </p:sp>
      <p:sp>
        <p:nvSpPr>
          <p:cNvPr id="179" name="Google Shape;179;g26caf2632ea_0_117"/>
          <p:cNvSpPr txBox="1"/>
          <p:nvPr/>
        </p:nvSpPr>
        <p:spPr>
          <a:xfrm>
            <a:off x="4830088" y="29357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Propeller</a:t>
            </a:r>
            <a:endParaRPr sz="1200">
              <a:solidFill>
                <a:schemeClr val="dk1"/>
              </a:solidFill>
            </a:endParaRPr>
          </a:p>
        </p:txBody>
      </p:sp>
      <p:sp>
        <p:nvSpPr>
          <p:cNvPr id="180" name="Google Shape;180;g26caf2632ea_0_117"/>
          <p:cNvSpPr txBox="1"/>
          <p:nvPr/>
        </p:nvSpPr>
        <p:spPr>
          <a:xfrm>
            <a:off x="3560500" y="1068625"/>
            <a:ext cx="1187400" cy="71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solidFill>
                  <a:schemeClr val="dk1"/>
                </a:solidFill>
              </a:rPr>
              <a:t>Altitude Measuring Sensor</a:t>
            </a:r>
            <a:endParaRPr sz="1300">
              <a:solidFill>
                <a:schemeClr val="dk1"/>
              </a:solidFill>
            </a:endParaRPr>
          </a:p>
        </p:txBody>
      </p:sp>
      <p:sp>
        <p:nvSpPr>
          <p:cNvPr id="181" name="Google Shape;181;g26caf2632ea_0_117"/>
          <p:cNvSpPr txBox="1"/>
          <p:nvPr/>
        </p:nvSpPr>
        <p:spPr>
          <a:xfrm>
            <a:off x="3396125" y="2059750"/>
            <a:ext cx="3123600" cy="120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b="1" dirty="0">
                <a:solidFill>
                  <a:schemeClr val="dk1"/>
                </a:solidFill>
              </a:rPr>
              <a:t>Desired Altitude - Actual Altitude</a:t>
            </a:r>
            <a:endParaRPr sz="1300" b="1" dirty="0">
              <a:solidFill>
                <a:schemeClr val="dk1"/>
              </a:solidFill>
            </a:endParaRPr>
          </a:p>
          <a:p>
            <a:pPr marL="0" lvl="0" indent="0" algn="l" rtl="0">
              <a:spcBef>
                <a:spcPts val="0"/>
              </a:spcBef>
              <a:spcAft>
                <a:spcPts val="0"/>
              </a:spcAft>
              <a:buNone/>
            </a:pPr>
            <a:r>
              <a:rPr lang="en" sz="1300" b="1" dirty="0">
                <a:solidFill>
                  <a:schemeClr val="dk1"/>
                </a:solidFill>
              </a:rPr>
              <a:t>= 60m </a:t>
            </a:r>
            <a:r>
              <a:rPr lang="en" sz="1300" b="1" dirty="0" smtClean="0">
                <a:solidFill>
                  <a:schemeClr val="dk1"/>
                </a:solidFill>
              </a:rPr>
              <a:t>– 10.1111m</a:t>
            </a:r>
            <a:endParaRPr sz="1300" b="1" dirty="0">
              <a:solidFill>
                <a:schemeClr val="dk1"/>
              </a:solidFill>
            </a:endParaRPr>
          </a:p>
          <a:p>
            <a:pPr marL="0" lvl="0" indent="0" algn="l" rtl="0">
              <a:spcBef>
                <a:spcPts val="0"/>
              </a:spcBef>
              <a:spcAft>
                <a:spcPts val="0"/>
              </a:spcAft>
              <a:buNone/>
            </a:pPr>
            <a:r>
              <a:rPr lang="en" sz="1300" b="1" dirty="0">
                <a:solidFill>
                  <a:schemeClr val="dk1"/>
                </a:solidFill>
              </a:rPr>
              <a:t>= </a:t>
            </a:r>
            <a:r>
              <a:rPr lang="en" sz="1300" b="1" dirty="0" smtClean="0">
                <a:solidFill>
                  <a:schemeClr val="dk1"/>
                </a:solidFill>
              </a:rPr>
              <a:t>49.9999</a:t>
            </a:r>
            <a:endParaRPr sz="1300" b="1" dirty="0">
              <a:solidFill>
                <a:schemeClr val="dk1"/>
              </a:solidFill>
            </a:endParaRPr>
          </a:p>
          <a:p>
            <a:pPr marL="0" lvl="0" indent="0" algn="l" rtl="0">
              <a:spcBef>
                <a:spcPts val="0"/>
              </a:spcBef>
              <a:spcAft>
                <a:spcPts val="0"/>
              </a:spcAft>
              <a:buNone/>
            </a:pPr>
            <a:endParaRPr sz="1300" b="1" dirty="0">
              <a:solidFill>
                <a:schemeClr val="dk1"/>
              </a:solidFill>
            </a:endParaRPr>
          </a:p>
          <a:p>
            <a:pPr marL="0" lvl="0" indent="0" algn="l" rtl="0">
              <a:spcBef>
                <a:spcPts val="0"/>
              </a:spcBef>
              <a:spcAft>
                <a:spcPts val="0"/>
              </a:spcAft>
              <a:buNone/>
            </a:pPr>
            <a:r>
              <a:rPr lang="en" sz="1300" b="1" dirty="0">
                <a:solidFill>
                  <a:schemeClr val="dk1"/>
                </a:solidFill>
              </a:rPr>
              <a:t>Propeller Speed = </a:t>
            </a:r>
            <a:r>
              <a:rPr lang="en" sz="1300" b="1" dirty="0" smtClean="0">
                <a:solidFill>
                  <a:schemeClr val="dk1"/>
                </a:solidFill>
              </a:rPr>
              <a:t>49.99 </a:t>
            </a:r>
            <a:r>
              <a:rPr lang="en" sz="1300" b="1" dirty="0">
                <a:solidFill>
                  <a:schemeClr val="dk1"/>
                </a:solidFill>
              </a:rPr>
              <a:t>* 2 = </a:t>
            </a:r>
            <a:r>
              <a:rPr lang="en" sz="1300" b="1" dirty="0" smtClean="0">
                <a:solidFill>
                  <a:schemeClr val="dk1"/>
                </a:solidFill>
              </a:rPr>
              <a:t>99.99 </a:t>
            </a:r>
            <a:r>
              <a:rPr lang="en" sz="1300" b="1" dirty="0">
                <a:solidFill>
                  <a:schemeClr val="dk1"/>
                </a:solidFill>
              </a:rPr>
              <a:t>rpm</a:t>
            </a:r>
            <a:endParaRPr sz="1300" b="1" dirty="0">
              <a:solidFill>
                <a:schemeClr val="dk1"/>
              </a:solidFill>
            </a:endParaRPr>
          </a:p>
        </p:txBody>
      </p:sp>
      <p:pic>
        <p:nvPicPr>
          <p:cNvPr id="182" name="Google Shape;182;g26caf2632ea_0_117"/>
          <p:cNvPicPr preferRelativeResize="0"/>
          <p:nvPr/>
        </p:nvPicPr>
        <p:blipFill>
          <a:blip r:embed="rId5">
            <a:alphaModFix/>
          </a:blip>
          <a:stretch>
            <a:fillRect/>
          </a:stretch>
        </p:blipFill>
        <p:spPr>
          <a:xfrm>
            <a:off x="6519725" y="1784125"/>
            <a:ext cx="2231650" cy="2016175"/>
          </a:xfrm>
          <a:prstGeom prst="rect">
            <a:avLst/>
          </a:prstGeom>
          <a:noFill/>
          <a:ln>
            <a:noFill/>
          </a:ln>
        </p:spPr>
      </p:pic>
      <p:sp>
        <p:nvSpPr>
          <p:cNvPr id="183" name="Google Shape;183;g26caf2632ea_0_117"/>
          <p:cNvSpPr txBox="1"/>
          <p:nvPr/>
        </p:nvSpPr>
        <p:spPr>
          <a:xfrm>
            <a:off x="164400" y="3661525"/>
            <a:ext cx="563700" cy="61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solidFill>
                  <a:schemeClr val="dk1"/>
                </a:solidFill>
              </a:rPr>
              <a:t>10m</a:t>
            </a:r>
            <a:endParaRPr sz="1500">
              <a:solidFill>
                <a:schemeClr val="dk1"/>
              </a:solidFill>
            </a:endParaRPr>
          </a:p>
        </p:txBody>
      </p:sp>
    </p:spTree>
    <p:extLst>
      <p:ext uri="{BB962C8B-B14F-4D97-AF65-F5344CB8AC3E}">
        <p14:creationId xmlns:p14="http://schemas.microsoft.com/office/powerpoint/2010/main" val="338338421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4" name="Google Shape;174;g26caf2632ea_0_117"/>
          <p:cNvPicPr preferRelativeResize="0"/>
          <p:nvPr/>
        </p:nvPicPr>
        <p:blipFill>
          <a:blip r:embed="rId3">
            <a:alphaModFix/>
          </a:blip>
          <a:stretch>
            <a:fillRect/>
          </a:stretch>
        </p:blipFill>
        <p:spPr>
          <a:xfrm>
            <a:off x="-611450" y="880663"/>
            <a:ext cx="8229601" cy="5143501"/>
          </a:xfrm>
          <a:prstGeom prst="rect">
            <a:avLst/>
          </a:prstGeom>
          <a:noFill/>
          <a:ln>
            <a:noFill/>
          </a:ln>
        </p:spPr>
      </p:pic>
      <p:pic>
        <p:nvPicPr>
          <p:cNvPr id="175" name="Google Shape;175;g26caf2632ea_0_117"/>
          <p:cNvPicPr preferRelativeResize="0"/>
          <p:nvPr/>
        </p:nvPicPr>
        <p:blipFill>
          <a:blip r:embed="rId4">
            <a:alphaModFix/>
          </a:blip>
          <a:stretch>
            <a:fillRect/>
          </a:stretch>
        </p:blipFill>
        <p:spPr>
          <a:xfrm>
            <a:off x="1043175" y="-1268225"/>
            <a:ext cx="7386450" cy="4616499"/>
          </a:xfrm>
          <a:prstGeom prst="rect">
            <a:avLst/>
          </a:prstGeom>
          <a:noFill/>
          <a:ln>
            <a:noFill/>
          </a:ln>
        </p:spPr>
      </p:pic>
      <p:sp>
        <p:nvSpPr>
          <p:cNvPr id="176" name="Google Shape;176;g26caf2632ea_0_117"/>
          <p:cNvSpPr txBox="1"/>
          <p:nvPr/>
        </p:nvSpPr>
        <p:spPr>
          <a:xfrm>
            <a:off x="1043175" y="29357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rPr>
              <a:t>Desired Altitude</a:t>
            </a:r>
            <a:endParaRPr sz="1300">
              <a:solidFill>
                <a:schemeClr val="dk1"/>
              </a:solidFill>
            </a:endParaRPr>
          </a:p>
        </p:txBody>
      </p:sp>
      <p:sp>
        <p:nvSpPr>
          <p:cNvPr id="177" name="Google Shape;177;g26caf2632ea_0_117"/>
          <p:cNvSpPr txBox="1"/>
          <p:nvPr/>
        </p:nvSpPr>
        <p:spPr>
          <a:xfrm>
            <a:off x="6268625" y="21112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rPr>
              <a:t>Actual Altitude</a:t>
            </a:r>
            <a:endParaRPr sz="1300">
              <a:solidFill>
                <a:schemeClr val="dk1"/>
              </a:solidFill>
            </a:endParaRPr>
          </a:p>
        </p:txBody>
      </p:sp>
      <p:sp>
        <p:nvSpPr>
          <p:cNvPr id="178" name="Google Shape;178;g26caf2632ea_0_117"/>
          <p:cNvSpPr txBox="1"/>
          <p:nvPr/>
        </p:nvSpPr>
        <p:spPr>
          <a:xfrm>
            <a:off x="3274100" y="304875"/>
            <a:ext cx="869100" cy="399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dirty="0" smtClean="0">
                <a:solidFill>
                  <a:schemeClr val="dk1"/>
                </a:solidFill>
              </a:rPr>
              <a:t>10</a:t>
            </a:r>
            <a:endParaRPr sz="1300" dirty="0">
              <a:solidFill>
                <a:schemeClr val="dk1"/>
              </a:solidFill>
            </a:endParaRPr>
          </a:p>
        </p:txBody>
      </p:sp>
      <p:sp>
        <p:nvSpPr>
          <p:cNvPr id="179" name="Google Shape;179;g26caf2632ea_0_117"/>
          <p:cNvSpPr txBox="1"/>
          <p:nvPr/>
        </p:nvSpPr>
        <p:spPr>
          <a:xfrm>
            <a:off x="4830088" y="29357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Propeller</a:t>
            </a:r>
            <a:endParaRPr sz="1200">
              <a:solidFill>
                <a:schemeClr val="dk1"/>
              </a:solidFill>
            </a:endParaRPr>
          </a:p>
        </p:txBody>
      </p:sp>
      <p:sp>
        <p:nvSpPr>
          <p:cNvPr id="180" name="Google Shape;180;g26caf2632ea_0_117"/>
          <p:cNvSpPr txBox="1"/>
          <p:nvPr/>
        </p:nvSpPr>
        <p:spPr>
          <a:xfrm>
            <a:off x="3560500" y="1068625"/>
            <a:ext cx="1187400" cy="71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solidFill>
                  <a:schemeClr val="dk1"/>
                </a:solidFill>
              </a:rPr>
              <a:t>Altitude Measuring Sensor</a:t>
            </a:r>
            <a:endParaRPr sz="1300">
              <a:solidFill>
                <a:schemeClr val="dk1"/>
              </a:solidFill>
            </a:endParaRPr>
          </a:p>
        </p:txBody>
      </p:sp>
      <p:sp>
        <p:nvSpPr>
          <p:cNvPr id="181" name="Google Shape;181;g26caf2632ea_0_117"/>
          <p:cNvSpPr txBox="1"/>
          <p:nvPr/>
        </p:nvSpPr>
        <p:spPr>
          <a:xfrm>
            <a:off x="3396125" y="2059750"/>
            <a:ext cx="3123600" cy="120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b="1" dirty="0">
                <a:solidFill>
                  <a:schemeClr val="dk1"/>
                </a:solidFill>
              </a:rPr>
              <a:t>Desired Altitude - Actual Altitude</a:t>
            </a:r>
            <a:endParaRPr sz="1300" b="1" dirty="0">
              <a:solidFill>
                <a:schemeClr val="dk1"/>
              </a:solidFill>
            </a:endParaRPr>
          </a:p>
          <a:p>
            <a:pPr marL="0" lvl="0" indent="0" algn="l" rtl="0">
              <a:spcBef>
                <a:spcPts val="0"/>
              </a:spcBef>
              <a:spcAft>
                <a:spcPts val="0"/>
              </a:spcAft>
              <a:buNone/>
            </a:pPr>
            <a:r>
              <a:rPr lang="en" sz="1300" b="1" dirty="0">
                <a:solidFill>
                  <a:schemeClr val="dk1"/>
                </a:solidFill>
              </a:rPr>
              <a:t>= 60m - 10m</a:t>
            </a:r>
            <a:endParaRPr sz="1300" b="1" dirty="0">
              <a:solidFill>
                <a:schemeClr val="dk1"/>
              </a:solidFill>
            </a:endParaRPr>
          </a:p>
          <a:p>
            <a:pPr marL="0" lvl="0" indent="0" algn="l" rtl="0">
              <a:spcBef>
                <a:spcPts val="0"/>
              </a:spcBef>
              <a:spcAft>
                <a:spcPts val="0"/>
              </a:spcAft>
              <a:buNone/>
            </a:pPr>
            <a:r>
              <a:rPr lang="en" sz="1300" b="1" dirty="0">
                <a:solidFill>
                  <a:schemeClr val="dk1"/>
                </a:solidFill>
              </a:rPr>
              <a:t>= 50</a:t>
            </a:r>
            <a:endParaRPr sz="1300" b="1" dirty="0">
              <a:solidFill>
                <a:schemeClr val="dk1"/>
              </a:solidFill>
            </a:endParaRPr>
          </a:p>
          <a:p>
            <a:pPr marL="0" lvl="0" indent="0" algn="l" rtl="0">
              <a:spcBef>
                <a:spcPts val="0"/>
              </a:spcBef>
              <a:spcAft>
                <a:spcPts val="0"/>
              </a:spcAft>
              <a:buNone/>
            </a:pPr>
            <a:endParaRPr sz="1300" b="1" dirty="0">
              <a:solidFill>
                <a:schemeClr val="dk1"/>
              </a:solidFill>
            </a:endParaRPr>
          </a:p>
          <a:p>
            <a:pPr marL="0" lvl="0" indent="0" algn="l" rtl="0">
              <a:spcBef>
                <a:spcPts val="0"/>
              </a:spcBef>
              <a:spcAft>
                <a:spcPts val="0"/>
              </a:spcAft>
              <a:buNone/>
            </a:pPr>
            <a:r>
              <a:rPr lang="en" sz="1300" b="1" dirty="0">
                <a:solidFill>
                  <a:schemeClr val="dk1"/>
                </a:solidFill>
              </a:rPr>
              <a:t>Propeller Speed = 50 * </a:t>
            </a:r>
            <a:r>
              <a:rPr lang="en" sz="1300" b="1" dirty="0" smtClean="0">
                <a:solidFill>
                  <a:schemeClr val="dk1"/>
                </a:solidFill>
              </a:rPr>
              <a:t>10 </a:t>
            </a:r>
            <a:r>
              <a:rPr lang="en" sz="1300" b="1" dirty="0">
                <a:solidFill>
                  <a:schemeClr val="dk1"/>
                </a:solidFill>
              </a:rPr>
              <a:t>= </a:t>
            </a:r>
            <a:r>
              <a:rPr lang="en" sz="1300" b="1" dirty="0" smtClean="0">
                <a:solidFill>
                  <a:schemeClr val="dk1"/>
                </a:solidFill>
              </a:rPr>
              <a:t>500 </a:t>
            </a:r>
            <a:r>
              <a:rPr lang="en" sz="1300" b="1" dirty="0">
                <a:solidFill>
                  <a:schemeClr val="dk1"/>
                </a:solidFill>
              </a:rPr>
              <a:t>rpm</a:t>
            </a:r>
            <a:endParaRPr sz="1300" b="1" dirty="0">
              <a:solidFill>
                <a:schemeClr val="dk1"/>
              </a:solidFill>
            </a:endParaRPr>
          </a:p>
        </p:txBody>
      </p:sp>
      <p:pic>
        <p:nvPicPr>
          <p:cNvPr id="182" name="Google Shape;182;g26caf2632ea_0_117"/>
          <p:cNvPicPr preferRelativeResize="0"/>
          <p:nvPr/>
        </p:nvPicPr>
        <p:blipFill>
          <a:blip r:embed="rId5">
            <a:alphaModFix/>
          </a:blip>
          <a:stretch>
            <a:fillRect/>
          </a:stretch>
        </p:blipFill>
        <p:spPr>
          <a:xfrm>
            <a:off x="6519725" y="1784125"/>
            <a:ext cx="2231650" cy="2016175"/>
          </a:xfrm>
          <a:prstGeom prst="rect">
            <a:avLst/>
          </a:prstGeom>
          <a:noFill/>
          <a:ln>
            <a:noFill/>
          </a:ln>
        </p:spPr>
      </p:pic>
      <p:sp>
        <p:nvSpPr>
          <p:cNvPr id="183" name="Google Shape;183;g26caf2632ea_0_117"/>
          <p:cNvSpPr txBox="1"/>
          <p:nvPr/>
        </p:nvSpPr>
        <p:spPr>
          <a:xfrm>
            <a:off x="164400" y="3661525"/>
            <a:ext cx="563700" cy="61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solidFill>
                  <a:schemeClr val="dk1"/>
                </a:solidFill>
              </a:rPr>
              <a:t>10m</a:t>
            </a:r>
            <a:endParaRPr sz="1500">
              <a:solidFill>
                <a:schemeClr val="dk1"/>
              </a:solidFill>
            </a:endParaRPr>
          </a:p>
        </p:txBody>
      </p:sp>
    </p:spTree>
    <p:extLst>
      <p:ext uri="{BB962C8B-B14F-4D97-AF65-F5344CB8AC3E}">
        <p14:creationId xmlns:p14="http://schemas.microsoft.com/office/powerpoint/2010/main" val="397352205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pic>
        <p:nvPicPr>
          <p:cNvPr id="188" name="Google Shape;188;g26caf2632ea_0_131"/>
          <p:cNvPicPr preferRelativeResize="0"/>
          <p:nvPr/>
        </p:nvPicPr>
        <p:blipFill>
          <a:blip r:embed="rId3">
            <a:alphaModFix/>
          </a:blip>
          <a:stretch>
            <a:fillRect/>
          </a:stretch>
        </p:blipFill>
        <p:spPr>
          <a:xfrm>
            <a:off x="1043175" y="-1268225"/>
            <a:ext cx="7386450" cy="4616499"/>
          </a:xfrm>
          <a:prstGeom prst="rect">
            <a:avLst/>
          </a:prstGeom>
          <a:noFill/>
          <a:ln>
            <a:noFill/>
          </a:ln>
        </p:spPr>
      </p:pic>
      <p:sp>
        <p:nvSpPr>
          <p:cNvPr id="189" name="Google Shape;189;g26caf2632ea_0_131"/>
          <p:cNvSpPr txBox="1"/>
          <p:nvPr/>
        </p:nvSpPr>
        <p:spPr>
          <a:xfrm>
            <a:off x="1043175" y="29357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rPr>
              <a:t>Desired Altitude</a:t>
            </a:r>
            <a:endParaRPr sz="1300">
              <a:solidFill>
                <a:schemeClr val="dk1"/>
              </a:solidFill>
            </a:endParaRPr>
          </a:p>
        </p:txBody>
      </p:sp>
      <p:sp>
        <p:nvSpPr>
          <p:cNvPr id="190" name="Google Shape;190;g26caf2632ea_0_131"/>
          <p:cNvSpPr txBox="1"/>
          <p:nvPr/>
        </p:nvSpPr>
        <p:spPr>
          <a:xfrm>
            <a:off x="6268625" y="21112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rPr>
              <a:t>Actual Altitude</a:t>
            </a:r>
            <a:endParaRPr sz="1300">
              <a:solidFill>
                <a:schemeClr val="dk1"/>
              </a:solidFill>
            </a:endParaRPr>
          </a:p>
        </p:txBody>
      </p:sp>
      <p:sp>
        <p:nvSpPr>
          <p:cNvPr id="191" name="Google Shape;191;g26caf2632ea_0_131"/>
          <p:cNvSpPr txBox="1"/>
          <p:nvPr/>
        </p:nvSpPr>
        <p:spPr>
          <a:xfrm>
            <a:off x="3274100" y="304875"/>
            <a:ext cx="869100" cy="399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solidFill>
                  <a:schemeClr val="dk1"/>
                </a:solidFill>
              </a:rPr>
              <a:t>10</a:t>
            </a:r>
            <a:endParaRPr sz="1300">
              <a:solidFill>
                <a:schemeClr val="dk1"/>
              </a:solidFill>
            </a:endParaRPr>
          </a:p>
        </p:txBody>
      </p:sp>
      <p:sp>
        <p:nvSpPr>
          <p:cNvPr id="192" name="Google Shape;192;g26caf2632ea_0_131"/>
          <p:cNvSpPr txBox="1"/>
          <p:nvPr/>
        </p:nvSpPr>
        <p:spPr>
          <a:xfrm>
            <a:off x="4830088" y="29357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Propeller</a:t>
            </a:r>
            <a:endParaRPr sz="1200">
              <a:solidFill>
                <a:schemeClr val="dk1"/>
              </a:solidFill>
            </a:endParaRPr>
          </a:p>
        </p:txBody>
      </p:sp>
      <p:sp>
        <p:nvSpPr>
          <p:cNvPr id="193" name="Google Shape;193;g26caf2632ea_0_131"/>
          <p:cNvSpPr txBox="1"/>
          <p:nvPr/>
        </p:nvSpPr>
        <p:spPr>
          <a:xfrm>
            <a:off x="3560500" y="1068625"/>
            <a:ext cx="1187400" cy="71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solidFill>
                  <a:schemeClr val="dk1"/>
                </a:solidFill>
              </a:rPr>
              <a:t>Altitude Measuring Sensor</a:t>
            </a:r>
            <a:endParaRPr sz="1300">
              <a:solidFill>
                <a:schemeClr val="dk1"/>
              </a:solidFill>
            </a:endParaRPr>
          </a:p>
        </p:txBody>
      </p:sp>
      <p:pic>
        <p:nvPicPr>
          <p:cNvPr id="195" name="Google Shape;195;g26caf2632ea_0_131"/>
          <p:cNvPicPr preferRelativeResize="0"/>
          <p:nvPr/>
        </p:nvPicPr>
        <p:blipFill>
          <a:blip r:embed="rId4">
            <a:alphaModFix/>
          </a:blip>
          <a:stretch>
            <a:fillRect/>
          </a:stretch>
        </p:blipFill>
        <p:spPr>
          <a:xfrm>
            <a:off x="6519725" y="1784125"/>
            <a:ext cx="2231650" cy="2016175"/>
          </a:xfrm>
          <a:prstGeom prst="rect">
            <a:avLst/>
          </a:prstGeom>
          <a:noFill/>
          <a:ln>
            <a:noFill/>
          </a:ln>
        </p:spPr>
      </p:pic>
      <p:pic>
        <p:nvPicPr>
          <p:cNvPr id="196" name="Google Shape;196;g26caf2632ea_0_131"/>
          <p:cNvPicPr preferRelativeResize="0"/>
          <p:nvPr/>
        </p:nvPicPr>
        <p:blipFill>
          <a:blip r:embed="rId5">
            <a:alphaModFix/>
          </a:blip>
          <a:stretch>
            <a:fillRect/>
          </a:stretch>
        </p:blipFill>
        <p:spPr>
          <a:xfrm>
            <a:off x="-352300" y="1876300"/>
            <a:ext cx="3070124" cy="3455100"/>
          </a:xfrm>
          <a:prstGeom prst="rect">
            <a:avLst/>
          </a:prstGeom>
          <a:noFill/>
          <a:ln>
            <a:noFill/>
          </a:ln>
        </p:spPr>
      </p:pic>
      <p:sp>
        <p:nvSpPr>
          <p:cNvPr id="197" name="Google Shape;197;g26caf2632ea_0_131"/>
          <p:cNvSpPr txBox="1"/>
          <p:nvPr/>
        </p:nvSpPr>
        <p:spPr>
          <a:xfrm>
            <a:off x="338475" y="3036850"/>
            <a:ext cx="626700" cy="61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a:solidFill>
                  <a:schemeClr val="dk1"/>
                </a:solidFill>
              </a:rPr>
              <a:t>50m</a:t>
            </a:r>
            <a:endParaRPr sz="1700">
              <a:solidFill>
                <a:schemeClr val="dk1"/>
              </a:solidFill>
            </a:endParaRPr>
          </a:p>
        </p:txBody>
      </p:sp>
      <p:sp>
        <p:nvSpPr>
          <p:cNvPr id="12" name="Google Shape;181;g26caf2632ea_0_117"/>
          <p:cNvSpPr txBox="1"/>
          <p:nvPr/>
        </p:nvSpPr>
        <p:spPr>
          <a:xfrm>
            <a:off x="3548525" y="2212150"/>
            <a:ext cx="3123600" cy="120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b="1" dirty="0">
                <a:solidFill>
                  <a:schemeClr val="dk1"/>
                </a:solidFill>
              </a:rPr>
              <a:t>Desired Altitude - Actual Altitude</a:t>
            </a:r>
            <a:endParaRPr sz="1300" b="1" dirty="0">
              <a:solidFill>
                <a:schemeClr val="dk1"/>
              </a:solidFill>
            </a:endParaRPr>
          </a:p>
          <a:p>
            <a:pPr marL="0" lvl="0" indent="0" algn="l" rtl="0">
              <a:spcBef>
                <a:spcPts val="0"/>
              </a:spcBef>
              <a:spcAft>
                <a:spcPts val="0"/>
              </a:spcAft>
              <a:buNone/>
            </a:pPr>
            <a:r>
              <a:rPr lang="en" sz="1300" b="1" dirty="0">
                <a:solidFill>
                  <a:schemeClr val="dk1"/>
                </a:solidFill>
              </a:rPr>
              <a:t>= 60m - </a:t>
            </a:r>
            <a:r>
              <a:rPr lang="en" sz="1300" b="1" dirty="0" smtClean="0">
                <a:solidFill>
                  <a:schemeClr val="dk1"/>
                </a:solidFill>
              </a:rPr>
              <a:t>50m</a:t>
            </a:r>
            <a:endParaRPr sz="1300" b="1" dirty="0">
              <a:solidFill>
                <a:schemeClr val="dk1"/>
              </a:solidFill>
            </a:endParaRPr>
          </a:p>
          <a:p>
            <a:pPr marL="0" lvl="0" indent="0" algn="l" rtl="0">
              <a:spcBef>
                <a:spcPts val="0"/>
              </a:spcBef>
              <a:spcAft>
                <a:spcPts val="0"/>
              </a:spcAft>
              <a:buNone/>
            </a:pPr>
            <a:r>
              <a:rPr lang="en" sz="1300" b="1" dirty="0">
                <a:solidFill>
                  <a:schemeClr val="dk1"/>
                </a:solidFill>
              </a:rPr>
              <a:t>= </a:t>
            </a:r>
            <a:r>
              <a:rPr lang="en" sz="1300" b="1" dirty="0" smtClean="0">
                <a:solidFill>
                  <a:schemeClr val="dk1"/>
                </a:solidFill>
              </a:rPr>
              <a:t>10</a:t>
            </a:r>
            <a:endParaRPr sz="1300" b="1" dirty="0">
              <a:solidFill>
                <a:schemeClr val="dk1"/>
              </a:solidFill>
            </a:endParaRPr>
          </a:p>
          <a:p>
            <a:pPr marL="0" lvl="0" indent="0" algn="l" rtl="0">
              <a:spcBef>
                <a:spcPts val="0"/>
              </a:spcBef>
              <a:spcAft>
                <a:spcPts val="0"/>
              </a:spcAft>
              <a:buNone/>
            </a:pPr>
            <a:endParaRPr sz="1300" b="1" dirty="0">
              <a:solidFill>
                <a:schemeClr val="dk1"/>
              </a:solidFill>
            </a:endParaRPr>
          </a:p>
          <a:p>
            <a:pPr marL="0" lvl="0" indent="0" algn="l" rtl="0">
              <a:spcBef>
                <a:spcPts val="0"/>
              </a:spcBef>
              <a:spcAft>
                <a:spcPts val="0"/>
              </a:spcAft>
              <a:buNone/>
            </a:pPr>
            <a:r>
              <a:rPr lang="en" sz="1300" b="1" dirty="0">
                <a:solidFill>
                  <a:schemeClr val="dk1"/>
                </a:solidFill>
              </a:rPr>
              <a:t>Propeller Speed = </a:t>
            </a:r>
            <a:r>
              <a:rPr lang="en" sz="1300" b="1" dirty="0" smtClean="0">
                <a:solidFill>
                  <a:schemeClr val="dk1"/>
                </a:solidFill>
              </a:rPr>
              <a:t>10 </a:t>
            </a:r>
            <a:r>
              <a:rPr lang="en" sz="1300" b="1" dirty="0">
                <a:solidFill>
                  <a:schemeClr val="dk1"/>
                </a:solidFill>
              </a:rPr>
              <a:t>* </a:t>
            </a:r>
            <a:r>
              <a:rPr lang="en" sz="1300" b="1" dirty="0" smtClean="0">
                <a:solidFill>
                  <a:schemeClr val="dk1"/>
                </a:solidFill>
              </a:rPr>
              <a:t>10 </a:t>
            </a:r>
            <a:r>
              <a:rPr lang="en" sz="1300" b="1" dirty="0">
                <a:solidFill>
                  <a:schemeClr val="dk1"/>
                </a:solidFill>
              </a:rPr>
              <a:t>= </a:t>
            </a:r>
            <a:r>
              <a:rPr lang="en" sz="1300" b="1" dirty="0" smtClean="0">
                <a:solidFill>
                  <a:schemeClr val="dk1"/>
                </a:solidFill>
              </a:rPr>
              <a:t>100 </a:t>
            </a:r>
            <a:r>
              <a:rPr lang="en" sz="1300" b="1" dirty="0">
                <a:solidFill>
                  <a:schemeClr val="dk1"/>
                </a:solidFill>
              </a:rPr>
              <a:t>rpm</a:t>
            </a:r>
            <a:endParaRPr sz="1300" b="1" dirty="0">
              <a:solidFill>
                <a:schemeClr val="dk1"/>
              </a:solidFill>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pic>
        <p:nvPicPr>
          <p:cNvPr id="214" name="Google Shape;214;g26caf2632ea_3_30"/>
          <p:cNvPicPr preferRelativeResize="0"/>
          <p:nvPr/>
        </p:nvPicPr>
        <p:blipFill>
          <a:blip r:embed="rId3">
            <a:alphaModFix/>
          </a:blip>
          <a:stretch>
            <a:fillRect/>
          </a:stretch>
        </p:blipFill>
        <p:spPr>
          <a:xfrm>
            <a:off x="1043175" y="-1268225"/>
            <a:ext cx="7386450" cy="4616499"/>
          </a:xfrm>
          <a:prstGeom prst="rect">
            <a:avLst/>
          </a:prstGeom>
          <a:noFill/>
          <a:ln>
            <a:noFill/>
          </a:ln>
        </p:spPr>
      </p:pic>
      <p:sp>
        <p:nvSpPr>
          <p:cNvPr id="215" name="Google Shape;215;g26caf2632ea_3_30"/>
          <p:cNvSpPr txBox="1"/>
          <p:nvPr/>
        </p:nvSpPr>
        <p:spPr>
          <a:xfrm>
            <a:off x="1043175" y="29357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rPr>
              <a:t>Desired Altitude</a:t>
            </a:r>
            <a:endParaRPr sz="1300">
              <a:solidFill>
                <a:schemeClr val="dk1"/>
              </a:solidFill>
            </a:endParaRPr>
          </a:p>
        </p:txBody>
      </p:sp>
      <p:sp>
        <p:nvSpPr>
          <p:cNvPr id="216" name="Google Shape;216;g26caf2632ea_3_30"/>
          <p:cNvSpPr txBox="1"/>
          <p:nvPr/>
        </p:nvSpPr>
        <p:spPr>
          <a:xfrm>
            <a:off x="6268625" y="21112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rPr>
              <a:t>Actual Altitude</a:t>
            </a:r>
            <a:endParaRPr sz="1300">
              <a:solidFill>
                <a:schemeClr val="dk1"/>
              </a:solidFill>
            </a:endParaRPr>
          </a:p>
        </p:txBody>
      </p:sp>
      <p:sp>
        <p:nvSpPr>
          <p:cNvPr id="217" name="Google Shape;217;g26caf2632ea_3_30"/>
          <p:cNvSpPr txBox="1"/>
          <p:nvPr/>
        </p:nvSpPr>
        <p:spPr>
          <a:xfrm>
            <a:off x="3274100" y="304875"/>
            <a:ext cx="869100" cy="399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solidFill>
                  <a:schemeClr val="dk1"/>
                </a:solidFill>
              </a:rPr>
              <a:t>10</a:t>
            </a:r>
            <a:endParaRPr sz="1300">
              <a:solidFill>
                <a:schemeClr val="dk1"/>
              </a:solidFill>
            </a:endParaRPr>
          </a:p>
        </p:txBody>
      </p:sp>
      <p:sp>
        <p:nvSpPr>
          <p:cNvPr id="218" name="Google Shape;218;g26caf2632ea_3_30"/>
          <p:cNvSpPr txBox="1"/>
          <p:nvPr/>
        </p:nvSpPr>
        <p:spPr>
          <a:xfrm>
            <a:off x="4830088" y="29357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Propeller</a:t>
            </a:r>
            <a:endParaRPr sz="1200">
              <a:solidFill>
                <a:schemeClr val="dk1"/>
              </a:solidFill>
            </a:endParaRPr>
          </a:p>
        </p:txBody>
      </p:sp>
      <p:sp>
        <p:nvSpPr>
          <p:cNvPr id="219" name="Google Shape;219;g26caf2632ea_3_30"/>
          <p:cNvSpPr txBox="1"/>
          <p:nvPr/>
        </p:nvSpPr>
        <p:spPr>
          <a:xfrm>
            <a:off x="3560500" y="1068625"/>
            <a:ext cx="1187400" cy="71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solidFill>
                  <a:schemeClr val="dk1"/>
                </a:solidFill>
              </a:rPr>
              <a:t>Altitude Measuring Sensor</a:t>
            </a:r>
            <a:endParaRPr sz="1300">
              <a:solidFill>
                <a:schemeClr val="dk1"/>
              </a:solidFill>
            </a:endParaRPr>
          </a:p>
        </p:txBody>
      </p:sp>
      <p:pic>
        <p:nvPicPr>
          <p:cNvPr id="220" name="Google Shape;220;g26caf2632ea_3_30"/>
          <p:cNvPicPr preferRelativeResize="0"/>
          <p:nvPr/>
        </p:nvPicPr>
        <p:blipFill>
          <a:blip r:embed="rId4">
            <a:alphaModFix/>
          </a:blip>
          <a:stretch>
            <a:fillRect/>
          </a:stretch>
        </p:blipFill>
        <p:spPr>
          <a:xfrm>
            <a:off x="6519725" y="1784125"/>
            <a:ext cx="2231650" cy="2016175"/>
          </a:xfrm>
          <a:prstGeom prst="rect">
            <a:avLst/>
          </a:prstGeom>
          <a:noFill/>
          <a:ln>
            <a:noFill/>
          </a:ln>
        </p:spPr>
      </p:pic>
      <p:pic>
        <p:nvPicPr>
          <p:cNvPr id="221" name="Google Shape;221;g26caf2632ea_3_30"/>
          <p:cNvPicPr preferRelativeResize="0"/>
          <p:nvPr/>
        </p:nvPicPr>
        <p:blipFill>
          <a:blip r:embed="rId5">
            <a:alphaModFix/>
          </a:blip>
          <a:stretch>
            <a:fillRect/>
          </a:stretch>
        </p:blipFill>
        <p:spPr>
          <a:xfrm>
            <a:off x="413188" y="1590029"/>
            <a:ext cx="2129062" cy="3304200"/>
          </a:xfrm>
          <a:prstGeom prst="rect">
            <a:avLst/>
          </a:prstGeom>
          <a:noFill/>
          <a:ln>
            <a:noFill/>
          </a:ln>
        </p:spPr>
      </p:pic>
      <p:sp>
        <p:nvSpPr>
          <p:cNvPr id="222" name="Google Shape;222;g26caf2632ea_3_30"/>
          <p:cNvSpPr txBox="1"/>
          <p:nvPr/>
        </p:nvSpPr>
        <p:spPr>
          <a:xfrm>
            <a:off x="3396125" y="2059750"/>
            <a:ext cx="3123600" cy="120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b="1">
                <a:solidFill>
                  <a:schemeClr val="dk1"/>
                </a:solidFill>
              </a:rPr>
              <a:t>Desired Altitude - Actual Altitude</a:t>
            </a:r>
            <a:endParaRPr sz="1300" b="1">
              <a:solidFill>
                <a:schemeClr val="dk1"/>
              </a:solidFill>
            </a:endParaRPr>
          </a:p>
          <a:p>
            <a:pPr marL="0" lvl="0" indent="0" algn="l" rtl="0">
              <a:spcBef>
                <a:spcPts val="0"/>
              </a:spcBef>
              <a:spcAft>
                <a:spcPts val="0"/>
              </a:spcAft>
              <a:buNone/>
            </a:pPr>
            <a:r>
              <a:rPr lang="en" sz="1300" b="1">
                <a:solidFill>
                  <a:schemeClr val="dk1"/>
                </a:solidFill>
              </a:rPr>
              <a:t>= 60m - 60m</a:t>
            </a:r>
            <a:endParaRPr sz="1300" b="1">
              <a:solidFill>
                <a:schemeClr val="dk1"/>
              </a:solidFill>
            </a:endParaRPr>
          </a:p>
          <a:p>
            <a:pPr marL="0" lvl="0" indent="0" algn="l" rtl="0">
              <a:spcBef>
                <a:spcPts val="0"/>
              </a:spcBef>
              <a:spcAft>
                <a:spcPts val="0"/>
              </a:spcAft>
              <a:buNone/>
            </a:pPr>
            <a:r>
              <a:rPr lang="en" sz="1300" b="1">
                <a:solidFill>
                  <a:schemeClr val="dk1"/>
                </a:solidFill>
              </a:rPr>
              <a:t>= 0</a:t>
            </a:r>
            <a:endParaRPr sz="1300" b="1">
              <a:solidFill>
                <a:schemeClr val="dk1"/>
              </a:solidFill>
            </a:endParaRPr>
          </a:p>
          <a:p>
            <a:pPr marL="0" lvl="0" indent="0" algn="l" rtl="0">
              <a:spcBef>
                <a:spcPts val="0"/>
              </a:spcBef>
              <a:spcAft>
                <a:spcPts val="0"/>
              </a:spcAft>
              <a:buNone/>
            </a:pPr>
            <a:endParaRPr sz="1300" b="1">
              <a:solidFill>
                <a:schemeClr val="dk1"/>
              </a:solidFill>
            </a:endParaRPr>
          </a:p>
          <a:p>
            <a:pPr marL="0" lvl="0" indent="0" algn="l" rtl="0">
              <a:spcBef>
                <a:spcPts val="0"/>
              </a:spcBef>
              <a:spcAft>
                <a:spcPts val="0"/>
              </a:spcAft>
              <a:buNone/>
            </a:pPr>
            <a:r>
              <a:rPr lang="en" sz="1300" b="1">
                <a:solidFill>
                  <a:schemeClr val="dk1"/>
                </a:solidFill>
              </a:rPr>
              <a:t>Propeller Speed = 0 * 10 = 0 rpm</a:t>
            </a:r>
            <a:endParaRPr sz="1300" b="1">
              <a:solidFill>
                <a:schemeClr val="dk1"/>
              </a:solidFill>
            </a:endParaRPr>
          </a:p>
        </p:txBody>
      </p:sp>
    </p:spTree>
    <p:extLst>
      <p:ext uri="{BB962C8B-B14F-4D97-AF65-F5344CB8AC3E}">
        <p14:creationId xmlns:p14="http://schemas.microsoft.com/office/powerpoint/2010/main" val="390210086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pic>
        <p:nvPicPr>
          <p:cNvPr id="227" name="Google Shape;227;g26caf2632ea_3_17"/>
          <p:cNvPicPr preferRelativeResize="0"/>
          <p:nvPr/>
        </p:nvPicPr>
        <p:blipFill>
          <a:blip r:embed="rId3">
            <a:alphaModFix/>
          </a:blip>
          <a:stretch>
            <a:fillRect/>
          </a:stretch>
        </p:blipFill>
        <p:spPr>
          <a:xfrm>
            <a:off x="1043175" y="-1268225"/>
            <a:ext cx="7386450" cy="4616499"/>
          </a:xfrm>
          <a:prstGeom prst="rect">
            <a:avLst/>
          </a:prstGeom>
          <a:noFill/>
          <a:ln>
            <a:noFill/>
          </a:ln>
        </p:spPr>
      </p:pic>
      <p:sp>
        <p:nvSpPr>
          <p:cNvPr id="228" name="Google Shape;228;g26caf2632ea_3_17"/>
          <p:cNvSpPr txBox="1"/>
          <p:nvPr/>
        </p:nvSpPr>
        <p:spPr>
          <a:xfrm>
            <a:off x="1043175" y="29357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rPr>
              <a:t>Desired Altitude</a:t>
            </a:r>
            <a:endParaRPr sz="1300">
              <a:solidFill>
                <a:schemeClr val="dk1"/>
              </a:solidFill>
            </a:endParaRPr>
          </a:p>
        </p:txBody>
      </p:sp>
      <p:sp>
        <p:nvSpPr>
          <p:cNvPr id="229" name="Google Shape;229;g26caf2632ea_3_17"/>
          <p:cNvSpPr txBox="1"/>
          <p:nvPr/>
        </p:nvSpPr>
        <p:spPr>
          <a:xfrm>
            <a:off x="6268625" y="21112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rPr>
              <a:t>Actual Altitude</a:t>
            </a:r>
            <a:endParaRPr sz="1300">
              <a:solidFill>
                <a:schemeClr val="dk1"/>
              </a:solidFill>
            </a:endParaRPr>
          </a:p>
        </p:txBody>
      </p:sp>
      <p:sp>
        <p:nvSpPr>
          <p:cNvPr id="230" name="Google Shape;230;g26caf2632ea_3_17"/>
          <p:cNvSpPr txBox="1"/>
          <p:nvPr/>
        </p:nvSpPr>
        <p:spPr>
          <a:xfrm>
            <a:off x="3274100" y="304875"/>
            <a:ext cx="869100" cy="399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solidFill>
                  <a:schemeClr val="dk1"/>
                </a:solidFill>
              </a:rPr>
              <a:t>100</a:t>
            </a:r>
            <a:endParaRPr sz="1300">
              <a:solidFill>
                <a:schemeClr val="dk1"/>
              </a:solidFill>
            </a:endParaRPr>
          </a:p>
        </p:txBody>
      </p:sp>
      <p:sp>
        <p:nvSpPr>
          <p:cNvPr id="231" name="Google Shape;231;g26caf2632ea_3_17"/>
          <p:cNvSpPr txBox="1"/>
          <p:nvPr/>
        </p:nvSpPr>
        <p:spPr>
          <a:xfrm>
            <a:off x="4830088" y="29357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Propeller</a:t>
            </a:r>
            <a:endParaRPr sz="1200">
              <a:solidFill>
                <a:schemeClr val="dk1"/>
              </a:solidFill>
            </a:endParaRPr>
          </a:p>
        </p:txBody>
      </p:sp>
      <p:sp>
        <p:nvSpPr>
          <p:cNvPr id="232" name="Google Shape;232;g26caf2632ea_3_17"/>
          <p:cNvSpPr txBox="1"/>
          <p:nvPr/>
        </p:nvSpPr>
        <p:spPr>
          <a:xfrm>
            <a:off x="3560500" y="1068625"/>
            <a:ext cx="1187400" cy="71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solidFill>
                  <a:schemeClr val="dk1"/>
                </a:solidFill>
              </a:rPr>
              <a:t>Altitude Measuring Sensor</a:t>
            </a:r>
            <a:endParaRPr sz="1300">
              <a:solidFill>
                <a:schemeClr val="dk1"/>
              </a:solidFill>
            </a:endParaRPr>
          </a:p>
        </p:txBody>
      </p:sp>
      <p:pic>
        <p:nvPicPr>
          <p:cNvPr id="233" name="Google Shape;233;g26caf2632ea_3_17"/>
          <p:cNvPicPr preferRelativeResize="0"/>
          <p:nvPr/>
        </p:nvPicPr>
        <p:blipFill>
          <a:blip r:embed="rId4">
            <a:alphaModFix/>
          </a:blip>
          <a:stretch>
            <a:fillRect/>
          </a:stretch>
        </p:blipFill>
        <p:spPr>
          <a:xfrm>
            <a:off x="6519725" y="1784125"/>
            <a:ext cx="2231650" cy="2016175"/>
          </a:xfrm>
          <a:prstGeom prst="rect">
            <a:avLst/>
          </a:prstGeom>
          <a:noFill/>
          <a:ln>
            <a:noFill/>
          </a:ln>
        </p:spPr>
      </p:pic>
      <p:sp>
        <p:nvSpPr>
          <p:cNvPr id="234" name="Google Shape;234;g26caf2632ea_3_17"/>
          <p:cNvSpPr txBox="1"/>
          <p:nvPr/>
        </p:nvSpPr>
        <p:spPr>
          <a:xfrm>
            <a:off x="3396125" y="2059750"/>
            <a:ext cx="3123600" cy="120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b="1">
                <a:solidFill>
                  <a:schemeClr val="dk1"/>
                </a:solidFill>
              </a:rPr>
              <a:t>Desired Altitude - Actual Altitude</a:t>
            </a:r>
            <a:endParaRPr sz="1300" b="1">
              <a:solidFill>
                <a:schemeClr val="dk1"/>
              </a:solidFill>
            </a:endParaRPr>
          </a:p>
          <a:p>
            <a:pPr marL="0" lvl="0" indent="0" algn="l" rtl="0">
              <a:spcBef>
                <a:spcPts val="0"/>
              </a:spcBef>
              <a:spcAft>
                <a:spcPts val="0"/>
              </a:spcAft>
              <a:buNone/>
            </a:pPr>
            <a:r>
              <a:rPr lang="en" sz="1300" b="1">
                <a:solidFill>
                  <a:schemeClr val="dk1"/>
                </a:solidFill>
              </a:rPr>
              <a:t>= 60m - 59m</a:t>
            </a:r>
            <a:endParaRPr sz="1300" b="1">
              <a:solidFill>
                <a:schemeClr val="dk1"/>
              </a:solidFill>
            </a:endParaRPr>
          </a:p>
          <a:p>
            <a:pPr marL="0" lvl="0" indent="0" algn="l" rtl="0">
              <a:spcBef>
                <a:spcPts val="0"/>
              </a:spcBef>
              <a:spcAft>
                <a:spcPts val="0"/>
              </a:spcAft>
              <a:buNone/>
            </a:pPr>
            <a:r>
              <a:rPr lang="en" sz="1300" b="1">
                <a:solidFill>
                  <a:schemeClr val="dk1"/>
                </a:solidFill>
              </a:rPr>
              <a:t>= 1</a:t>
            </a:r>
            <a:endParaRPr sz="1300" b="1">
              <a:solidFill>
                <a:schemeClr val="dk1"/>
              </a:solidFill>
            </a:endParaRPr>
          </a:p>
          <a:p>
            <a:pPr marL="0" lvl="0" indent="0" algn="l" rtl="0">
              <a:spcBef>
                <a:spcPts val="0"/>
              </a:spcBef>
              <a:spcAft>
                <a:spcPts val="0"/>
              </a:spcAft>
              <a:buNone/>
            </a:pPr>
            <a:endParaRPr sz="1300" b="1">
              <a:solidFill>
                <a:schemeClr val="dk1"/>
              </a:solidFill>
            </a:endParaRPr>
          </a:p>
          <a:p>
            <a:pPr marL="0" lvl="0" indent="0" algn="l" rtl="0">
              <a:spcBef>
                <a:spcPts val="0"/>
              </a:spcBef>
              <a:spcAft>
                <a:spcPts val="0"/>
              </a:spcAft>
              <a:buNone/>
            </a:pPr>
            <a:r>
              <a:rPr lang="en" sz="1300" b="1">
                <a:solidFill>
                  <a:schemeClr val="dk1"/>
                </a:solidFill>
              </a:rPr>
              <a:t>Propeller Speed = 1 *100  = 100 rpm</a:t>
            </a:r>
            <a:endParaRPr sz="1300" b="1">
              <a:solidFill>
                <a:schemeClr val="dk1"/>
              </a:solidFill>
            </a:endParaRPr>
          </a:p>
        </p:txBody>
      </p:sp>
      <p:pic>
        <p:nvPicPr>
          <p:cNvPr id="235" name="Google Shape;235;g26caf2632ea_3_17"/>
          <p:cNvPicPr preferRelativeResize="0"/>
          <p:nvPr/>
        </p:nvPicPr>
        <p:blipFill>
          <a:blip r:embed="rId5">
            <a:alphaModFix/>
          </a:blip>
          <a:stretch>
            <a:fillRect/>
          </a:stretch>
        </p:blipFill>
        <p:spPr>
          <a:xfrm>
            <a:off x="432111" y="1836650"/>
            <a:ext cx="2091236" cy="3176550"/>
          </a:xfrm>
          <a:prstGeom prst="rect">
            <a:avLst/>
          </a:prstGeom>
          <a:noFill/>
          <a:ln>
            <a:noFill/>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pic>
        <p:nvPicPr>
          <p:cNvPr id="214" name="Google Shape;214;g26caf2632ea_3_30"/>
          <p:cNvPicPr preferRelativeResize="0"/>
          <p:nvPr/>
        </p:nvPicPr>
        <p:blipFill>
          <a:blip r:embed="rId3">
            <a:alphaModFix/>
          </a:blip>
          <a:stretch>
            <a:fillRect/>
          </a:stretch>
        </p:blipFill>
        <p:spPr>
          <a:xfrm>
            <a:off x="1043175" y="-1268225"/>
            <a:ext cx="7386450" cy="4616499"/>
          </a:xfrm>
          <a:prstGeom prst="rect">
            <a:avLst/>
          </a:prstGeom>
          <a:noFill/>
          <a:ln>
            <a:noFill/>
          </a:ln>
        </p:spPr>
      </p:pic>
      <p:sp>
        <p:nvSpPr>
          <p:cNvPr id="215" name="Google Shape;215;g26caf2632ea_3_30"/>
          <p:cNvSpPr txBox="1"/>
          <p:nvPr/>
        </p:nvSpPr>
        <p:spPr>
          <a:xfrm>
            <a:off x="1043175" y="29357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rPr>
              <a:t>Desired Altitude</a:t>
            </a:r>
            <a:endParaRPr sz="1300">
              <a:solidFill>
                <a:schemeClr val="dk1"/>
              </a:solidFill>
            </a:endParaRPr>
          </a:p>
        </p:txBody>
      </p:sp>
      <p:sp>
        <p:nvSpPr>
          <p:cNvPr id="216" name="Google Shape;216;g26caf2632ea_3_30"/>
          <p:cNvSpPr txBox="1"/>
          <p:nvPr/>
        </p:nvSpPr>
        <p:spPr>
          <a:xfrm>
            <a:off x="6268625" y="21112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rPr>
              <a:t>Actual Altitude</a:t>
            </a:r>
            <a:endParaRPr sz="1300">
              <a:solidFill>
                <a:schemeClr val="dk1"/>
              </a:solidFill>
            </a:endParaRPr>
          </a:p>
        </p:txBody>
      </p:sp>
      <p:sp>
        <p:nvSpPr>
          <p:cNvPr id="217" name="Google Shape;217;g26caf2632ea_3_30"/>
          <p:cNvSpPr txBox="1"/>
          <p:nvPr/>
        </p:nvSpPr>
        <p:spPr>
          <a:xfrm>
            <a:off x="3274100" y="304875"/>
            <a:ext cx="869100" cy="399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solidFill>
                  <a:schemeClr val="dk1"/>
                </a:solidFill>
              </a:rPr>
              <a:t>10</a:t>
            </a:r>
            <a:endParaRPr sz="1300">
              <a:solidFill>
                <a:schemeClr val="dk1"/>
              </a:solidFill>
            </a:endParaRPr>
          </a:p>
        </p:txBody>
      </p:sp>
      <p:sp>
        <p:nvSpPr>
          <p:cNvPr id="218" name="Google Shape;218;g26caf2632ea_3_30"/>
          <p:cNvSpPr txBox="1"/>
          <p:nvPr/>
        </p:nvSpPr>
        <p:spPr>
          <a:xfrm>
            <a:off x="4830088" y="29357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Propeller</a:t>
            </a:r>
            <a:endParaRPr sz="1200">
              <a:solidFill>
                <a:schemeClr val="dk1"/>
              </a:solidFill>
            </a:endParaRPr>
          </a:p>
        </p:txBody>
      </p:sp>
      <p:sp>
        <p:nvSpPr>
          <p:cNvPr id="219" name="Google Shape;219;g26caf2632ea_3_30"/>
          <p:cNvSpPr txBox="1"/>
          <p:nvPr/>
        </p:nvSpPr>
        <p:spPr>
          <a:xfrm>
            <a:off x="3560500" y="1068625"/>
            <a:ext cx="1187400" cy="71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solidFill>
                  <a:schemeClr val="dk1"/>
                </a:solidFill>
              </a:rPr>
              <a:t>Altitude Measuring Sensor</a:t>
            </a:r>
            <a:endParaRPr sz="1300">
              <a:solidFill>
                <a:schemeClr val="dk1"/>
              </a:solidFill>
            </a:endParaRPr>
          </a:p>
        </p:txBody>
      </p:sp>
      <p:pic>
        <p:nvPicPr>
          <p:cNvPr id="220" name="Google Shape;220;g26caf2632ea_3_30"/>
          <p:cNvPicPr preferRelativeResize="0"/>
          <p:nvPr/>
        </p:nvPicPr>
        <p:blipFill>
          <a:blip r:embed="rId4">
            <a:alphaModFix/>
          </a:blip>
          <a:stretch>
            <a:fillRect/>
          </a:stretch>
        </p:blipFill>
        <p:spPr>
          <a:xfrm>
            <a:off x="6519725" y="1784125"/>
            <a:ext cx="2231650" cy="2016175"/>
          </a:xfrm>
          <a:prstGeom prst="rect">
            <a:avLst/>
          </a:prstGeom>
          <a:noFill/>
          <a:ln>
            <a:noFill/>
          </a:ln>
        </p:spPr>
      </p:pic>
      <p:pic>
        <p:nvPicPr>
          <p:cNvPr id="221" name="Google Shape;221;g26caf2632ea_3_30"/>
          <p:cNvPicPr preferRelativeResize="0"/>
          <p:nvPr/>
        </p:nvPicPr>
        <p:blipFill>
          <a:blip r:embed="rId5">
            <a:alphaModFix/>
          </a:blip>
          <a:stretch>
            <a:fillRect/>
          </a:stretch>
        </p:blipFill>
        <p:spPr>
          <a:xfrm>
            <a:off x="413188" y="1590029"/>
            <a:ext cx="2129062" cy="3304200"/>
          </a:xfrm>
          <a:prstGeom prst="rect">
            <a:avLst/>
          </a:prstGeom>
          <a:noFill/>
          <a:ln>
            <a:noFill/>
          </a:ln>
        </p:spPr>
      </p:pic>
      <p:sp>
        <p:nvSpPr>
          <p:cNvPr id="222" name="Google Shape;222;g26caf2632ea_3_30"/>
          <p:cNvSpPr txBox="1"/>
          <p:nvPr/>
        </p:nvSpPr>
        <p:spPr>
          <a:xfrm>
            <a:off x="3396125" y="2059750"/>
            <a:ext cx="3123600" cy="120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b="1" dirty="0">
                <a:solidFill>
                  <a:schemeClr val="dk1"/>
                </a:solidFill>
              </a:rPr>
              <a:t>Desired Altitude - Actual Altitude</a:t>
            </a:r>
            <a:endParaRPr sz="1300" b="1" dirty="0">
              <a:solidFill>
                <a:schemeClr val="dk1"/>
              </a:solidFill>
            </a:endParaRPr>
          </a:p>
          <a:p>
            <a:pPr marL="0" lvl="0" indent="0" algn="l" rtl="0">
              <a:spcBef>
                <a:spcPts val="0"/>
              </a:spcBef>
              <a:spcAft>
                <a:spcPts val="0"/>
              </a:spcAft>
              <a:buNone/>
            </a:pPr>
            <a:r>
              <a:rPr lang="en" sz="1300" b="1" dirty="0">
                <a:solidFill>
                  <a:schemeClr val="dk1"/>
                </a:solidFill>
              </a:rPr>
              <a:t>= 60m </a:t>
            </a:r>
            <a:r>
              <a:rPr lang="en" sz="1300" b="1" dirty="0" smtClean="0">
                <a:solidFill>
                  <a:schemeClr val="dk1"/>
                </a:solidFill>
              </a:rPr>
              <a:t>– 59.1m</a:t>
            </a:r>
            <a:endParaRPr sz="1300" b="1" dirty="0">
              <a:solidFill>
                <a:schemeClr val="dk1"/>
              </a:solidFill>
            </a:endParaRPr>
          </a:p>
          <a:p>
            <a:pPr marL="0" lvl="0" indent="0" algn="l" rtl="0">
              <a:spcBef>
                <a:spcPts val="0"/>
              </a:spcBef>
              <a:spcAft>
                <a:spcPts val="0"/>
              </a:spcAft>
              <a:buNone/>
            </a:pPr>
            <a:r>
              <a:rPr lang="en" sz="1300" b="1" dirty="0">
                <a:solidFill>
                  <a:schemeClr val="dk1"/>
                </a:solidFill>
              </a:rPr>
              <a:t>= </a:t>
            </a:r>
            <a:r>
              <a:rPr lang="en" sz="1300" b="1" dirty="0" smtClean="0">
                <a:solidFill>
                  <a:schemeClr val="dk1"/>
                </a:solidFill>
              </a:rPr>
              <a:t>.9</a:t>
            </a:r>
            <a:endParaRPr sz="1300" b="1" dirty="0">
              <a:solidFill>
                <a:schemeClr val="dk1"/>
              </a:solidFill>
            </a:endParaRPr>
          </a:p>
          <a:p>
            <a:pPr marL="0" lvl="0" indent="0" algn="l" rtl="0">
              <a:spcBef>
                <a:spcPts val="0"/>
              </a:spcBef>
              <a:spcAft>
                <a:spcPts val="0"/>
              </a:spcAft>
              <a:buNone/>
            </a:pPr>
            <a:endParaRPr sz="1300" b="1" dirty="0">
              <a:solidFill>
                <a:schemeClr val="dk1"/>
              </a:solidFill>
            </a:endParaRPr>
          </a:p>
          <a:p>
            <a:pPr marL="0" lvl="0" indent="0" algn="l" rtl="0">
              <a:spcBef>
                <a:spcPts val="0"/>
              </a:spcBef>
              <a:spcAft>
                <a:spcPts val="0"/>
              </a:spcAft>
              <a:buNone/>
            </a:pPr>
            <a:r>
              <a:rPr lang="en" sz="1300" b="1" dirty="0">
                <a:solidFill>
                  <a:schemeClr val="dk1"/>
                </a:solidFill>
              </a:rPr>
              <a:t>Propeller Speed = </a:t>
            </a:r>
            <a:r>
              <a:rPr lang="en" sz="1300" b="1" dirty="0" smtClean="0">
                <a:solidFill>
                  <a:schemeClr val="dk1"/>
                </a:solidFill>
              </a:rPr>
              <a:t>.9 </a:t>
            </a:r>
            <a:r>
              <a:rPr lang="en" sz="1300" b="1" dirty="0">
                <a:solidFill>
                  <a:schemeClr val="dk1"/>
                </a:solidFill>
              </a:rPr>
              <a:t>* 10 = </a:t>
            </a:r>
            <a:r>
              <a:rPr lang="en" sz="1300" b="1" dirty="0" smtClean="0">
                <a:solidFill>
                  <a:schemeClr val="dk1"/>
                </a:solidFill>
              </a:rPr>
              <a:t>90 </a:t>
            </a:r>
            <a:r>
              <a:rPr lang="en" sz="1300" b="1" dirty="0">
                <a:solidFill>
                  <a:schemeClr val="dk1"/>
                </a:solidFill>
              </a:rPr>
              <a:t>rpm</a:t>
            </a:r>
            <a:endParaRPr sz="1300" b="1" dirty="0">
              <a:solidFill>
                <a:schemeClr val="dk1"/>
              </a:solidFill>
            </a:endParaRPr>
          </a:p>
        </p:txBody>
      </p:sp>
    </p:spTree>
    <p:extLst>
      <p:ext uri="{BB962C8B-B14F-4D97-AF65-F5344CB8AC3E}">
        <p14:creationId xmlns:p14="http://schemas.microsoft.com/office/powerpoint/2010/main" val="226046618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pic>
        <p:nvPicPr>
          <p:cNvPr id="240" name="Google Shape;240;g26caf2632ea_0_146"/>
          <p:cNvPicPr preferRelativeResize="0"/>
          <p:nvPr/>
        </p:nvPicPr>
        <p:blipFill>
          <a:blip r:embed="rId3">
            <a:alphaModFix/>
          </a:blip>
          <a:stretch>
            <a:fillRect/>
          </a:stretch>
        </p:blipFill>
        <p:spPr>
          <a:xfrm>
            <a:off x="1043175" y="-1268225"/>
            <a:ext cx="7386450" cy="4616499"/>
          </a:xfrm>
          <a:prstGeom prst="rect">
            <a:avLst/>
          </a:prstGeom>
          <a:noFill/>
          <a:ln>
            <a:noFill/>
          </a:ln>
        </p:spPr>
      </p:pic>
      <p:sp>
        <p:nvSpPr>
          <p:cNvPr id="241" name="Google Shape;241;g26caf2632ea_0_146"/>
          <p:cNvSpPr txBox="1"/>
          <p:nvPr/>
        </p:nvSpPr>
        <p:spPr>
          <a:xfrm>
            <a:off x="1043175" y="29357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rPr>
              <a:t>Desired Altitude</a:t>
            </a:r>
            <a:endParaRPr sz="1300">
              <a:solidFill>
                <a:schemeClr val="dk1"/>
              </a:solidFill>
            </a:endParaRPr>
          </a:p>
        </p:txBody>
      </p:sp>
      <p:sp>
        <p:nvSpPr>
          <p:cNvPr id="242" name="Google Shape;242;g26caf2632ea_0_146"/>
          <p:cNvSpPr txBox="1"/>
          <p:nvPr/>
        </p:nvSpPr>
        <p:spPr>
          <a:xfrm>
            <a:off x="6268625" y="21112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rPr>
              <a:t>Actual Altitude</a:t>
            </a:r>
            <a:endParaRPr sz="1300">
              <a:solidFill>
                <a:schemeClr val="dk1"/>
              </a:solidFill>
            </a:endParaRPr>
          </a:p>
        </p:txBody>
      </p:sp>
      <p:sp>
        <p:nvSpPr>
          <p:cNvPr id="243" name="Google Shape;243;g26caf2632ea_0_146"/>
          <p:cNvSpPr txBox="1"/>
          <p:nvPr/>
        </p:nvSpPr>
        <p:spPr>
          <a:xfrm>
            <a:off x="3274100" y="304875"/>
            <a:ext cx="869100" cy="399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solidFill>
                  <a:schemeClr val="dk1"/>
                </a:solidFill>
              </a:rPr>
              <a:t>10</a:t>
            </a:r>
            <a:endParaRPr sz="1300">
              <a:solidFill>
                <a:schemeClr val="dk1"/>
              </a:solidFill>
            </a:endParaRPr>
          </a:p>
        </p:txBody>
      </p:sp>
      <p:sp>
        <p:nvSpPr>
          <p:cNvPr id="244" name="Google Shape;244;g26caf2632ea_0_146"/>
          <p:cNvSpPr txBox="1"/>
          <p:nvPr/>
        </p:nvSpPr>
        <p:spPr>
          <a:xfrm>
            <a:off x="4830088" y="29357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Propeller</a:t>
            </a:r>
            <a:endParaRPr sz="1200">
              <a:solidFill>
                <a:schemeClr val="dk1"/>
              </a:solidFill>
            </a:endParaRPr>
          </a:p>
        </p:txBody>
      </p:sp>
      <p:sp>
        <p:nvSpPr>
          <p:cNvPr id="245" name="Google Shape;245;g26caf2632ea_0_146"/>
          <p:cNvSpPr txBox="1"/>
          <p:nvPr/>
        </p:nvSpPr>
        <p:spPr>
          <a:xfrm>
            <a:off x="3560500" y="1068625"/>
            <a:ext cx="1187400" cy="71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solidFill>
                  <a:schemeClr val="dk1"/>
                </a:solidFill>
              </a:rPr>
              <a:t>Altitude Measuring Sensor</a:t>
            </a:r>
            <a:endParaRPr sz="1300">
              <a:solidFill>
                <a:schemeClr val="dk1"/>
              </a:solidFill>
            </a:endParaRPr>
          </a:p>
        </p:txBody>
      </p:sp>
      <p:sp>
        <p:nvSpPr>
          <p:cNvPr id="246" name="Google Shape;246;g26caf2632ea_0_146"/>
          <p:cNvSpPr txBox="1"/>
          <p:nvPr/>
        </p:nvSpPr>
        <p:spPr>
          <a:xfrm>
            <a:off x="3396125" y="2059750"/>
            <a:ext cx="3123600" cy="120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300" b="1">
              <a:solidFill>
                <a:schemeClr val="dk1"/>
              </a:solidFill>
            </a:endParaRPr>
          </a:p>
          <a:p>
            <a:pPr marL="0" lvl="0" indent="0" algn="l" rtl="0">
              <a:spcBef>
                <a:spcPts val="0"/>
              </a:spcBef>
              <a:spcAft>
                <a:spcPts val="0"/>
              </a:spcAft>
              <a:buNone/>
            </a:pPr>
            <a:endParaRPr sz="1300" b="1">
              <a:solidFill>
                <a:schemeClr val="dk1"/>
              </a:solidFill>
            </a:endParaRPr>
          </a:p>
          <a:p>
            <a:pPr marL="0" lvl="0" indent="0" algn="l" rtl="0">
              <a:spcBef>
                <a:spcPts val="0"/>
              </a:spcBef>
              <a:spcAft>
                <a:spcPts val="0"/>
              </a:spcAft>
              <a:buNone/>
            </a:pPr>
            <a:r>
              <a:rPr lang="en" sz="1300" b="1">
                <a:solidFill>
                  <a:schemeClr val="dk1"/>
                </a:solidFill>
              </a:rPr>
              <a:t>Propeller Speed = 10 * 10 = 100 rpm</a:t>
            </a:r>
            <a:endParaRPr sz="1300" b="1">
              <a:solidFill>
                <a:schemeClr val="dk1"/>
              </a:solidFill>
            </a:endParaRPr>
          </a:p>
          <a:p>
            <a:pPr marL="0" lvl="0" indent="0" algn="l" rtl="0">
              <a:spcBef>
                <a:spcPts val="0"/>
              </a:spcBef>
              <a:spcAft>
                <a:spcPts val="0"/>
              </a:spcAft>
              <a:buNone/>
            </a:pPr>
            <a:endParaRPr sz="1300" b="1">
              <a:solidFill>
                <a:schemeClr val="dk1"/>
              </a:solidFill>
            </a:endParaRPr>
          </a:p>
          <a:p>
            <a:pPr marL="0" lvl="0" indent="0" algn="l" rtl="0">
              <a:spcBef>
                <a:spcPts val="0"/>
              </a:spcBef>
              <a:spcAft>
                <a:spcPts val="0"/>
              </a:spcAft>
              <a:buNone/>
            </a:pPr>
            <a:r>
              <a:rPr lang="en" sz="1300" b="1">
                <a:solidFill>
                  <a:schemeClr val="dk1"/>
                </a:solidFill>
              </a:rPr>
              <a:t>Error = 10</a:t>
            </a:r>
            <a:endParaRPr sz="1300" b="1">
              <a:solidFill>
                <a:schemeClr val="dk1"/>
              </a:solidFill>
            </a:endParaRPr>
          </a:p>
        </p:txBody>
      </p:sp>
      <p:pic>
        <p:nvPicPr>
          <p:cNvPr id="247" name="Google Shape;247;g26caf2632ea_0_146"/>
          <p:cNvPicPr preferRelativeResize="0"/>
          <p:nvPr/>
        </p:nvPicPr>
        <p:blipFill>
          <a:blip r:embed="rId4">
            <a:alphaModFix/>
          </a:blip>
          <a:stretch>
            <a:fillRect/>
          </a:stretch>
        </p:blipFill>
        <p:spPr>
          <a:xfrm>
            <a:off x="6519725" y="1784125"/>
            <a:ext cx="2231650" cy="2016175"/>
          </a:xfrm>
          <a:prstGeom prst="rect">
            <a:avLst/>
          </a:prstGeom>
          <a:noFill/>
          <a:ln>
            <a:noFill/>
          </a:ln>
        </p:spPr>
      </p:pic>
      <p:pic>
        <p:nvPicPr>
          <p:cNvPr id="248" name="Google Shape;248;g26caf2632ea_0_146"/>
          <p:cNvPicPr preferRelativeResize="0"/>
          <p:nvPr/>
        </p:nvPicPr>
        <p:blipFill>
          <a:blip r:embed="rId5">
            <a:alphaModFix/>
          </a:blip>
          <a:stretch>
            <a:fillRect/>
          </a:stretch>
        </p:blipFill>
        <p:spPr>
          <a:xfrm>
            <a:off x="-352300" y="1876300"/>
            <a:ext cx="3070124" cy="3455100"/>
          </a:xfrm>
          <a:prstGeom prst="rect">
            <a:avLst/>
          </a:prstGeom>
          <a:noFill/>
          <a:ln>
            <a:noFill/>
          </a:ln>
        </p:spPr>
      </p:pic>
      <p:sp>
        <p:nvSpPr>
          <p:cNvPr id="249" name="Google Shape;249;g26caf2632ea_0_146"/>
          <p:cNvSpPr txBox="1"/>
          <p:nvPr/>
        </p:nvSpPr>
        <p:spPr>
          <a:xfrm>
            <a:off x="338475" y="3036850"/>
            <a:ext cx="626700" cy="61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a:solidFill>
                  <a:schemeClr val="dk1"/>
                </a:solidFill>
              </a:rPr>
              <a:t>50m</a:t>
            </a:r>
            <a:endParaRPr sz="1700">
              <a:solidFill>
                <a:schemeClr val="dk1"/>
              </a:solidFill>
            </a:endParaRPr>
          </a:p>
        </p:txBody>
      </p:sp>
      <p:sp>
        <p:nvSpPr>
          <p:cNvPr id="250" name="Google Shape;250;g26caf2632ea_0_146"/>
          <p:cNvSpPr txBox="1"/>
          <p:nvPr/>
        </p:nvSpPr>
        <p:spPr>
          <a:xfrm>
            <a:off x="3419600" y="3673250"/>
            <a:ext cx="3123600" cy="798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b="1">
                <a:solidFill>
                  <a:schemeClr val="dk1"/>
                </a:solidFill>
              </a:rPr>
              <a:t>Output = </a:t>
            </a:r>
            <a:r>
              <a:rPr lang="en" sz="1600" b="1">
                <a:solidFill>
                  <a:srgbClr val="0000FF"/>
                </a:solidFill>
              </a:rPr>
              <a:t>Kp</a:t>
            </a:r>
            <a:r>
              <a:rPr lang="en" sz="1600" b="1">
                <a:solidFill>
                  <a:schemeClr val="dk1"/>
                </a:solidFill>
              </a:rPr>
              <a:t> * </a:t>
            </a:r>
            <a:r>
              <a:rPr lang="en" sz="1600" b="1">
                <a:solidFill>
                  <a:srgbClr val="FF0000"/>
                </a:solidFill>
              </a:rPr>
              <a:t>error</a:t>
            </a:r>
            <a:endParaRPr sz="1600" b="1">
              <a:solidFill>
                <a:srgbClr val="FF0000"/>
              </a:solidFill>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pic>
        <p:nvPicPr>
          <p:cNvPr id="255" name="Google Shape;255;g26caf2632ea_0_160"/>
          <p:cNvPicPr preferRelativeResize="0"/>
          <p:nvPr/>
        </p:nvPicPr>
        <p:blipFill>
          <a:blip r:embed="rId3">
            <a:alphaModFix/>
          </a:blip>
          <a:stretch>
            <a:fillRect/>
          </a:stretch>
        </p:blipFill>
        <p:spPr>
          <a:xfrm>
            <a:off x="1043175" y="-1268225"/>
            <a:ext cx="7386450" cy="4616499"/>
          </a:xfrm>
          <a:prstGeom prst="rect">
            <a:avLst/>
          </a:prstGeom>
          <a:noFill/>
          <a:ln>
            <a:noFill/>
          </a:ln>
        </p:spPr>
      </p:pic>
      <p:sp>
        <p:nvSpPr>
          <p:cNvPr id="256" name="Google Shape;256;g26caf2632ea_0_160"/>
          <p:cNvSpPr txBox="1"/>
          <p:nvPr/>
        </p:nvSpPr>
        <p:spPr>
          <a:xfrm>
            <a:off x="1043175" y="29357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rPr>
              <a:t>Desired Altitude</a:t>
            </a:r>
            <a:endParaRPr sz="1300">
              <a:solidFill>
                <a:schemeClr val="dk1"/>
              </a:solidFill>
            </a:endParaRPr>
          </a:p>
        </p:txBody>
      </p:sp>
      <p:sp>
        <p:nvSpPr>
          <p:cNvPr id="257" name="Google Shape;257;g26caf2632ea_0_160"/>
          <p:cNvSpPr txBox="1"/>
          <p:nvPr/>
        </p:nvSpPr>
        <p:spPr>
          <a:xfrm>
            <a:off x="6268625" y="21112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rPr>
              <a:t>Actual Altitude</a:t>
            </a:r>
            <a:endParaRPr sz="1300">
              <a:solidFill>
                <a:schemeClr val="dk1"/>
              </a:solidFill>
            </a:endParaRPr>
          </a:p>
        </p:txBody>
      </p:sp>
      <p:sp>
        <p:nvSpPr>
          <p:cNvPr id="258" name="Google Shape;258;g26caf2632ea_0_160"/>
          <p:cNvSpPr txBox="1"/>
          <p:nvPr/>
        </p:nvSpPr>
        <p:spPr>
          <a:xfrm>
            <a:off x="3274100" y="304875"/>
            <a:ext cx="869100" cy="399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solidFill>
                  <a:schemeClr val="dk1"/>
                </a:solidFill>
              </a:rPr>
              <a:t>10</a:t>
            </a:r>
            <a:endParaRPr sz="1300">
              <a:solidFill>
                <a:schemeClr val="dk1"/>
              </a:solidFill>
            </a:endParaRPr>
          </a:p>
        </p:txBody>
      </p:sp>
      <p:sp>
        <p:nvSpPr>
          <p:cNvPr id="259" name="Google Shape;259;g26caf2632ea_0_160"/>
          <p:cNvSpPr txBox="1"/>
          <p:nvPr/>
        </p:nvSpPr>
        <p:spPr>
          <a:xfrm>
            <a:off x="4830088" y="29357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Propeller</a:t>
            </a:r>
            <a:endParaRPr sz="1200">
              <a:solidFill>
                <a:schemeClr val="dk1"/>
              </a:solidFill>
            </a:endParaRPr>
          </a:p>
        </p:txBody>
      </p:sp>
      <p:sp>
        <p:nvSpPr>
          <p:cNvPr id="260" name="Google Shape;260;g26caf2632ea_0_160"/>
          <p:cNvSpPr txBox="1"/>
          <p:nvPr/>
        </p:nvSpPr>
        <p:spPr>
          <a:xfrm>
            <a:off x="3560500" y="1068625"/>
            <a:ext cx="1187400" cy="71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solidFill>
                  <a:schemeClr val="dk1"/>
                </a:solidFill>
              </a:rPr>
              <a:t>Altitude Measuring Sensor</a:t>
            </a:r>
            <a:endParaRPr sz="1300">
              <a:solidFill>
                <a:schemeClr val="dk1"/>
              </a:solidFill>
            </a:endParaRPr>
          </a:p>
        </p:txBody>
      </p:sp>
      <p:sp>
        <p:nvSpPr>
          <p:cNvPr id="261" name="Google Shape;261;g26caf2632ea_0_160"/>
          <p:cNvSpPr txBox="1"/>
          <p:nvPr/>
        </p:nvSpPr>
        <p:spPr>
          <a:xfrm>
            <a:off x="3396125" y="2059750"/>
            <a:ext cx="3123600" cy="120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300" b="1">
              <a:solidFill>
                <a:schemeClr val="dk1"/>
              </a:solidFill>
            </a:endParaRPr>
          </a:p>
          <a:p>
            <a:pPr marL="0" lvl="0" indent="0" algn="l" rtl="0">
              <a:spcBef>
                <a:spcPts val="0"/>
              </a:spcBef>
              <a:spcAft>
                <a:spcPts val="0"/>
              </a:spcAft>
              <a:buNone/>
            </a:pPr>
            <a:endParaRPr sz="1300" b="1">
              <a:solidFill>
                <a:schemeClr val="dk1"/>
              </a:solidFill>
            </a:endParaRPr>
          </a:p>
          <a:p>
            <a:pPr marL="0" lvl="0" indent="0" algn="l" rtl="0">
              <a:spcBef>
                <a:spcPts val="0"/>
              </a:spcBef>
              <a:spcAft>
                <a:spcPts val="0"/>
              </a:spcAft>
              <a:buNone/>
            </a:pPr>
            <a:r>
              <a:rPr lang="en" sz="1300" b="1">
                <a:solidFill>
                  <a:schemeClr val="dk1"/>
                </a:solidFill>
              </a:rPr>
              <a:t>Propeller Speed = 10 * 10 = 100 rpm</a:t>
            </a:r>
            <a:endParaRPr sz="1300" b="1">
              <a:solidFill>
                <a:schemeClr val="dk1"/>
              </a:solidFill>
            </a:endParaRPr>
          </a:p>
          <a:p>
            <a:pPr marL="0" lvl="0" indent="0" algn="l" rtl="0">
              <a:spcBef>
                <a:spcPts val="0"/>
              </a:spcBef>
              <a:spcAft>
                <a:spcPts val="0"/>
              </a:spcAft>
              <a:buNone/>
            </a:pPr>
            <a:endParaRPr sz="1300" b="1">
              <a:solidFill>
                <a:schemeClr val="dk1"/>
              </a:solidFill>
            </a:endParaRPr>
          </a:p>
          <a:p>
            <a:pPr marL="0" lvl="0" indent="0" algn="l" rtl="0">
              <a:spcBef>
                <a:spcPts val="0"/>
              </a:spcBef>
              <a:spcAft>
                <a:spcPts val="0"/>
              </a:spcAft>
              <a:buNone/>
            </a:pPr>
            <a:r>
              <a:rPr lang="en" sz="1300" b="1">
                <a:solidFill>
                  <a:schemeClr val="dk1"/>
                </a:solidFill>
              </a:rPr>
              <a:t>Error = 10</a:t>
            </a:r>
            <a:endParaRPr sz="1300" b="1">
              <a:solidFill>
                <a:schemeClr val="dk1"/>
              </a:solidFill>
            </a:endParaRPr>
          </a:p>
        </p:txBody>
      </p:sp>
      <p:pic>
        <p:nvPicPr>
          <p:cNvPr id="262" name="Google Shape;262;g26caf2632ea_0_160"/>
          <p:cNvPicPr preferRelativeResize="0"/>
          <p:nvPr/>
        </p:nvPicPr>
        <p:blipFill>
          <a:blip r:embed="rId4">
            <a:alphaModFix/>
          </a:blip>
          <a:stretch>
            <a:fillRect/>
          </a:stretch>
        </p:blipFill>
        <p:spPr>
          <a:xfrm>
            <a:off x="6519725" y="1784125"/>
            <a:ext cx="2231650" cy="2016175"/>
          </a:xfrm>
          <a:prstGeom prst="rect">
            <a:avLst/>
          </a:prstGeom>
          <a:noFill/>
          <a:ln>
            <a:noFill/>
          </a:ln>
        </p:spPr>
      </p:pic>
      <p:pic>
        <p:nvPicPr>
          <p:cNvPr id="263" name="Google Shape;263;g26caf2632ea_0_160"/>
          <p:cNvPicPr preferRelativeResize="0"/>
          <p:nvPr/>
        </p:nvPicPr>
        <p:blipFill>
          <a:blip r:embed="rId5">
            <a:alphaModFix/>
          </a:blip>
          <a:stretch>
            <a:fillRect/>
          </a:stretch>
        </p:blipFill>
        <p:spPr>
          <a:xfrm>
            <a:off x="-352300" y="1876300"/>
            <a:ext cx="3070124" cy="3455100"/>
          </a:xfrm>
          <a:prstGeom prst="rect">
            <a:avLst/>
          </a:prstGeom>
          <a:noFill/>
          <a:ln>
            <a:noFill/>
          </a:ln>
        </p:spPr>
      </p:pic>
      <p:sp>
        <p:nvSpPr>
          <p:cNvPr id="264" name="Google Shape;264;g26caf2632ea_0_160"/>
          <p:cNvSpPr txBox="1"/>
          <p:nvPr/>
        </p:nvSpPr>
        <p:spPr>
          <a:xfrm>
            <a:off x="338475" y="3036850"/>
            <a:ext cx="626700" cy="61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a:solidFill>
                  <a:schemeClr val="dk1"/>
                </a:solidFill>
              </a:rPr>
              <a:t>50m</a:t>
            </a:r>
            <a:endParaRPr sz="1700">
              <a:solidFill>
                <a:schemeClr val="dk1"/>
              </a:solidFill>
            </a:endParaRPr>
          </a:p>
        </p:txBody>
      </p:sp>
      <p:sp>
        <p:nvSpPr>
          <p:cNvPr id="265" name="Google Shape;265;g26caf2632ea_0_160"/>
          <p:cNvSpPr txBox="1"/>
          <p:nvPr/>
        </p:nvSpPr>
        <p:spPr>
          <a:xfrm>
            <a:off x="3419600" y="3673250"/>
            <a:ext cx="3123600" cy="798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b="1">
                <a:solidFill>
                  <a:schemeClr val="dk1"/>
                </a:solidFill>
              </a:rPr>
              <a:t>Output = </a:t>
            </a:r>
            <a:r>
              <a:rPr lang="en" sz="1600" b="1">
                <a:solidFill>
                  <a:srgbClr val="0000FF"/>
                </a:solidFill>
              </a:rPr>
              <a:t>Kp</a:t>
            </a:r>
            <a:r>
              <a:rPr lang="en" sz="1600" b="1">
                <a:solidFill>
                  <a:schemeClr val="dk1"/>
                </a:solidFill>
              </a:rPr>
              <a:t> * </a:t>
            </a:r>
            <a:r>
              <a:rPr lang="en" sz="1600" b="1">
                <a:solidFill>
                  <a:srgbClr val="FF0000"/>
                </a:solidFill>
              </a:rPr>
              <a:t>error</a:t>
            </a:r>
            <a:endParaRPr sz="1600" b="1">
              <a:solidFill>
                <a:srgbClr val="FF0000"/>
              </a:solidFill>
            </a:endParaRPr>
          </a:p>
        </p:txBody>
      </p:sp>
      <p:sp>
        <p:nvSpPr>
          <p:cNvPr id="266" name="Google Shape;266;g26caf2632ea_0_160"/>
          <p:cNvSpPr txBox="1"/>
          <p:nvPr/>
        </p:nvSpPr>
        <p:spPr>
          <a:xfrm>
            <a:off x="3501800" y="4154475"/>
            <a:ext cx="3123600" cy="399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600" b="1">
                <a:solidFill>
                  <a:schemeClr val="dk1"/>
                </a:solidFill>
              </a:rPr>
              <a:t>Proportional Control</a:t>
            </a:r>
            <a:endParaRPr sz="1600" b="1">
              <a:solidFill>
                <a:srgbClr val="FF0000"/>
              </a:solidFill>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pic>
        <p:nvPicPr>
          <p:cNvPr id="271" name="Google Shape;271;g26caf2632ea_3_42"/>
          <p:cNvPicPr preferRelativeResize="0"/>
          <p:nvPr/>
        </p:nvPicPr>
        <p:blipFill>
          <a:blip r:embed="rId3">
            <a:alphaModFix/>
          </a:blip>
          <a:stretch>
            <a:fillRect/>
          </a:stretch>
        </p:blipFill>
        <p:spPr>
          <a:xfrm>
            <a:off x="2451070" y="1629402"/>
            <a:ext cx="3997400" cy="2464475"/>
          </a:xfrm>
          <a:prstGeom prst="rect">
            <a:avLst/>
          </a:prstGeom>
          <a:noFill/>
          <a:ln>
            <a:noFill/>
          </a:ln>
        </p:spPr>
      </p:pic>
      <p:sp>
        <p:nvSpPr>
          <p:cNvPr id="273" name="Google Shape;273;g26caf2632ea_3_42"/>
          <p:cNvSpPr txBox="1"/>
          <p:nvPr/>
        </p:nvSpPr>
        <p:spPr>
          <a:xfrm>
            <a:off x="3010200" y="361425"/>
            <a:ext cx="3123600" cy="399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600" b="1">
                <a:solidFill>
                  <a:schemeClr val="dk1"/>
                </a:solidFill>
              </a:rPr>
              <a:t>Proportional Control</a:t>
            </a:r>
            <a:endParaRPr sz="1600" b="1">
              <a:solidFill>
                <a:srgbClr val="FF0000"/>
              </a:solidFill>
            </a:endParaRPr>
          </a:p>
        </p:txBody>
      </p:sp>
      <p:sp>
        <p:nvSpPr>
          <p:cNvPr id="4" name="Google Shape;266;g26caf2632ea_0_160"/>
          <p:cNvSpPr txBox="1"/>
          <p:nvPr/>
        </p:nvSpPr>
        <p:spPr>
          <a:xfrm>
            <a:off x="3501800" y="4154475"/>
            <a:ext cx="3123600" cy="399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600" b="1" dirty="0" smtClean="0">
                <a:solidFill>
                  <a:srgbClr val="C00000"/>
                </a:solidFill>
              </a:rPr>
              <a:t>Steady-State error</a:t>
            </a:r>
            <a:endParaRPr sz="1600" b="1" dirty="0">
              <a:solidFill>
                <a:srgbClr val="C00000"/>
              </a:solidFill>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PID Controller</a:t>
            </a:r>
            <a:endParaRPr/>
          </a:p>
        </p:txBody>
      </p:sp>
      <p:sp>
        <p:nvSpPr>
          <p:cNvPr id="374" name="Google Shape;374;p1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1800"/>
              <a:buNone/>
            </a:pPr>
            <a:endParaRPr/>
          </a:p>
        </p:txBody>
      </p:sp>
      <p:pic>
        <p:nvPicPr>
          <p:cNvPr id="375" name="Google Shape;375;p16"/>
          <p:cNvPicPr preferRelativeResize="0"/>
          <p:nvPr/>
        </p:nvPicPr>
        <p:blipFill rotWithShape="1">
          <a:blip r:embed="rId3">
            <a:alphaModFix/>
          </a:blip>
          <a:srcRect/>
          <a:stretch/>
        </p:blipFill>
        <p:spPr>
          <a:xfrm>
            <a:off x="602575" y="1086888"/>
            <a:ext cx="7200900" cy="3305175"/>
          </a:xfrm>
          <a:prstGeom prst="rect">
            <a:avLst/>
          </a:prstGeom>
          <a:noFill/>
          <a:ln>
            <a:noFill/>
          </a:ln>
        </p:spPr>
      </p:pic>
      <p:sp>
        <p:nvSpPr>
          <p:cNvPr id="376" name="Google Shape;376;p16"/>
          <p:cNvSpPr/>
          <p:nvPr/>
        </p:nvSpPr>
        <p:spPr>
          <a:xfrm>
            <a:off x="5932650" y="1413875"/>
            <a:ext cx="1820100" cy="28536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extLst>
      <p:ext uri="{BB962C8B-B14F-4D97-AF65-F5344CB8AC3E}">
        <p14:creationId xmlns:p14="http://schemas.microsoft.com/office/powerpoint/2010/main" val="249015379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endParaRPr/>
          </a:p>
        </p:txBody>
      </p:sp>
      <p:sp>
        <p:nvSpPr>
          <p:cNvPr id="382" name="Google Shape;382;p1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1800"/>
              <a:buNone/>
            </a:pPr>
            <a:endParaRPr/>
          </a:p>
        </p:txBody>
      </p:sp>
      <p:pic>
        <p:nvPicPr>
          <p:cNvPr id="383" name="Google Shape;383;p17"/>
          <p:cNvPicPr preferRelativeResize="0"/>
          <p:nvPr/>
        </p:nvPicPr>
        <p:blipFill rotWithShape="1">
          <a:blip r:embed="rId3">
            <a:alphaModFix/>
          </a:blip>
          <a:srcRect/>
          <a:stretch/>
        </p:blipFill>
        <p:spPr>
          <a:xfrm>
            <a:off x="894738" y="956413"/>
            <a:ext cx="7667625" cy="3476625"/>
          </a:xfrm>
          <a:prstGeom prst="rect">
            <a:avLst/>
          </a:prstGeom>
          <a:noFill/>
          <a:ln>
            <a:noFill/>
          </a:ln>
        </p:spPr>
      </p:pic>
      <p:sp>
        <p:nvSpPr>
          <p:cNvPr id="384" name="Google Shape;384;p17"/>
          <p:cNvSpPr/>
          <p:nvPr/>
        </p:nvSpPr>
        <p:spPr>
          <a:xfrm>
            <a:off x="1153175" y="2646900"/>
            <a:ext cx="4356600" cy="17862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extLst>
      <p:ext uri="{BB962C8B-B14F-4D97-AF65-F5344CB8AC3E}">
        <p14:creationId xmlns:p14="http://schemas.microsoft.com/office/powerpoint/2010/main" val="127599180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78" name="Google Shape;278;g26caf2632ea_1_15"/>
          <p:cNvPicPr preferRelativeResize="0"/>
          <p:nvPr/>
        </p:nvPicPr>
        <p:blipFill>
          <a:blip r:embed="rId3">
            <a:alphaModFix/>
          </a:blip>
          <a:stretch>
            <a:fillRect/>
          </a:stretch>
        </p:blipFill>
        <p:spPr>
          <a:xfrm>
            <a:off x="1043175" y="-1268225"/>
            <a:ext cx="7386450" cy="4616499"/>
          </a:xfrm>
          <a:prstGeom prst="rect">
            <a:avLst/>
          </a:prstGeom>
          <a:noFill/>
          <a:ln>
            <a:noFill/>
          </a:ln>
        </p:spPr>
      </p:pic>
      <p:sp>
        <p:nvSpPr>
          <p:cNvPr id="279" name="Google Shape;279;g26caf2632ea_1_15"/>
          <p:cNvSpPr txBox="1"/>
          <p:nvPr/>
        </p:nvSpPr>
        <p:spPr>
          <a:xfrm>
            <a:off x="1043175" y="29357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rPr>
              <a:t>Desired Altitude</a:t>
            </a:r>
            <a:endParaRPr sz="1300">
              <a:solidFill>
                <a:schemeClr val="dk1"/>
              </a:solidFill>
            </a:endParaRPr>
          </a:p>
        </p:txBody>
      </p:sp>
      <p:sp>
        <p:nvSpPr>
          <p:cNvPr id="280" name="Google Shape;280;g26caf2632ea_1_15"/>
          <p:cNvSpPr txBox="1"/>
          <p:nvPr/>
        </p:nvSpPr>
        <p:spPr>
          <a:xfrm>
            <a:off x="6268625" y="21112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rPr>
              <a:t>Actual Altitude</a:t>
            </a:r>
            <a:endParaRPr sz="1300">
              <a:solidFill>
                <a:schemeClr val="dk1"/>
              </a:solidFill>
            </a:endParaRPr>
          </a:p>
        </p:txBody>
      </p:sp>
      <p:sp>
        <p:nvSpPr>
          <p:cNvPr id="281" name="Google Shape;281;g26caf2632ea_1_15"/>
          <p:cNvSpPr txBox="1"/>
          <p:nvPr/>
        </p:nvSpPr>
        <p:spPr>
          <a:xfrm>
            <a:off x="3285825" y="211125"/>
            <a:ext cx="869100" cy="479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solidFill>
                  <a:schemeClr val="dk1"/>
                </a:solidFill>
              </a:rPr>
              <a:t>Ki*e + Kp * ∫e</a:t>
            </a:r>
            <a:endParaRPr sz="1300">
              <a:solidFill>
                <a:schemeClr val="dk1"/>
              </a:solidFill>
            </a:endParaRPr>
          </a:p>
        </p:txBody>
      </p:sp>
      <p:sp>
        <p:nvSpPr>
          <p:cNvPr id="282" name="Google Shape;282;g26caf2632ea_1_15"/>
          <p:cNvSpPr txBox="1"/>
          <p:nvPr/>
        </p:nvSpPr>
        <p:spPr>
          <a:xfrm>
            <a:off x="4830088" y="29357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Propeller</a:t>
            </a:r>
            <a:endParaRPr sz="1200">
              <a:solidFill>
                <a:schemeClr val="dk1"/>
              </a:solidFill>
            </a:endParaRPr>
          </a:p>
        </p:txBody>
      </p:sp>
      <p:sp>
        <p:nvSpPr>
          <p:cNvPr id="283" name="Google Shape;283;g26caf2632ea_1_15"/>
          <p:cNvSpPr txBox="1"/>
          <p:nvPr/>
        </p:nvSpPr>
        <p:spPr>
          <a:xfrm>
            <a:off x="3560500" y="1068625"/>
            <a:ext cx="1187400" cy="71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solidFill>
                  <a:schemeClr val="dk1"/>
                </a:solidFill>
              </a:rPr>
              <a:t>Altitude Measuring Sensor</a:t>
            </a:r>
            <a:endParaRPr sz="1300">
              <a:solidFill>
                <a:schemeClr val="dk1"/>
              </a:solidFill>
            </a:endParaRPr>
          </a:p>
        </p:txBody>
      </p:sp>
      <p:sp>
        <p:nvSpPr>
          <p:cNvPr id="284" name="Google Shape;284;g26caf2632ea_1_15"/>
          <p:cNvSpPr txBox="1"/>
          <p:nvPr/>
        </p:nvSpPr>
        <p:spPr>
          <a:xfrm>
            <a:off x="3396125" y="2059750"/>
            <a:ext cx="3123600" cy="120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300" b="1">
              <a:solidFill>
                <a:schemeClr val="dk1"/>
              </a:solidFill>
            </a:endParaRPr>
          </a:p>
          <a:p>
            <a:pPr marL="0" lvl="0" indent="0" algn="l" rtl="0">
              <a:spcBef>
                <a:spcPts val="0"/>
              </a:spcBef>
              <a:spcAft>
                <a:spcPts val="0"/>
              </a:spcAft>
              <a:buNone/>
            </a:pPr>
            <a:endParaRPr sz="1300" b="1">
              <a:solidFill>
                <a:schemeClr val="dk1"/>
              </a:solidFill>
            </a:endParaRPr>
          </a:p>
          <a:p>
            <a:pPr marL="0" lvl="0" indent="0" algn="l" rtl="0">
              <a:spcBef>
                <a:spcPts val="0"/>
              </a:spcBef>
              <a:spcAft>
                <a:spcPts val="0"/>
              </a:spcAft>
              <a:buNone/>
            </a:pPr>
            <a:r>
              <a:rPr lang="en" sz="1300" b="1">
                <a:solidFill>
                  <a:schemeClr val="dk1"/>
                </a:solidFill>
              </a:rPr>
              <a:t>Propeller Speed = 10 * 10 = 100 rpm</a:t>
            </a:r>
            <a:endParaRPr sz="1300" b="1">
              <a:solidFill>
                <a:schemeClr val="dk1"/>
              </a:solidFill>
            </a:endParaRPr>
          </a:p>
          <a:p>
            <a:pPr marL="0" lvl="0" indent="0" algn="l" rtl="0">
              <a:spcBef>
                <a:spcPts val="0"/>
              </a:spcBef>
              <a:spcAft>
                <a:spcPts val="0"/>
              </a:spcAft>
              <a:buNone/>
            </a:pPr>
            <a:endParaRPr sz="1300" b="1">
              <a:solidFill>
                <a:schemeClr val="dk1"/>
              </a:solidFill>
            </a:endParaRPr>
          </a:p>
          <a:p>
            <a:pPr marL="0" lvl="0" indent="0" algn="l" rtl="0">
              <a:spcBef>
                <a:spcPts val="0"/>
              </a:spcBef>
              <a:spcAft>
                <a:spcPts val="0"/>
              </a:spcAft>
              <a:buNone/>
            </a:pPr>
            <a:r>
              <a:rPr lang="en" sz="1300" b="1">
                <a:solidFill>
                  <a:schemeClr val="dk1"/>
                </a:solidFill>
              </a:rPr>
              <a:t>Error = 10</a:t>
            </a:r>
            <a:endParaRPr sz="1300" b="1">
              <a:solidFill>
                <a:schemeClr val="dk1"/>
              </a:solidFill>
            </a:endParaRPr>
          </a:p>
        </p:txBody>
      </p:sp>
      <p:pic>
        <p:nvPicPr>
          <p:cNvPr id="285" name="Google Shape;285;g26caf2632ea_1_15"/>
          <p:cNvPicPr preferRelativeResize="0"/>
          <p:nvPr/>
        </p:nvPicPr>
        <p:blipFill>
          <a:blip r:embed="rId4">
            <a:alphaModFix/>
          </a:blip>
          <a:stretch>
            <a:fillRect/>
          </a:stretch>
        </p:blipFill>
        <p:spPr>
          <a:xfrm>
            <a:off x="6519725" y="1784125"/>
            <a:ext cx="2231650" cy="2016175"/>
          </a:xfrm>
          <a:prstGeom prst="rect">
            <a:avLst/>
          </a:prstGeom>
          <a:noFill/>
          <a:ln>
            <a:noFill/>
          </a:ln>
        </p:spPr>
      </p:pic>
      <p:pic>
        <p:nvPicPr>
          <p:cNvPr id="286" name="Google Shape;286;g26caf2632ea_1_15"/>
          <p:cNvPicPr preferRelativeResize="0"/>
          <p:nvPr/>
        </p:nvPicPr>
        <p:blipFill>
          <a:blip r:embed="rId5">
            <a:alphaModFix/>
          </a:blip>
          <a:stretch>
            <a:fillRect/>
          </a:stretch>
        </p:blipFill>
        <p:spPr>
          <a:xfrm>
            <a:off x="-352300" y="1876300"/>
            <a:ext cx="3070124" cy="3455100"/>
          </a:xfrm>
          <a:prstGeom prst="rect">
            <a:avLst/>
          </a:prstGeom>
          <a:noFill/>
          <a:ln>
            <a:noFill/>
          </a:ln>
        </p:spPr>
      </p:pic>
      <p:sp>
        <p:nvSpPr>
          <p:cNvPr id="287" name="Google Shape;287;g26caf2632ea_1_15"/>
          <p:cNvSpPr txBox="1"/>
          <p:nvPr/>
        </p:nvSpPr>
        <p:spPr>
          <a:xfrm>
            <a:off x="338475" y="3036850"/>
            <a:ext cx="626700" cy="61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a:solidFill>
                  <a:schemeClr val="dk1"/>
                </a:solidFill>
              </a:rPr>
              <a:t>50m</a:t>
            </a:r>
            <a:endParaRPr sz="1700">
              <a:solidFill>
                <a:schemeClr val="dk1"/>
              </a:solidFill>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07" name="Google Shape;307;g26caf2632ea_1_29"/>
          <p:cNvPicPr preferRelativeResize="0"/>
          <p:nvPr/>
        </p:nvPicPr>
        <p:blipFill>
          <a:blip r:embed="rId3">
            <a:alphaModFix/>
          </a:blip>
          <a:stretch>
            <a:fillRect/>
          </a:stretch>
        </p:blipFill>
        <p:spPr>
          <a:xfrm>
            <a:off x="1043175" y="-1268225"/>
            <a:ext cx="7386450" cy="4616499"/>
          </a:xfrm>
          <a:prstGeom prst="rect">
            <a:avLst/>
          </a:prstGeom>
          <a:noFill/>
          <a:ln>
            <a:noFill/>
          </a:ln>
        </p:spPr>
      </p:pic>
      <p:sp>
        <p:nvSpPr>
          <p:cNvPr id="308" name="Google Shape;308;g26caf2632ea_1_29"/>
          <p:cNvSpPr txBox="1"/>
          <p:nvPr/>
        </p:nvSpPr>
        <p:spPr>
          <a:xfrm>
            <a:off x="1043175" y="29357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rPr>
              <a:t>Desired Altitude</a:t>
            </a:r>
            <a:endParaRPr sz="1300">
              <a:solidFill>
                <a:schemeClr val="dk1"/>
              </a:solidFill>
            </a:endParaRPr>
          </a:p>
        </p:txBody>
      </p:sp>
      <p:sp>
        <p:nvSpPr>
          <p:cNvPr id="309" name="Google Shape;309;g26caf2632ea_1_29"/>
          <p:cNvSpPr txBox="1"/>
          <p:nvPr/>
        </p:nvSpPr>
        <p:spPr>
          <a:xfrm>
            <a:off x="6268625" y="21112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rPr>
              <a:t>Actual Altitude</a:t>
            </a:r>
            <a:endParaRPr sz="1300">
              <a:solidFill>
                <a:schemeClr val="dk1"/>
              </a:solidFill>
            </a:endParaRPr>
          </a:p>
        </p:txBody>
      </p:sp>
      <p:sp>
        <p:nvSpPr>
          <p:cNvPr id="310" name="Google Shape;310;g26caf2632ea_1_29"/>
          <p:cNvSpPr txBox="1"/>
          <p:nvPr/>
        </p:nvSpPr>
        <p:spPr>
          <a:xfrm>
            <a:off x="3285825" y="211125"/>
            <a:ext cx="869100" cy="479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solidFill>
                  <a:schemeClr val="dk1"/>
                </a:solidFill>
              </a:rPr>
              <a:t>Ki*e + Kp * ∫e</a:t>
            </a:r>
            <a:endParaRPr sz="1300">
              <a:solidFill>
                <a:schemeClr val="dk1"/>
              </a:solidFill>
            </a:endParaRPr>
          </a:p>
        </p:txBody>
      </p:sp>
      <p:sp>
        <p:nvSpPr>
          <p:cNvPr id="311" name="Google Shape;311;g26caf2632ea_1_29"/>
          <p:cNvSpPr txBox="1"/>
          <p:nvPr/>
        </p:nvSpPr>
        <p:spPr>
          <a:xfrm>
            <a:off x="4830088" y="29357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Propeller</a:t>
            </a:r>
            <a:endParaRPr sz="1200">
              <a:solidFill>
                <a:schemeClr val="dk1"/>
              </a:solidFill>
            </a:endParaRPr>
          </a:p>
        </p:txBody>
      </p:sp>
      <p:sp>
        <p:nvSpPr>
          <p:cNvPr id="312" name="Google Shape;312;g26caf2632ea_1_29"/>
          <p:cNvSpPr txBox="1"/>
          <p:nvPr/>
        </p:nvSpPr>
        <p:spPr>
          <a:xfrm>
            <a:off x="3560500" y="1068625"/>
            <a:ext cx="1187400" cy="71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solidFill>
                  <a:schemeClr val="dk1"/>
                </a:solidFill>
              </a:rPr>
              <a:t>Altitude Measuring Sensor</a:t>
            </a:r>
            <a:endParaRPr sz="1300">
              <a:solidFill>
                <a:schemeClr val="dk1"/>
              </a:solidFill>
            </a:endParaRPr>
          </a:p>
        </p:txBody>
      </p:sp>
      <p:sp>
        <p:nvSpPr>
          <p:cNvPr id="313" name="Google Shape;313;g26caf2632ea_1_29"/>
          <p:cNvSpPr txBox="1"/>
          <p:nvPr/>
        </p:nvSpPr>
        <p:spPr>
          <a:xfrm>
            <a:off x="3396125" y="2059750"/>
            <a:ext cx="3123600" cy="120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300" b="1">
              <a:solidFill>
                <a:schemeClr val="dk1"/>
              </a:solidFill>
            </a:endParaRPr>
          </a:p>
          <a:p>
            <a:pPr marL="0" lvl="0" indent="0" algn="l" rtl="0">
              <a:spcBef>
                <a:spcPts val="0"/>
              </a:spcBef>
              <a:spcAft>
                <a:spcPts val="0"/>
              </a:spcAft>
              <a:buNone/>
            </a:pPr>
            <a:endParaRPr sz="1300" b="1">
              <a:solidFill>
                <a:schemeClr val="dk1"/>
              </a:solidFill>
            </a:endParaRPr>
          </a:p>
          <a:p>
            <a:pPr marL="0" lvl="0" indent="0" algn="l" rtl="0">
              <a:spcBef>
                <a:spcPts val="0"/>
              </a:spcBef>
              <a:spcAft>
                <a:spcPts val="0"/>
              </a:spcAft>
              <a:buNone/>
            </a:pPr>
            <a:r>
              <a:rPr lang="en" sz="1300" b="1">
                <a:solidFill>
                  <a:schemeClr val="dk1"/>
                </a:solidFill>
              </a:rPr>
              <a:t>Propeller Speed = 10 * 10 = 100 rpm</a:t>
            </a:r>
            <a:endParaRPr sz="1300" b="1">
              <a:solidFill>
                <a:schemeClr val="dk1"/>
              </a:solidFill>
            </a:endParaRPr>
          </a:p>
          <a:p>
            <a:pPr marL="0" lvl="0" indent="0" algn="l" rtl="0">
              <a:spcBef>
                <a:spcPts val="0"/>
              </a:spcBef>
              <a:spcAft>
                <a:spcPts val="0"/>
              </a:spcAft>
              <a:buNone/>
            </a:pPr>
            <a:endParaRPr sz="1300" b="1">
              <a:solidFill>
                <a:schemeClr val="dk1"/>
              </a:solidFill>
            </a:endParaRPr>
          </a:p>
          <a:p>
            <a:pPr marL="0" lvl="0" indent="0" algn="l" rtl="0">
              <a:spcBef>
                <a:spcPts val="0"/>
              </a:spcBef>
              <a:spcAft>
                <a:spcPts val="0"/>
              </a:spcAft>
              <a:buNone/>
            </a:pPr>
            <a:r>
              <a:rPr lang="en" sz="1300" b="1">
                <a:solidFill>
                  <a:schemeClr val="dk1"/>
                </a:solidFill>
              </a:rPr>
              <a:t>Error = 10</a:t>
            </a:r>
            <a:endParaRPr sz="1300" b="1">
              <a:solidFill>
                <a:schemeClr val="dk1"/>
              </a:solidFill>
            </a:endParaRPr>
          </a:p>
        </p:txBody>
      </p:sp>
      <p:pic>
        <p:nvPicPr>
          <p:cNvPr id="314" name="Google Shape;314;g26caf2632ea_1_29"/>
          <p:cNvPicPr preferRelativeResize="0"/>
          <p:nvPr/>
        </p:nvPicPr>
        <p:blipFill>
          <a:blip r:embed="rId4">
            <a:alphaModFix/>
          </a:blip>
          <a:stretch>
            <a:fillRect/>
          </a:stretch>
        </p:blipFill>
        <p:spPr>
          <a:xfrm>
            <a:off x="6519725" y="1784125"/>
            <a:ext cx="2231650" cy="2016175"/>
          </a:xfrm>
          <a:prstGeom prst="rect">
            <a:avLst/>
          </a:prstGeom>
          <a:noFill/>
          <a:ln>
            <a:noFill/>
          </a:ln>
        </p:spPr>
      </p:pic>
      <p:pic>
        <p:nvPicPr>
          <p:cNvPr id="315" name="Google Shape;315;g26caf2632ea_1_29"/>
          <p:cNvPicPr preferRelativeResize="0"/>
          <p:nvPr/>
        </p:nvPicPr>
        <p:blipFill>
          <a:blip r:embed="rId5">
            <a:alphaModFix/>
          </a:blip>
          <a:stretch>
            <a:fillRect/>
          </a:stretch>
        </p:blipFill>
        <p:spPr>
          <a:xfrm>
            <a:off x="-352300" y="1876300"/>
            <a:ext cx="3070124" cy="3455100"/>
          </a:xfrm>
          <a:prstGeom prst="rect">
            <a:avLst/>
          </a:prstGeom>
          <a:noFill/>
          <a:ln>
            <a:noFill/>
          </a:ln>
        </p:spPr>
      </p:pic>
      <p:sp>
        <p:nvSpPr>
          <p:cNvPr id="316" name="Google Shape;316;g26caf2632ea_1_29"/>
          <p:cNvSpPr txBox="1"/>
          <p:nvPr/>
        </p:nvSpPr>
        <p:spPr>
          <a:xfrm>
            <a:off x="338475" y="3036850"/>
            <a:ext cx="626700" cy="61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a:solidFill>
                  <a:schemeClr val="dk1"/>
                </a:solidFill>
              </a:rPr>
              <a:t>50m</a:t>
            </a:r>
            <a:endParaRPr sz="1700">
              <a:solidFill>
                <a:schemeClr val="dk1"/>
              </a:solidFill>
            </a:endParaRPr>
          </a:p>
        </p:txBody>
      </p:sp>
      <p:sp>
        <p:nvSpPr>
          <p:cNvPr id="317" name="Google Shape;317;g26caf2632ea_1_29"/>
          <p:cNvSpPr txBox="1"/>
          <p:nvPr/>
        </p:nvSpPr>
        <p:spPr>
          <a:xfrm>
            <a:off x="2588850" y="3269352"/>
            <a:ext cx="4295100" cy="90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b="1" dirty="0">
                <a:solidFill>
                  <a:schemeClr val="dk1"/>
                </a:solidFill>
              </a:rPr>
              <a:t>Output = </a:t>
            </a:r>
            <a:r>
              <a:rPr lang="en" sz="1600" b="1" dirty="0">
                <a:solidFill>
                  <a:srgbClr val="0000FF"/>
                </a:solidFill>
              </a:rPr>
              <a:t>Kp </a:t>
            </a:r>
            <a:r>
              <a:rPr lang="en" sz="1600" b="1" dirty="0">
                <a:solidFill>
                  <a:schemeClr val="dk1"/>
                </a:solidFill>
              </a:rPr>
              <a:t>* </a:t>
            </a:r>
            <a:r>
              <a:rPr lang="en" sz="1600" b="1" dirty="0">
                <a:solidFill>
                  <a:srgbClr val="FF0000"/>
                </a:solidFill>
              </a:rPr>
              <a:t>error </a:t>
            </a:r>
            <a:r>
              <a:rPr lang="en" sz="1600" b="1" dirty="0">
                <a:solidFill>
                  <a:schemeClr val="dk1"/>
                </a:solidFill>
              </a:rPr>
              <a:t>+ </a:t>
            </a:r>
            <a:r>
              <a:rPr lang="en" sz="1600" b="1" dirty="0">
                <a:solidFill>
                  <a:srgbClr val="351C75"/>
                </a:solidFill>
              </a:rPr>
              <a:t>Ki </a:t>
            </a:r>
            <a:r>
              <a:rPr lang="en" sz="1600" b="1" dirty="0">
                <a:solidFill>
                  <a:schemeClr val="dk1"/>
                </a:solidFill>
              </a:rPr>
              <a:t>* </a:t>
            </a:r>
            <a:r>
              <a:rPr lang="en" sz="1600" b="1" dirty="0">
                <a:solidFill>
                  <a:srgbClr val="FF0000"/>
                </a:solidFill>
              </a:rPr>
              <a:t>(error1 + error2 </a:t>
            </a:r>
            <a:r>
              <a:rPr lang="en" sz="1600" b="1" dirty="0" smtClean="0">
                <a:solidFill>
                  <a:srgbClr val="FF0000"/>
                </a:solidFill>
              </a:rPr>
              <a:t>+…+ errorN(0))</a:t>
            </a:r>
            <a:endParaRPr sz="1600" b="1" dirty="0">
              <a:solidFill>
                <a:srgbClr val="FF0000"/>
              </a:solidFill>
            </a:endParaRPr>
          </a:p>
        </p:txBody>
      </p:sp>
      <p:sp>
        <p:nvSpPr>
          <p:cNvPr id="318" name="Google Shape;318;g26caf2632ea_1_29"/>
          <p:cNvSpPr txBox="1"/>
          <p:nvPr/>
        </p:nvSpPr>
        <p:spPr>
          <a:xfrm>
            <a:off x="3501800" y="4154475"/>
            <a:ext cx="3194100" cy="399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600" b="1">
                <a:solidFill>
                  <a:schemeClr val="dk1"/>
                </a:solidFill>
              </a:rPr>
              <a:t>Proportional - Integral Control</a:t>
            </a:r>
            <a:endParaRPr sz="1600" b="1">
              <a:solidFill>
                <a:srgbClr val="FF0000"/>
              </a:solidFill>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pic>
        <p:nvPicPr>
          <p:cNvPr id="292" name="Google Shape;292;g26caf2632ea_1_0"/>
          <p:cNvPicPr preferRelativeResize="0"/>
          <p:nvPr/>
        </p:nvPicPr>
        <p:blipFill>
          <a:blip r:embed="rId3">
            <a:alphaModFix/>
          </a:blip>
          <a:stretch>
            <a:fillRect/>
          </a:stretch>
        </p:blipFill>
        <p:spPr>
          <a:xfrm>
            <a:off x="1043175" y="-1268225"/>
            <a:ext cx="7386450" cy="4616499"/>
          </a:xfrm>
          <a:prstGeom prst="rect">
            <a:avLst/>
          </a:prstGeom>
          <a:noFill/>
          <a:ln>
            <a:noFill/>
          </a:ln>
        </p:spPr>
      </p:pic>
      <p:sp>
        <p:nvSpPr>
          <p:cNvPr id="293" name="Google Shape;293;g26caf2632ea_1_0"/>
          <p:cNvSpPr txBox="1"/>
          <p:nvPr/>
        </p:nvSpPr>
        <p:spPr>
          <a:xfrm>
            <a:off x="1043175" y="29357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rPr>
              <a:t>Desired Altitude</a:t>
            </a:r>
            <a:endParaRPr sz="1300">
              <a:solidFill>
                <a:schemeClr val="dk1"/>
              </a:solidFill>
            </a:endParaRPr>
          </a:p>
        </p:txBody>
      </p:sp>
      <p:sp>
        <p:nvSpPr>
          <p:cNvPr id="294" name="Google Shape;294;g26caf2632ea_1_0"/>
          <p:cNvSpPr txBox="1"/>
          <p:nvPr/>
        </p:nvSpPr>
        <p:spPr>
          <a:xfrm>
            <a:off x="6268625" y="21112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rPr>
              <a:t>Actual Altitude</a:t>
            </a:r>
            <a:endParaRPr sz="1300">
              <a:solidFill>
                <a:schemeClr val="dk1"/>
              </a:solidFill>
            </a:endParaRPr>
          </a:p>
        </p:txBody>
      </p:sp>
      <p:sp>
        <p:nvSpPr>
          <p:cNvPr id="295" name="Google Shape;295;g26caf2632ea_1_0"/>
          <p:cNvSpPr txBox="1"/>
          <p:nvPr/>
        </p:nvSpPr>
        <p:spPr>
          <a:xfrm>
            <a:off x="3285825" y="211125"/>
            <a:ext cx="869100" cy="479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dirty="0" smtClean="0">
                <a:solidFill>
                  <a:schemeClr val="dk1"/>
                </a:solidFill>
              </a:rPr>
              <a:t>Kp*e </a:t>
            </a:r>
            <a:r>
              <a:rPr lang="en" sz="1300" dirty="0">
                <a:solidFill>
                  <a:schemeClr val="dk1"/>
                </a:solidFill>
              </a:rPr>
              <a:t>+ </a:t>
            </a:r>
            <a:r>
              <a:rPr lang="en" sz="1300" dirty="0" smtClean="0">
                <a:solidFill>
                  <a:schemeClr val="dk1"/>
                </a:solidFill>
              </a:rPr>
              <a:t>Ki </a:t>
            </a:r>
            <a:r>
              <a:rPr lang="en" sz="1300" dirty="0">
                <a:solidFill>
                  <a:schemeClr val="dk1"/>
                </a:solidFill>
              </a:rPr>
              <a:t>* ∫e</a:t>
            </a:r>
            <a:endParaRPr sz="1300" dirty="0">
              <a:solidFill>
                <a:schemeClr val="dk1"/>
              </a:solidFill>
            </a:endParaRPr>
          </a:p>
        </p:txBody>
      </p:sp>
      <p:sp>
        <p:nvSpPr>
          <p:cNvPr id="296" name="Google Shape;296;g26caf2632ea_1_0"/>
          <p:cNvSpPr txBox="1"/>
          <p:nvPr/>
        </p:nvSpPr>
        <p:spPr>
          <a:xfrm>
            <a:off x="4830088" y="29357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Propeller</a:t>
            </a:r>
            <a:endParaRPr sz="1200">
              <a:solidFill>
                <a:schemeClr val="dk1"/>
              </a:solidFill>
            </a:endParaRPr>
          </a:p>
        </p:txBody>
      </p:sp>
      <p:sp>
        <p:nvSpPr>
          <p:cNvPr id="297" name="Google Shape;297;g26caf2632ea_1_0"/>
          <p:cNvSpPr txBox="1"/>
          <p:nvPr/>
        </p:nvSpPr>
        <p:spPr>
          <a:xfrm>
            <a:off x="3560500" y="1068625"/>
            <a:ext cx="1187400" cy="71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solidFill>
                  <a:schemeClr val="dk1"/>
                </a:solidFill>
              </a:rPr>
              <a:t>Altitude Measuring Sensor</a:t>
            </a:r>
            <a:endParaRPr sz="1300">
              <a:solidFill>
                <a:schemeClr val="dk1"/>
              </a:solidFill>
            </a:endParaRPr>
          </a:p>
        </p:txBody>
      </p:sp>
      <p:sp>
        <p:nvSpPr>
          <p:cNvPr id="298" name="Google Shape;298;g26caf2632ea_1_0"/>
          <p:cNvSpPr txBox="1"/>
          <p:nvPr/>
        </p:nvSpPr>
        <p:spPr>
          <a:xfrm>
            <a:off x="3396125" y="2059750"/>
            <a:ext cx="3123600" cy="120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300" b="1">
              <a:solidFill>
                <a:schemeClr val="dk1"/>
              </a:solidFill>
            </a:endParaRPr>
          </a:p>
          <a:p>
            <a:pPr marL="0" lvl="0" indent="0" algn="l" rtl="0">
              <a:spcBef>
                <a:spcPts val="0"/>
              </a:spcBef>
              <a:spcAft>
                <a:spcPts val="0"/>
              </a:spcAft>
              <a:buNone/>
            </a:pPr>
            <a:endParaRPr sz="1300" b="1">
              <a:solidFill>
                <a:schemeClr val="dk1"/>
              </a:solidFill>
            </a:endParaRPr>
          </a:p>
          <a:p>
            <a:pPr marL="0" lvl="0" indent="0" algn="l" rtl="0">
              <a:spcBef>
                <a:spcPts val="0"/>
              </a:spcBef>
              <a:spcAft>
                <a:spcPts val="0"/>
              </a:spcAft>
              <a:buNone/>
            </a:pPr>
            <a:r>
              <a:rPr lang="en" sz="1300" b="1">
                <a:solidFill>
                  <a:schemeClr val="dk1"/>
                </a:solidFill>
              </a:rPr>
              <a:t>Propeller Speed = 10 * 10 = 100 rpm</a:t>
            </a:r>
            <a:endParaRPr sz="1300" b="1">
              <a:solidFill>
                <a:schemeClr val="dk1"/>
              </a:solidFill>
            </a:endParaRPr>
          </a:p>
          <a:p>
            <a:pPr marL="0" lvl="0" indent="0" algn="l" rtl="0">
              <a:spcBef>
                <a:spcPts val="0"/>
              </a:spcBef>
              <a:spcAft>
                <a:spcPts val="0"/>
              </a:spcAft>
              <a:buNone/>
            </a:pPr>
            <a:endParaRPr sz="1300" b="1">
              <a:solidFill>
                <a:schemeClr val="dk1"/>
              </a:solidFill>
            </a:endParaRPr>
          </a:p>
          <a:p>
            <a:pPr marL="0" lvl="0" indent="0" algn="l" rtl="0">
              <a:spcBef>
                <a:spcPts val="0"/>
              </a:spcBef>
              <a:spcAft>
                <a:spcPts val="0"/>
              </a:spcAft>
              <a:buNone/>
            </a:pPr>
            <a:r>
              <a:rPr lang="en" sz="1300" b="1">
                <a:solidFill>
                  <a:schemeClr val="dk1"/>
                </a:solidFill>
              </a:rPr>
              <a:t>Error = 10</a:t>
            </a:r>
            <a:endParaRPr sz="1300" b="1">
              <a:solidFill>
                <a:schemeClr val="dk1"/>
              </a:solidFill>
            </a:endParaRPr>
          </a:p>
        </p:txBody>
      </p:sp>
      <p:pic>
        <p:nvPicPr>
          <p:cNvPr id="299" name="Google Shape;299;g26caf2632ea_1_0"/>
          <p:cNvPicPr preferRelativeResize="0"/>
          <p:nvPr/>
        </p:nvPicPr>
        <p:blipFill>
          <a:blip r:embed="rId4">
            <a:alphaModFix/>
          </a:blip>
          <a:stretch>
            <a:fillRect/>
          </a:stretch>
        </p:blipFill>
        <p:spPr>
          <a:xfrm>
            <a:off x="6519725" y="1784125"/>
            <a:ext cx="2231650" cy="2016175"/>
          </a:xfrm>
          <a:prstGeom prst="rect">
            <a:avLst/>
          </a:prstGeom>
          <a:noFill/>
          <a:ln>
            <a:noFill/>
          </a:ln>
        </p:spPr>
      </p:pic>
      <p:pic>
        <p:nvPicPr>
          <p:cNvPr id="300" name="Google Shape;300;g26caf2632ea_1_0"/>
          <p:cNvPicPr preferRelativeResize="0"/>
          <p:nvPr/>
        </p:nvPicPr>
        <p:blipFill>
          <a:blip r:embed="rId5">
            <a:alphaModFix/>
          </a:blip>
          <a:stretch>
            <a:fillRect/>
          </a:stretch>
        </p:blipFill>
        <p:spPr>
          <a:xfrm>
            <a:off x="-352300" y="1876300"/>
            <a:ext cx="3070124" cy="3455100"/>
          </a:xfrm>
          <a:prstGeom prst="rect">
            <a:avLst/>
          </a:prstGeom>
          <a:noFill/>
          <a:ln>
            <a:noFill/>
          </a:ln>
        </p:spPr>
      </p:pic>
      <p:sp>
        <p:nvSpPr>
          <p:cNvPr id="301" name="Google Shape;301;g26caf2632ea_1_0"/>
          <p:cNvSpPr txBox="1"/>
          <p:nvPr/>
        </p:nvSpPr>
        <p:spPr>
          <a:xfrm>
            <a:off x="338475" y="3036850"/>
            <a:ext cx="626700" cy="61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a:solidFill>
                  <a:schemeClr val="dk1"/>
                </a:solidFill>
              </a:rPr>
              <a:t>50m</a:t>
            </a:r>
            <a:endParaRPr sz="1700">
              <a:solidFill>
                <a:schemeClr val="dk1"/>
              </a:solidFill>
            </a:endParaRPr>
          </a:p>
        </p:txBody>
      </p:sp>
      <p:sp>
        <p:nvSpPr>
          <p:cNvPr id="302" name="Google Shape;302;g26caf2632ea_1_0"/>
          <p:cNvSpPr txBox="1"/>
          <p:nvPr/>
        </p:nvSpPr>
        <p:spPr>
          <a:xfrm>
            <a:off x="2118771" y="3020094"/>
            <a:ext cx="6284694" cy="1867437"/>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b="1" dirty="0">
                <a:solidFill>
                  <a:schemeClr val="dk1"/>
                </a:solidFill>
              </a:rPr>
              <a:t>Output = </a:t>
            </a:r>
            <a:r>
              <a:rPr lang="en" sz="1600" b="1" dirty="0">
                <a:solidFill>
                  <a:srgbClr val="0000FF"/>
                </a:solidFill>
              </a:rPr>
              <a:t>Kp </a:t>
            </a:r>
            <a:r>
              <a:rPr lang="en" sz="1600" b="1" dirty="0">
                <a:solidFill>
                  <a:schemeClr val="dk1"/>
                </a:solidFill>
              </a:rPr>
              <a:t>* </a:t>
            </a:r>
            <a:r>
              <a:rPr lang="en" sz="1600" b="1" dirty="0">
                <a:solidFill>
                  <a:srgbClr val="FF0000"/>
                </a:solidFill>
              </a:rPr>
              <a:t>error </a:t>
            </a:r>
            <a:r>
              <a:rPr lang="en" sz="1600" b="1" dirty="0">
                <a:solidFill>
                  <a:schemeClr val="dk1"/>
                </a:solidFill>
              </a:rPr>
              <a:t>+ </a:t>
            </a:r>
            <a:r>
              <a:rPr lang="en" sz="1600" b="1" dirty="0">
                <a:solidFill>
                  <a:srgbClr val="351C75"/>
                </a:solidFill>
              </a:rPr>
              <a:t>Ki </a:t>
            </a:r>
            <a:r>
              <a:rPr lang="en" sz="1600" b="1" dirty="0">
                <a:solidFill>
                  <a:schemeClr val="dk1"/>
                </a:solidFill>
              </a:rPr>
              <a:t>* </a:t>
            </a:r>
            <a:r>
              <a:rPr lang="en" sz="1600" b="1" dirty="0">
                <a:solidFill>
                  <a:srgbClr val="FF0000"/>
                </a:solidFill>
              </a:rPr>
              <a:t>(error1 + error2 + </a:t>
            </a:r>
            <a:r>
              <a:rPr lang="en" sz="1600" b="1" dirty="0" smtClean="0">
                <a:solidFill>
                  <a:srgbClr val="FF0000"/>
                </a:solidFill>
              </a:rPr>
              <a:t>… +errorn (0))</a:t>
            </a:r>
          </a:p>
          <a:p>
            <a:pPr marL="0" lvl="0" indent="0" algn="l" rtl="0">
              <a:spcBef>
                <a:spcPts val="0"/>
              </a:spcBef>
              <a:spcAft>
                <a:spcPts val="0"/>
              </a:spcAft>
              <a:buNone/>
            </a:pPr>
            <a:r>
              <a:rPr lang="en" sz="1600" b="1" dirty="0" smtClean="0">
                <a:solidFill>
                  <a:srgbClr val="FF0000"/>
                </a:solidFill>
              </a:rPr>
              <a:t>Output1= 10*60+5*60=900</a:t>
            </a:r>
          </a:p>
          <a:p>
            <a:r>
              <a:rPr lang="en" sz="1600" b="1" dirty="0" smtClean="0">
                <a:solidFill>
                  <a:srgbClr val="FF0000"/>
                </a:solidFill>
              </a:rPr>
              <a:t>Output2= 10*50+5(60+50)=1050</a:t>
            </a:r>
          </a:p>
          <a:p>
            <a:r>
              <a:rPr lang="en" sz="1600" b="1" dirty="0" smtClean="0">
                <a:solidFill>
                  <a:srgbClr val="FF0000"/>
                </a:solidFill>
              </a:rPr>
              <a:t>Output3= 10*40+5(60+50+40)=1150</a:t>
            </a:r>
          </a:p>
          <a:p>
            <a:r>
              <a:rPr lang="en" sz="1600" b="1" dirty="0" smtClean="0">
                <a:solidFill>
                  <a:srgbClr val="FF0000"/>
                </a:solidFill>
              </a:rPr>
              <a:t>Output4= 10*30+5(60+50+40+30)=1200</a:t>
            </a:r>
            <a:endParaRPr lang="en" sz="1600" b="1" dirty="0">
              <a:solidFill>
                <a:srgbClr val="FF0000"/>
              </a:solidFill>
            </a:endParaRPr>
          </a:p>
          <a:p>
            <a:r>
              <a:rPr lang="en" sz="1600" b="1" dirty="0" smtClean="0">
                <a:solidFill>
                  <a:srgbClr val="FF0000"/>
                </a:solidFill>
              </a:rPr>
              <a:t>Output5= 10*20+5(60+50+40+30+20)=1200</a:t>
            </a:r>
            <a:endParaRPr lang="en" sz="1600" b="1" dirty="0">
              <a:solidFill>
                <a:srgbClr val="FF0000"/>
              </a:solidFill>
            </a:endParaRPr>
          </a:p>
          <a:p>
            <a:r>
              <a:rPr lang="en" sz="1600" b="1" dirty="0" smtClean="0">
                <a:solidFill>
                  <a:srgbClr val="FF0000"/>
                </a:solidFill>
              </a:rPr>
              <a:t>Output6= 10*10+5(60+50+40+30+20+10)=1150</a:t>
            </a:r>
          </a:p>
          <a:p>
            <a:r>
              <a:rPr lang="en" sz="1600" b="1" dirty="0" smtClean="0">
                <a:solidFill>
                  <a:srgbClr val="FF0000"/>
                </a:solidFill>
              </a:rPr>
              <a:t>Output7= 10*0+5(60+50+40+30+20+10+0)=1050</a:t>
            </a:r>
            <a:endParaRPr lang="en" sz="1600" b="1" dirty="0">
              <a:solidFill>
                <a:srgbClr val="FF0000"/>
              </a:solidFill>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pic>
        <p:nvPicPr>
          <p:cNvPr id="323" name="Google Shape;323;g26caf2632ea_1_44"/>
          <p:cNvPicPr preferRelativeResize="0"/>
          <p:nvPr/>
        </p:nvPicPr>
        <p:blipFill>
          <a:blip r:embed="rId3">
            <a:alphaModFix/>
          </a:blip>
          <a:stretch>
            <a:fillRect/>
          </a:stretch>
        </p:blipFill>
        <p:spPr>
          <a:xfrm>
            <a:off x="1043175" y="-1268225"/>
            <a:ext cx="7386450" cy="4616499"/>
          </a:xfrm>
          <a:prstGeom prst="rect">
            <a:avLst/>
          </a:prstGeom>
          <a:noFill/>
          <a:ln>
            <a:noFill/>
          </a:ln>
        </p:spPr>
      </p:pic>
      <p:sp>
        <p:nvSpPr>
          <p:cNvPr id="324" name="Google Shape;324;g26caf2632ea_1_44"/>
          <p:cNvSpPr txBox="1"/>
          <p:nvPr/>
        </p:nvSpPr>
        <p:spPr>
          <a:xfrm>
            <a:off x="1043175" y="29357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rPr>
              <a:t>Desired Altitude</a:t>
            </a:r>
            <a:endParaRPr sz="1300">
              <a:solidFill>
                <a:schemeClr val="dk1"/>
              </a:solidFill>
            </a:endParaRPr>
          </a:p>
        </p:txBody>
      </p:sp>
      <p:sp>
        <p:nvSpPr>
          <p:cNvPr id="325" name="Google Shape;325;g26caf2632ea_1_44"/>
          <p:cNvSpPr txBox="1"/>
          <p:nvPr/>
        </p:nvSpPr>
        <p:spPr>
          <a:xfrm>
            <a:off x="6268625" y="21112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rPr>
              <a:t>Actual Altitude</a:t>
            </a:r>
            <a:endParaRPr sz="1300">
              <a:solidFill>
                <a:schemeClr val="dk1"/>
              </a:solidFill>
            </a:endParaRPr>
          </a:p>
        </p:txBody>
      </p:sp>
      <p:sp>
        <p:nvSpPr>
          <p:cNvPr id="326" name="Google Shape;326;g26caf2632ea_1_44"/>
          <p:cNvSpPr txBox="1"/>
          <p:nvPr/>
        </p:nvSpPr>
        <p:spPr>
          <a:xfrm>
            <a:off x="3285825" y="211125"/>
            <a:ext cx="869100" cy="479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solidFill>
                  <a:schemeClr val="dk1"/>
                </a:solidFill>
              </a:rPr>
              <a:t>Ki*e + Kp * ∫e</a:t>
            </a:r>
            <a:endParaRPr sz="1300">
              <a:solidFill>
                <a:schemeClr val="dk1"/>
              </a:solidFill>
            </a:endParaRPr>
          </a:p>
        </p:txBody>
      </p:sp>
      <p:sp>
        <p:nvSpPr>
          <p:cNvPr id="327" name="Google Shape;327;g26caf2632ea_1_44"/>
          <p:cNvSpPr txBox="1"/>
          <p:nvPr/>
        </p:nvSpPr>
        <p:spPr>
          <a:xfrm>
            <a:off x="4830088" y="29357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Propeller</a:t>
            </a:r>
            <a:endParaRPr sz="1200">
              <a:solidFill>
                <a:schemeClr val="dk1"/>
              </a:solidFill>
            </a:endParaRPr>
          </a:p>
        </p:txBody>
      </p:sp>
      <p:sp>
        <p:nvSpPr>
          <p:cNvPr id="328" name="Google Shape;328;g26caf2632ea_1_44"/>
          <p:cNvSpPr txBox="1"/>
          <p:nvPr/>
        </p:nvSpPr>
        <p:spPr>
          <a:xfrm>
            <a:off x="3560500" y="1068625"/>
            <a:ext cx="1187400" cy="71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solidFill>
                  <a:schemeClr val="dk1"/>
                </a:solidFill>
              </a:rPr>
              <a:t>Altitude Measuring Sensor</a:t>
            </a:r>
            <a:endParaRPr sz="1300">
              <a:solidFill>
                <a:schemeClr val="dk1"/>
              </a:solidFill>
            </a:endParaRPr>
          </a:p>
        </p:txBody>
      </p:sp>
      <p:pic>
        <p:nvPicPr>
          <p:cNvPr id="329" name="Google Shape;329;g26caf2632ea_1_44"/>
          <p:cNvPicPr preferRelativeResize="0"/>
          <p:nvPr/>
        </p:nvPicPr>
        <p:blipFill>
          <a:blip r:embed="rId4">
            <a:alphaModFix/>
          </a:blip>
          <a:stretch>
            <a:fillRect/>
          </a:stretch>
        </p:blipFill>
        <p:spPr>
          <a:xfrm>
            <a:off x="-352300" y="1876300"/>
            <a:ext cx="3070124" cy="3455100"/>
          </a:xfrm>
          <a:prstGeom prst="rect">
            <a:avLst/>
          </a:prstGeom>
          <a:noFill/>
          <a:ln>
            <a:noFill/>
          </a:ln>
        </p:spPr>
      </p:pic>
      <p:sp>
        <p:nvSpPr>
          <p:cNvPr id="330" name="Google Shape;330;g26caf2632ea_1_44"/>
          <p:cNvSpPr txBox="1"/>
          <p:nvPr/>
        </p:nvSpPr>
        <p:spPr>
          <a:xfrm>
            <a:off x="338475" y="3036850"/>
            <a:ext cx="626700" cy="61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a:solidFill>
                  <a:schemeClr val="dk1"/>
                </a:solidFill>
              </a:rPr>
              <a:t>50m</a:t>
            </a:r>
            <a:endParaRPr sz="1700">
              <a:solidFill>
                <a:schemeClr val="dk1"/>
              </a:solidFill>
            </a:endParaRPr>
          </a:p>
        </p:txBody>
      </p:sp>
      <p:pic>
        <p:nvPicPr>
          <p:cNvPr id="331" name="Google Shape;331;g26caf2632ea_1_44"/>
          <p:cNvPicPr preferRelativeResize="0"/>
          <p:nvPr/>
        </p:nvPicPr>
        <p:blipFill>
          <a:blip r:embed="rId5">
            <a:alphaModFix/>
          </a:blip>
          <a:stretch>
            <a:fillRect/>
          </a:stretch>
        </p:blipFill>
        <p:spPr>
          <a:xfrm>
            <a:off x="3443100" y="2029225"/>
            <a:ext cx="4649099" cy="3033400"/>
          </a:xfrm>
          <a:prstGeom prst="rect">
            <a:avLst/>
          </a:prstGeom>
          <a:noFill/>
          <a:ln>
            <a:noFill/>
          </a:ln>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pic>
        <p:nvPicPr>
          <p:cNvPr id="272" name="Google Shape;272;g26caf2632ea_3_42"/>
          <p:cNvPicPr preferRelativeResize="0"/>
          <p:nvPr/>
        </p:nvPicPr>
        <p:blipFill rotWithShape="1">
          <a:blip r:embed="rId3">
            <a:alphaModFix/>
          </a:blip>
          <a:srcRect l="16523" t="6363"/>
          <a:stretch/>
        </p:blipFill>
        <p:spPr>
          <a:xfrm>
            <a:off x="2414788" y="1629177"/>
            <a:ext cx="4127679" cy="2657114"/>
          </a:xfrm>
          <a:prstGeom prst="rect">
            <a:avLst/>
          </a:prstGeom>
          <a:noFill/>
          <a:ln>
            <a:noFill/>
          </a:ln>
        </p:spPr>
      </p:pic>
      <p:sp>
        <p:nvSpPr>
          <p:cNvPr id="273" name="Google Shape;273;g26caf2632ea_3_42"/>
          <p:cNvSpPr txBox="1"/>
          <p:nvPr/>
        </p:nvSpPr>
        <p:spPr>
          <a:xfrm>
            <a:off x="3010200" y="361425"/>
            <a:ext cx="3123600" cy="399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600" b="1">
                <a:solidFill>
                  <a:schemeClr val="dk1"/>
                </a:solidFill>
              </a:rPr>
              <a:t>Proportional Control</a:t>
            </a:r>
            <a:endParaRPr sz="1600" b="1">
              <a:solidFill>
                <a:srgbClr val="FF0000"/>
              </a:solidFill>
            </a:endParaRPr>
          </a:p>
        </p:txBody>
      </p:sp>
    </p:spTree>
    <p:extLst>
      <p:ext uri="{BB962C8B-B14F-4D97-AF65-F5344CB8AC3E}">
        <p14:creationId xmlns:p14="http://schemas.microsoft.com/office/powerpoint/2010/main" val="156174800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pic>
        <p:nvPicPr>
          <p:cNvPr id="336" name="Google Shape;336;g26caf2632ea_1_59"/>
          <p:cNvPicPr preferRelativeResize="0"/>
          <p:nvPr/>
        </p:nvPicPr>
        <p:blipFill>
          <a:blip r:embed="rId3">
            <a:alphaModFix/>
          </a:blip>
          <a:stretch>
            <a:fillRect/>
          </a:stretch>
        </p:blipFill>
        <p:spPr>
          <a:xfrm>
            <a:off x="1043175" y="-1268225"/>
            <a:ext cx="7386450" cy="4616499"/>
          </a:xfrm>
          <a:prstGeom prst="rect">
            <a:avLst/>
          </a:prstGeom>
          <a:noFill/>
          <a:ln>
            <a:noFill/>
          </a:ln>
        </p:spPr>
      </p:pic>
      <p:sp>
        <p:nvSpPr>
          <p:cNvPr id="337" name="Google Shape;337;g26caf2632ea_1_59"/>
          <p:cNvSpPr txBox="1"/>
          <p:nvPr/>
        </p:nvSpPr>
        <p:spPr>
          <a:xfrm>
            <a:off x="1043175" y="29357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rPr>
              <a:t>Desired Altitude</a:t>
            </a:r>
            <a:endParaRPr sz="1300">
              <a:solidFill>
                <a:schemeClr val="dk1"/>
              </a:solidFill>
            </a:endParaRPr>
          </a:p>
        </p:txBody>
      </p:sp>
      <p:sp>
        <p:nvSpPr>
          <p:cNvPr id="338" name="Google Shape;338;g26caf2632ea_1_59"/>
          <p:cNvSpPr txBox="1"/>
          <p:nvPr/>
        </p:nvSpPr>
        <p:spPr>
          <a:xfrm>
            <a:off x="6268625" y="21112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rPr>
              <a:t>Actual Altitude</a:t>
            </a:r>
            <a:endParaRPr sz="1300">
              <a:solidFill>
                <a:schemeClr val="dk1"/>
              </a:solidFill>
            </a:endParaRPr>
          </a:p>
        </p:txBody>
      </p:sp>
      <p:sp>
        <p:nvSpPr>
          <p:cNvPr id="339" name="Google Shape;339;g26caf2632ea_1_59"/>
          <p:cNvSpPr txBox="1"/>
          <p:nvPr/>
        </p:nvSpPr>
        <p:spPr>
          <a:xfrm>
            <a:off x="3313925" y="152425"/>
            <a:ext cx="770400" cy="587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chemeClr val="dk1"/>
                </a:solidFill>
              </a:rPr>
              <a:t>Ki*e + </a:t>
            </a:r>
            <a:endParaRPr sz="1000">
              <a:solidFill>
                <a:schemeClr val="dk1"/>
              </a:solidFill>
            </a:endParaRPr>
          </a:p>
          <a:p>
            <a:pPr marL="0" lvl="0" indent="0" algn="ctr" rtl="0">
              <a:spcBef>
                <a:spcPts val="0"/>
              </a:spcBef>
              <a:spcAft>
                <a:spcPts val="0"/>
              </a:spcAft>
              <a:buNone/>
            </a:pPr>
            <a:r>
              <a:rPr lang="en" sz="1000">
                <a:solidFill>
                  <a:schemeClr val="dk1"/>
                </a:solidFill>
              </a:rPr>
              <a:t>Kp * ∫e + Kd * ∇ e</a:t>
            </a:r>
            <a:endParaRPr sz="1000">
              <a:solidFill>
                <a:schemeClr val="dk1"/>
              </a:solidFill>
            </a:endParaRPr>
          </a:p>
        </p:txBody>
      </p:sp>
      <p:sp>
        <p:nvSpPr>
          <p:cNvPr id="340" name="Google Shape;340;g26caf2632ea_1_59"/>
          <p:cNvSpPr txBox="1"/>
          <p:nvPr/>
        </p:nvSpPr>
        <p:spPr>
          <a:xfrm>
            <a:off x="4830088" y="29357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Propeller</a:t>
            </a:r>
            <a:endParaRPr sz="1200">
              <a:solidFill>
                <a:schemeClr val="dk1"/>
              </a:solidFill>
            </a:endParaRPr>
          </a:p>
        </p:txBody>
      </p:sp>
      <p:sp>
        <p:nvSpPr>
          <p:cNvPr id="341" name="Google Shape;341;g26caf2632ea_1_59"/>
          <p:cNvSpPr txBox="1"/>
          <p:nvPr/>
        </p:nvSpPr>
        <p:spPr>
          <a:xfrm>
            <a:off x="3560500" y="1068625"/>
            <a:ext cx="1187400" cy="71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solidFill>
                  <a:schemeClr val="dk1"/>
                </a:solidFill>
              </a:rPr>
              <a:t>Altitude Measuring Sensor</a:t>
            </a:r>
            <a:endParaRPr sz="1300">
              <a:solidFill>
                <a:schemeClr val="dk1"/>
              </a:solidFill>
            </a:endParaRPr>
          </a:p>
        </p:txBody>
      </p:sp>
      <p:sp>
        <p:nvSpPr>
          <p:cNvPr id="342" name="Google Shape;342;g26caf2632ea_1_59"/>
          <p:cNvSpPr txBox="1"/>
          <p:nvPr/>
        </p:nvSpPr>
        <p:spPr>
          <a:xfrm>
            <a:off x="3396125" y="2059750"/>
            <a:ext cx="3123600" cy="120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300" b="1">
              <a:solidFill>
                <a:schemeClr val="dk1"/>
              </a:solidFill>
            </a:endParaRPr>
          </a:p>
          <a:p>
            <a:pPr marL="0" lvl="0" indent="0" algn="l" rtl="0">
              <a:spcBef>
                <a:spcPts val="0"/>
              </a:spcBef>
              <a:spcAft>
                <a:spcPts val="0"/>
              </a:spcAft>
              <a:buNone/>
            </a:pPr>
            <a:endParaRPr sz="1300" b="1">
              <a:solidFill>
                <a:schemeClr val="dk1"/>
              </a:solidFill>
            </a:endParaRPr>
          </a:p>
          <a:p>
            <a:pPr marL="0" lvl="0" indent="0" algn="l" rtl="0">
              <a:spcBef>
                <a:spcPts val="0"/>
              </a:spcBef>
              <a:spcAft>
                <a:spcPts val="0"/>
              </a:spcAft>
              <a:buNone/>
            </a:pPr>
            <a:r>
              <a:rPr lang="en" sz="1300" b="1">
                <a:solidFill>
                  <a:schemeClr val="dk1"/>
                </a:solidFill>
              </a:rPr>
              <a:t>Propeller Speed = 10 * 10 = 100 rpm</a:t>
            </a:r>
            <a:endParaRPr sz="1300" b="1">
              <a:solidFill>
                <a:schemeClr val="dk1"/>
              </a:solidFill>
            </a:endParaRPr>
          </a:p>
          <a:p>
            <a:pPr marL="0" lvl="0" indent="0" algn="l" rtl="0">
              <a:spcBef>
                <a:spcPts val="0"/>
              </a:spcBef>
              <a:spcAft>
                <a:spcPts val="0"/>
              </a:spcAft>
              <a:buNone/>
            </a:pPr>
            <a:endParaRPr sz="1300" b="1">
              <a:solidFill>
                <a:schemeClr val="dk1"/>
              </a:solidFill>
            </a:endParaRPr>
          </a:p>
          <a:p>
            <a:pPr marL="0" lvl="0" indent="0" algn="l" rtl="0">
              <a:spcBef>
                <a:spcPts val="0"/>
              </a:spcBef>
              <a:spcAft>
                <a:spcPts val="0"/>
              </a:spcAft>
              <a:buNone/>
            </a:pPr>
            <a:r>
              <a:rPr lang="en" sz="1300" b="1">
                <a:solidFill>
                  <a:schemeClr val="dk1"/>
                </a:solidFill>
              </a:rPr>
              <a:t>Error = 10</a:t>
            </a:r>
            <a:endParaRPr sz="1300" b="1">
              <a:solidFill>
                <a:schemeClr val="dk1"/>
              </a:solidFill>
            </a:endParaRPr>
          </a:p>
        </p:txBody>
      </p:sp>
      <p:pic>
        <p:nvPicPr>
          <p:cNvPr id="343" name="Google Shape;343;g26caf2632ea_1_59"/>
          <p:cNvPicPr preferRelativeResize="0"/>
          <p:nvPr/>
        </p:nvPicPr>
        <p:blipFill>
          <a:blip r:embed="rId4">
            <a:alphaModFix/>
          </a:blip>
          <a:stretch>
            <a:fillRect/>
          </a:stretch>
        </p:blipFill>
        <p:spPr>
          <a:xfrm>
            <a:off x="6519725" y="1784125"/>
            <a:ext cx="2231650" cy="2016175"/>
          </a:xfrm>
          <a:prstGeom prst="rect">
            <a:avLst/>
          </a:prstGeom>
          <a:noFill/>
          <a:ln>
            <a:noFill/>
          </a:ln>
        </p:spPr>
      </p:pic>
      <p:pic>
        <p:nvPicPr>
          <p:cNvPr id="344" name="Google Shape;344;g26caf2632ea_1_59"/>
          <p:cNvPicPr preferRelativeResize="0"/>
          <p:nvPr/>
        </p:nvPicPr>
        <p:blipFill>
          <a:blip r:embed="rId5">
            <a:alphaModFix/>
          </a:blip>
          <a:stretch>
            <a:fillRect/>
          </a:stretch>
        </p:blipFill>
        <p:spPr>
          <a:xfrm>
            <a:off x="-352300" y="1876300"/>
            <a:ext cx="3070124" cy="3455100"/>
          </a:xfrm>
          <a:prstGeom prst="rect">
            <a:avLst/>
          </a:prstGeom>
          <a:noFill/>
          <a:ln>
            <a:noFill/>
          </a:ln>
        </p:spPr>
      </p:pic>
      <p:sp>
        <p:nvSpPr>
          <p:cNvPr id="345" name="Google Shape;345;g26caf2632ea_1_59"/>
          <p:cNvSpPr txBox="1"/>
          <p:nvPr/>
        </p:nvSpPr>
        <p:spPr>
          <a:xfrm>
            <a:off x="338475" y="3036850"/>
            <a:ext cx="626700" cy="61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a:solidFill>
                  <a:schemeClr val="dk1"/>
                </a:solidFill>
              </a:rPr>
              <a:t>50m</a:t>
            </a:r>
            <a:endParaRPr sz="1700">
              <a:solidFill>
                <a:schemeClr val="dk1"/>
              </a:solidFill>
            </a:endParaRPr>
          </a:p>
        </p:txBody>
      </p:sp>
      <p:sp>
        <p:nvSpPr>
          <p:cNvPr id="346" name="Google Shape;346;g26caf2632ea_1_59"/>
          <p:cNvSpPr txBox="1"/>
          <p:nvPr/>
        </p:nvSpPr>
        <p:spPr>
          <a:xfrm>
            <a:off x="2588850" y="3269352"/>
            <a:ext cx="4295100" cy="90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b="1">
                <a:solidFill>
                  <a:schemeClr val="dk1"/>
                </a:solidFill>
              </a:rPr>
              <a:t>Output = </a:t>
            </a:r>
            <a:r>
              <a:rPr lang="en" sz="1600" b="1">
                <a:solidFill>
                  <a:srgbClr val="0000FF"/>
                </a:solidFill>
              </a:rPr>
              <a:t>Kp </a:t>
            </a:r>
            <a:r>
              <a:rPr lang="en" sz="1600" b="1">
                <a:solidFill>
                  <a:schemeClr val="dk1"/>
                </a:solidFill>
              </a:rPr>
              <a:t>* </a:t>
            </a:r>
            <a:r>
              <a:rPr lang="en" sz="1600" b="1">
                <a:solidFill>
                  <a:srgbClr val="FF0000"/>
                </a:solidFill>
              </a:rPr>
              <a:t>error </a:t>
            </a:r>
            <a:r>
              <a:rPr lang="en" sz="1600" b="1">
                <a:solidFill>
                  <a:schemeClr val="dk1"/>
                </a:solidFill>
              </a:rPr>
              <a:t>+ </a:t>
            </a:r>
            <a:r>
              <a:rPr lang="en" sz="1600" b="1">
                <a:solidFill>
                  <a:srgbClr val="351C75"/>
                </a:solidFill>
              </a:rPr>
              <a:t>Ki </a:t>
            </a:r>
            <a:r>
              <a:rPr lang="en" sz="1600" b="1">
                <a:solidFill>
                  <a:schemeClr val="dk1"/>
                </a:solidFill>
              </a:rPr>
              <a:t>* </a:t>
            </a:r>
            <a:r>
              <a:rPr lang="en" sz="1600" b="1">
                <a:solidFill>
                  <a:srgbClr val="FF0000"/>
                </a:solidFill>
              </a:rPr>
              <a:t>(error1 + error2 + error3) + Kd * ( error3- error 2)</a:t>
            </a:r>
            <a:endParaRPr sz="1600" b="1">
              <a:solidFill>
                <a:srgbClr val="FF0000"/>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pic>
        <p:nvPicPr>
          <p:cNvPr id="351" name="Google Shape;351;g26caf2632ea_2_0"/>
          <p:cNvPicPr preferRelativeResize="0"/>
          <p:nvPr/>
        </p:nvPicPr>
        <p:blipFill>
          <a:blip r:embed="rId3">
            <a:alphaModFix/>
          </a:blip>
          <a:stretch>
            <a:fillRect/>
          </a:stretch>
        </p:blipFill>
        <p:spPr>
          <a:xfrm>
            <a:off x="1043175" y="-1268225"/>
            <a:ext cx="7386450" cy="4616499"/>
          </a:xfrm>
          <a:prstGeom prst="rect">
            <a:avLst/>
          </a:prstGeom>
          <a:noFill/>
          <a:ln>
            <a:noFill/>
          </a:ln>
        </p:spPr>
      </p:pic>
      <p:sp>
        <p:nvSpPr>
          <p:cNvPr id="352" name="Google Shape;352;g26caf2632ea_2_0"/>
          <p:cNvSpPr txBox="1"/>
          <p:nvPr/>
        </p:nvSpPr>
        <p:spPr>
          <a:xfrm>
            <a:off x="1043175" y="29357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rPr>
              <a:t>Desired Altitude</a:t>
            </a:r>
            <a:endParaRPr sz="1300">
              <a:solidFill>
                <a:schemeClr val="dk1"/>
              </a:solidFill>
            </a:endParaRPr>
          </a:p>
        </p:txBody>
      </p:sp>
      <p:sp>
        <p:nvSpPr>
          <p:cNvPr id="353" name="Google Shape;353;g26caf2632ea_2_0"/>
          <p:cNvSpPr txBox="1"/>
          <p:nvPr/>
        </p:nvSpPr>
        <p:spPr>
          <a:xfrm>
            <a:off x="6268625" y="21112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rPr>
              <a:t>Actual Altitude</a:t>
            </a:r>
            <a:endParaRPr sz="1300">
              <a:solidFill>
                <a:schemeClr val="dk1"/>
              </a:solidFill>
            </a:endParaRPr>
          </a:p>
        </p:txBody>
      </p:sp>
      <p:sp>
        <p:nvSpPr>
          <p:cNvPr id="354" name="Google Shape;354;g26caf2632ea_2_0"/>
          <p:cNvSpPr txBox="1"/>
          <p:nvPr/>
        </p:nvSpPr>
        <p:spPr>
          <a:xfrm>
            <a:off x="3313925" y="152425"/>
            <a:ext cx="770400" cy="587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chemeClr val="dk1"/>
                </a:solidFill>
              </a:rPr>
              <a:t>Ki*e + </a:t>
            </a:r>
            <a:endParaRPr sz="1000">
              <a:solidFill>
                <a:schemeClr val="dk1"/>
              </a:solidFill>
            </a:endParaRPr>
          </a:p>
          <a:p>
            <a:pPr marL="0" lvl="0" indent="0" algn="ctr" rtl="0">
              <a:spcBef>
                <a:spcPts val="0"/>
              </a:spcBef>
              <a:spcAft>
                <a:spcPts val="0"/>
              </a:spcAft>
              <a:buNone/>
            </a:pPr>
            <a:r>
              <a:rPr lang="en" sz="1000">
                <a:solidFill>
                  <a:schemeClr val="dk1"/>
                </a:solidFill>
              </a:rPr>
              <a:t>Kp * ∫e + Kd * ∇ e</a:t>
            </a:r>
            <a:endParaRPr sz="1000">
              <a:solidFill>
                <a:schemeClr val="dk1"/>
              </a:solidFill>
            </a:endParaRPr>
          </a:p>
        </p:txBody>
      </p:sp>
      <p:sp>
        <p:nvSpPr>
          <p:cNvPr id="355" name="Google Shape;355;g26caf2632ea_2_0"/>
          <p:cNvSpPr txBox="1"/>
          <p:nvPr/>
        </p:nvSpPr>
        <p:spPr>
          <a:xfrm>
            <a:off x="4830088" y="29357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Propeller</a:t>
            </a:r>
            <a:endParaRPr sz="1200">
              <a:solidFill>
                <a:schemeClr val="dk1"/>
              </a:solidFill>
            </a:endParaRPr>
          </a:p>
        </p:txBody>
      </p:sp>
      <p:sp>
        <p:nvSpPr>
          <p:cNvPr id="356" name="Google Shape;356;g26caf2632ea_2_0"/>
          <p:cNvSpPr txBox="1"/>
          <p:nvPr/>
        </p:nvSpPr>
        <p:spPr>
          <a:xfrm>
            <a:off x="3560500" y="1068625"/>
            <a:ext cx="1187400" cy="71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solidFill>
                  <a:schemeClr val="dk1"/>
                </a:solidFill>
              </a:rPr>
              <a:t>Altitude Measuring Sensor</a:t>
            </a:r>
            <a:endParaRPr sz="1300">
              <a:solidFill>
                <a:schemeClr val="dk1"/>
              </a:solidFill>
            </a:endParaRPr>
          </a:p>
        </p:txBody>
      </p:sp>
      <p:sp>
        <p:nvSpPr>
          <p:cNvPr id="357" name="Google Shape;357;g26caf2632ea_2_0"/>
          <p:cNvSpPr txBox="1"/>
          <p:nvPr/>
        </p:nvSpPr>
        <p:spPr>
          <a:xfrm>
            <a:off x="3396125" y="2059750"/>
            <a:ext cx="3123600" cy="120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300" b="1">
              <a:solidFill>
                <a:schemeClr val="dk1"/>
              </a:solidFill>
            </a:endParaRPr>
          </a:p>
          <a:p>
            <a:pPr marL="0" lvl="0" indent="0" algn="l" rtl="0">
              <a:spcBef>
                <a:spcPts val="0"/>
              </a:spcBef>
              <a:spcAft>
                <a:spcPts val="0"/>
              </a:spcAft>
              <a:buNone/>
            </a:pPr>
            <a:endParaRPr sz="1300" b="1">
              <a:solidFill>
                <a:schemeClr val="dk1"/>
              </a:solidFill>
            </a:endParaRPr>
          </a:p>
          <a:p>
            <a:pPr marL="0" lvl="0" indent="0" algn="l" rtl="0">
              <a:spcBef>
                <a:spcPts val="0"/>
              </a:spcBef>
              <a:spcAft>
                <a:spcPts val="0"/>
              </a:spcAft>
              <a:buNone/>
            </a:pPr>
            <a:r>
              <a:rPr lang="en" sz="1300" b="1">
                <a:solidFill>
                  <a:schemeClr val="dk1"/>
                </a:solidFill>
              </a:rPr>
              <a:t>Propeller Speed = 10 * 10 = 100 rpm</a:t>
            </a:r>
            <a:endParaRPr sz="1300" b="1">
              <a:solidFill>
                <a:schemeClr val="dk1"/>
              </a:solidFill>
            </a:endParaRPr>
          </a:p>
          <a:p>
            <a:pPr marL="0" lvl="0" indent="0" algn="l" rtl="0">
              <a:spcBef>
                <a:spcPts val="0"/>
              </a:spcBef>
              <a:spcAft>
                <a:spcPts val="0"/>
              </a:spcAft>
              <a:buNone/>
            </a:pPr>
            <a:endParaRPr sz="1300" b="1">
              <a:solidFill>
                <a:schemeClr val="dk1"/>
              </a:solidFill>
            </a:endParaRPr>
          </a:p>
          <a:p>
            <a:pPr marL="0" lvl="0" indent="0" algn="l" rtl="0">
              <a:spcBef>
                <a:spcPts val="0"/>
              </a:spcBef>
              <a:spcAft>
                <a:spcPts val="0"/>
              </a:spcAft>
              <a:buNone/>
            </a:pPr>
            <a:r>
              <a:rPr lang="en" sz="1300" b="1">
                <a:solidFill>
                  <a:schemeClr val="dk1"/>
                </a:solidFill>
              </a:rPr>
              <a:t>Error = 10</a:t>
            </a:r>
            <a:endParaRPr sz="1300" b="1">
              <a:solidFill>
                <a:schemeClr val="dk1"/>
              </a:solidFill>
            </a:endParaRPr>
          </a:p>
        </p:txBody>
      </p:sp>
      <p:pic>
        <p:nvPicPr>
          <p:cNvPr id="358" name="Google Shape;358;g26caf2632ea_2_0"/>
          <p:cNvPicPr preferRelativeResize="0"/>
          <p:nvPr/>
        </p:nvPicPr>
        <p:blipFill>
          <a:blip r:embed="rId4">
            <a:alphaModFix/>
          </a:blip>
          <a:stretch>
            <a:fillRect/>
          </a:stretch>
        </p:blipFill>
        <p:spPr>
          <a:xfrm>
            <a:off x="6519725" y="1784125"/>
            <a:ext cx="2231650" cy="2016175"/>
          </a:xfrm>
          <a:prstGeom prst="rect">
            <a:avLst/>
          </a:prstGeom>
          <a:noFill/>
          <a:ln>
            <a:noFill/>
          </a:ln>
        </p:spPr>
      </p:pic>
      <p:pic>
        <p:nvPicPr>
          <p:cNvPr id="359" name="Google Shape;359;g26caf2632ea_2_0"/>
          <p:cNvPicPr preferRelativeResize="0"/>
          <p:nvPr/>
        </p:nvPicPr>
        <p:blipFill>
          <a:blip r:embed="rId5">
            <a:alphaModFix/>
          </a:blip>
          <a:stretch>
            <a:fillRect/>
          </a:stretch>
        </p:blipFill>
        <p:spPr>
          <a:xfrm>
            <a:off x="-352300" y="1876300"/>
            <a:ext cx="3070124" cy="3455100"/>
          </a:xfrm>
          <a:prstGeom prst="rect">
            <a:avLst/>
          </a:prstGeom>
          <a:noFill/>
          <a:ln>
            <a:noFill/>
          </a:ln>
        </p:spPr>
      </p:pic>
      <p:sp>
        <p:nvSpPr>
          <p:cNvPr id="360" name="Google Shape;360;g26caf2632ea_2_0"/>
          <p:cNvSpPr txBox="1"/>
          <p:nvPr/>
        </p:nvSpPr>
        <p:spPr>
          <a:xfrm>
            <a:off x="338475" y="3036850"/>
            <a:ext cx="626700" cy="61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a:solidFill>
                  <a:schemeClr val="dk1"/>
                </a:solidFill>
              </a:rPr>
              <a:t>50m</a:t>
            </a:r>
            <a:endParaRPr sz="1700">
              <a:solidFill>
                <a:schemeClr val="dk1"/>
              </a:solidFill>
            </a:endParaRPr>
          </a:p>
        </p:txBody>
      </p:sp>
      <p:sp>
        <p:nvSpPr>
          <p:cNvPr id="361" name="Google Shape;361;g26caf2632ea_2_0"/>
          <p:cNvSpPr txBox="1"/>
          <p:nvPr/>
        </p:nvSpPr>
        <p:spPr>
          <a:xfrm>
            <a:off x="2588850" y="3269352"/>
            <a:ext cx="4295100" cy="90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b="1">
                <a:solidFill>
                  <a:schemeClr val="dk1"/>
                </a:solidFill>
              </a:rPr>
              <a:t>Output = </a:t>
            </a:r>
            <a:r>
              <a:rPr lang="en" sz="1600" b="1">
                <a:solidFill>
                  <a:srgbClr val="0000FF"/>
                </a:solidFill>
              </a:rPr>
              <a:t>Kp </a:t>
            </a:r>
            <a:r>
              <a:rPr lang="en" sz="1600" b="1">
                <a:solidFill>
                  <a:schemeClr val="dk1"/>
                </a:solidFill>
              </a:rPr>
              <a:t>* </a:t>
            </a:r>
            <a:r>
              <a:rPr lang="en" sz="1600" b="1">
                <a:solidFill>
                  <a:srgbClr val="FF0000"/>
                </a:solidFill>
              </a:rPr>
              <a:t>error </a:t>
            </a:r>
            <a:r>
              <a:rPr lang="en" sz="1600" b="1">
                <a:solidFill>
                  <a:schemeClr val="dk1"/>
                </a:solidFill>
              </a:rPr>
              <a:t>+ </a:t>
            </a:r>
            <a:r>
              <a:rPr lang="en" sz="1600" b="1">
                <a:solidFill>
                  <a:srgbClr val="351C75"/>
                </a:solidFill>
              </a:rPr>
              <a:t>Ki </a:t>
            </a:r>
            <a:r>
              <a:rPr lang="en" sz="1600" b="1">
                <a:solidFill>
                  <a:schemeClr val="dk1"/>
                </a:solidFill>
              </a:rPr>
              <a:t>* </a:t>
            </a:r>
            <a:r>
              <a:rPr lang="en" sz="1600" b="1">
                <a:solidFill>
                  <a:srgbClr val="FF0000"/>
                </a:solidFill>
              </a:rPr>
              <a:t>(error1 + error2 + error3) + Kd * ( error3- error 2)</a:t>
            </a:r>
            <a:endParaRPr sz="1600" b="1">
              <a:solidFill>
                <a:srgbClr val="FF0000"/>
              </a:solidFill>
            </a:endParaRPr>
          </a:p>
        </p:txBody>
      </p:sp>
      <p:sp>
        <p:nvSpPr>
          <p:cNvPr id="362" name="Google Shape;362;g26caf2632ea_2_0"/>
          <p:cNvSpPr txBox="1"/>
          <p:nvPr/>
        </p:nvSpPr>
        <p:spPr>
          <a:xfrm>
            <a:off x="3501800" y="4154475"/>
            <a:ext cx="4755900" cy="6108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600" b="1" dirty="0">
                <a:solidFill>
                  <a:schemeClr val="dk1"/>
                </a:solidFill>
              </a:rPr>
              <a:t>Proportional - Derivative - Integral Control</a:t>
            </a:r>
            <a:endParaRPr sz="1600" b="1" dirty="0">
              <a:solidFill>
                <a:schemeClr val="dk1"/>
              </a:solidFill>
            </a:endParaRPr>
          </a:p>
          <a:p>
            <a:pPr marL="0" lvl="0" indent="0" algn="l" rtl="0">
              <a:spcBef>
                <a:spcPts val="0"/>
              </a:spcBef>
              <a:spcAft>
                <a:spcPts val="0"/>
              </a:spcAft>
              <a:buNone/>
            </a:pPr>
            <a:r>
              <a:rPr lang="en" sz="1600" b="1" dirty="0">
                <a:solidFill>
                  <a:schemeClr val="dk1"/>
                </a:solidFill>
              </a:rPr>
              <a:t>(PID) Control</a:t>
            </a:r>
            <a:endParaRPr sz="1600" b="1" dirty="0">
              <a:solidFill>
                <a:schemeClr val="dk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pic>
        <p:nvPicPr>
          <p:cNvPr id="351" name="Google Shape;351;g26caf2632ea_2_0"/>
          <p:cNvPicPr preferRelativeResize="0"/>
          <p:nvPr/>
        </p:nvPicPr>
        <p:blipFill>
          <a:blip r:embed="rId3">
            <a:alphaModFix/>
          </a:blip>
          <a:stretch>
            <a:fillRect/>
          </a:stretch>
        </p:blipFill>
        <p:spPr>
          <a:xfrm>
            <a:off x="1043175" y="-1268225"/>
            <a:ext cx="7386450" cy="4616499"/>
          </a:xfrm>
          <a:prstGeom prst="rect">
            <a:avLst/>
          </a:prstGeom>
          <a:noFill/>
          <a:ln>
            <a:noFill/>
          </a:ln>
        </p:spPr>
      </p:pic>
      <p:sp>
        <p:nvSpPr>
          <p:cNvPr id="352" name="Google Shape;352;g26caf2632ea_2_0"/>
          <p:cNvSpPr txBox="1"/>
          <p:nvPr/>
        </p:nvSpPr>
        <p:spPr>
          <a:xfrm>
            <a:off x="1043175" y="29357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rPr>
              <a:t>Desired Altitude</a:t>
            </a:r>
            <a:endParaRPr sz="1300">
              <a:solidFill>
                <a:schemeClr val="dk1"/>
              </a:solidFill>
            </a:endParaRPr>
          </a:p>
        </p:txBody>
      </p:sp>
      <p:sp>
        <p:nvSpPr>
          <p:cNvPr id="353" name="Google Shape;353;g26caf2632ea_2_0"/>
          <p:cNvSpPr txBox="1"/>
          <p:nvPr/>
        </p:nvSpPr>
        <p:spPr>
          <a:xfrm>
            <a:off x="6268625" y="21112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dk1"/>
                </a:solidFill>
              </a:rPr>
              <a:t>Actual Altitude</a:t>
            </a:r>
            <a:endParaRPr sz="1300">
              <a:solidFill>
                <a:schemeClr val="dk1"/>
              </a:solidFill>
            </a:endParaRPr>
          </a:p>
        </p:txBody>
      </p:sp>
      <p:sp>
        <p:nvSpPr>
          <p:cNvPr id="354" name="Google Shape;354;g26caf2632ea_2_0"/>
          <p:cNvSpPr txBox="1"/>
          <p:nvPr/>
        </p:nvSpPr>
        <p:spPr>
          <a:xfrm>
            <a:off x="3313925" y="152425"/>
            <a:ext cx="770400" cy="587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chemeClr val="dk1"/>
                </a:solidFill>
              </a:rPr>
              <a:t>Ki*e + </a:t>
            </a:r>
            <a:endParaRPr sz="1000">
              <a:solidFill>
                <a:schemeClr val="dk1"/>
              </a:solidFill>
            </a:endParaRPr>
          </a:p>
          <a:p>
            <a:pPr marL="0" lvl="0" indent="0" algn="ctr" rtl="0">
              <a:spcBef>
                <a:spcPts val="0"/>
              </a:spcBef>
              <a:spcAft>
                <a:spcPts val="0"/>
              </a:spcAft>
              <a:buNone/>
            </a:pPr>
            <a:r>
              <a:rPr lang="en" sz="1000">
                <a:solidFill>
                  <a:schemeClr val="dk1"/>
                </a:solidFill>
              </a:rPr>
              <a:t>Kp * ∫e + Kd * ∇ e</a:t>
            </a:r>
            <a:endParaRPr sz="1000">
              <a:solidFill>
                <a:schemeClr val="dk1"/>
              </a:solidFill>
            </a:endParaRPr>
          </a:p>
        </p:txBody>
      </p:sp>
      <p:sp>
        <p:nvSpPr>
          <p:cNvPr id="355" name="Google Shape;355;g26caf2632ea_2_0"/>
          <p:cNvSpPr txBox="1"/>
          <p:nvPr/>
        </p:nvSpPr>
        <p:spPr>
          <a:xfrm>
            <a:off x="4830088" y="293575"/>
            <a:ext cx="869100" cy="587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Propeller</a:t>
            </a:r>
            <a:endParaRPr sz="1200">
              <a:solidFill>
                <a:schemeClr val="dk1"/>
              </a:solidFill>
            </a:endParaRPr>
          </a:p>
        </p:txBody>
      </p:sp>
      <p:sp>
        <p:nvSpPr>
          <p:cNvPr id="356" name="Google Shape;356;g26caf2632ea_2_0"/>
          <p:cNvSpPr txBox="1"/>
          <p:nvPr/>
        </p:nvSpPr>
        <p:spPr>
          <a:xfrm>
            <a:off x="3560500" y="1068625"/>
            <a:ext cx="1187400" cy="71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a:solidFill>
                  <a:schemeClr val="dk1"/>
                </a:solidFill>
              </a:rPr>
              <a:t>Altitude Measuring Sensor</a:t>
            </a:r>
            <a:endParaRPr sz="1300">
              <a:solidFill>
                <a:schemeClr val="dk1"/>
              </a:solidFill>
            </a:endParaRPr>
          </a:p>
        </p:txBody>
      </p:sp>
      <p:sp>
        <p:nvSpPr>
          <p:cNvPr id="357" name="Google Shape;357;g26caf2632ea_2_0"/>
          <p:cNvSpPr txBox="1"/>
          <p:nvPr/>
        </p:nvSpPr>
        <p:spPr>
          <a:xfrm>
            <a:off x="3396125" y="2059750"/>
            <a:ext cx="3123600" cy="120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300" b="1">
              <a:solidFill>
                <a:schemeClr val="dk1"/>
              </a:solidFill>
            </a:endParaRPr>
          </a:p>
          <a:p>
            <a:pPr marL="0" lvl="0" indent="0" algn="l" rtl="0">
              <a:spcBef>
                <a:spcPts val="0"/>
              </a:spcBef>
              <a:spcAft>
                <a:spcPts val="0"/>
              </a:spcAft>
              <a:buNone/>
            </a:pPr>
            <a:endParaRPr sz="1300" b="1">
              <a:solidFill>
                <a:schemeClr val="dk1"/>
              </a:solidFill>
            </a:endParaRPr>
          </a:p>
          <a:p>
            <a:pPr marL="0" lvl="0" indent="0" algn="l" rtl="0">
              <a:spcBef>
                <a:spcPts val="0"/>
              </a:spcBef>
              <a:spcAft>
                <a:spcPts val="0"/>
              </a:spcAft>
              <a:buNone/>
            </a:pPr>
            <a:r>
              <a:rPr lang="en" sz="1300" b="1">
                <a:solidFill>
                  <a:schemeClr val="dk1"/>
                </a:solidFill>
              </a:rPr>
              <a:t>Propeller Speed = 10 * 10 = 100 rpm</a:t>
            </a:r>
            <a:endParaRPr sz="1300" b="1">
              <a:solidFill>
                <a:schemeClr val="dk1"/>
              </a:solidFill>
            </a:endParaRPr>
          </a:p>
          <a:p>
            <a:pPr marL="0" lvl="0" indent="0" algn="l" rtl="0">
              <a:spcBef>
                <a:spcPts val="0"/>
              </a:spcBef>
              <a:spcAft>
                <a:spcPts val="0"/>
              </a:spcAft>
              <a:buNone/>
            </a:pPr>
            <a:endParaRPr sz="1300" b="1">
              <a:solidFill>
                <a:schemeClr val="dk1"/>
              </a:solidFill>
            </a:endParaRPr>
          </a:p>
          <a:p>
            <a:pPr marL="0" lvl="0" indent="0" algn="l" rtl="0">
              <a:spcBef>
                <a:spcPts val="0"/>
              </a:spcBef>
              <a:spcAft>
                <a:spcPts val="0"/>
              </a:spcAft>
              <a:buNone/>
            </a:pPr>
            <a:r>
              <a:rPr lang="en" sz="1300" b="1">
                <a:solidFill>
                  <a:schemeClr val="dk1"/>
                </a:solidFill>
              </a:rPr>
              <a:t>Error = 10</a:t>
            </a:r>
            <a:endParaRPr sz="1300" b="1">
              <a:solidFill>
                <a:schemeClr val="dk1"/>
              </a:solidFill>
            </a:endParaRPr>
          </a:p>
        </p:txBody>
      </p:sp>
      <p:pic>
        <p:nvPicPr>
          <p:cNvPr id="358" name="Google Shape;358;g26caf2632ea_2_0"/>
          <p:cNvPicPr preferRelativeResize="0"/>
          <p:nvPr/>
        </p:nvPicPr>
        <p:blipFill>
          <a:blip r:embed="rId4">
            <a:alphaModFix/>
          </a:blip>
          <a:stretch>
            <a:fillRect/>
          </a:stretch>
        </p:blipFill>
        <p:spPr>
          <a:xfrm>
            <a:off x="6519725" y="1784125"/>
            <a:ext cx="2231650" cy="2016175"/>
          </a:xfrm>
          <a:prstGeom prst="rect">
            <a:avLst/>
          </a:prstGeom>
          <a:noFill/>
          <a:ln>
            <a:noFill/>
          </a:ln>
        </p:spPr>
      </p:pic>
      <p:pic>
        <p:nvPicPr>
          <p:cNvPr id="359" name="Google Shape;359;g26caf2632ea_2_0"/>
          <p:cNvPicPr preferRelativeResize="0"/>
          <p:nvPr/>
        </p:nvPicPr>
        <p:blipFill>
          <a:blip r:embed="rId5">
            <a:alphaModFix/>
          </a:blip>
          <a:stretch>
            <a:fillRect/>
          </a:stretch>
        </p:blipFill>
        <p:spPr>
          <a:xfrm>
            <a:off x="-352300" y="1876300"/>
            <a:ext cx="3070124" cy="3455100"/>
          </a:xfrm>
          <a:prstGeom prst="rect">
            <a:avLst/>
          </a:prstGeom>
          <a:noFill/>
          <a:ln>
            <a:noFill/>
          </a:ln>
        </p:spPr>
      </p:pic>
      <p:sp>
        <p:nvSpPr>
          <p:cNvPr id="360" name="Google Shape;360;g26caf2632ea_2_0"/>
          <p:cNvSpPr txBox="1"/>
          <p:nvPr/>
        </p:nvSpPr>
        <p:spPr>
          <a:xfrm>
            <a:off x="338475" y="3036850"/>
            <a:ext cx="626700" cy="61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a:solidFill>
                  <a:schemeClr val="dk1"/>
                </a:solidFill>
              </a:rPr>
              <a:t>50m</a:t>
            </a:r>
            <a:endParaRPr sz="1700">
              <a:solidFill>
                <a:schemeClr val="dk1"/>
              </a:solidFill>
            </a:endParaRPr>
          </a:p>
        </p:txBody>
      </p:sp>
      <p:sp>
        <p:nvSpPr>
          <p:cNvPr id="361" name="Google Shape;361;g26caf2632ea_2_0"/>
          <p:cNvSpPr txBox="1"/>
          <p:nvPr/>
        </p:nvSpPr>
        <p:spPr>
          <a:xfrm>
            <a:off x="1609859" y="3101933"/>
            <a:ext cx="7418231" cy="90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b="1" dirty="0">
                <a:solidFill>
                  <a:schemeClr val="dk1"/>
                </a:solidFill>
              </a:rPr>
              <a:t>Output = </a:t>
            </a:r>
            <a:r>
              <a:rPr lang="en" sz="1600" b="1" dirty="0">
                <a:solidFill>
                  <a:srgbClr val="0000FF"/>
                </a:solidFill>
              </a:rPr>
              <a:t>Kp </a:t>
            </a:r>
            <a:r>
              <a:rPr lang="en" sz="1600" b="1" dirty="0">
                <a:solidFill>
                  <a:schemeClr val="dk1"/>
                </a:solidFill>
              </a:rPr>
              <a:t>* </a:t>
            </a:r>
            <a:r>
              <a:rPr lang="en" sz="1600" b="1" dirty="0">
                <a:solidFill>
                  <a:srgbClr val="FF0000"/>
                </a:solidFill>
              </a:rPr>
              <a:t>error </a:t>
            </a:r>
            <a:r>
              <a:rPr lang="en" sz="1600" b="1" dirty="0">
                <a:solidFill>
                  <a:schemeClr val="dk1"/>
                </a:solidFill>
              </a:rPr>
              <a:t>+ </a:t>
            </a:r>
            <a:r>
              <a:rPr lang="en" sz="1600" b="1" dirty="0">
                <a:solidFill>
                  <a:srgbClr val="351C75"/>
                </a:solidFill>
              </a:rPr>
              <a:t>Ki </a:t>
            </a:r>
            <a:r>
              <a:rPr lang="en" sz="1600" b="1" dirty="0">
                <a:solidFill>
                  <a:schemeClr val="dk1"/>
                </a:solidFill>
              </a:rPr>
              <a:t>* </a:t>
            </a:r>
            <a:r>
              <a:rPr lang="en" sz="1600" b="1" dirty="0">
                <a:solidFill>
                  <a:srgbClr val="FF0000"/>
                </a:solidFill>
              </a:rPr>
              <a:t>(error1 + error2 + error3) + Kd * ( error3- error 2</a:t>
            </a:r>
            <a:r>
              <a:rPr lang="en" sz="1600" b="1" dirty="0" smtClean="0">
                <a:solidFill>
                  <a:srgbClr val="FF0000"/>
                </a:solidFill>
              </a:rPr>
              <a:t>)</a:t>
            </a:r>
          </a:p>
          <a:p>
            <a:pPr lvl="0"/>
            <a:r>
              <a:rPr lang="en" sz="1600" b="1" dirty="0">
                <a:solidFill>
                  <a:srgbClr val="FF0000"/>
                </a:solidFill>
              </a:rPr>
              <a:t>Output1= </a:t>
            </a:r>
            <a:r>
              <a:rPr lang="en" sz="1600" b="1" dirty="0" smtClean="0">
                <a:solidFill>
                  <a:srgbClr val="FF0000"/>
                </a:solidFill>
              </a:rPr>
              <a:t>10*60+5*60+.5*60=930</a:t>
            </a:r>
            <a:endParaRPr lang="en" sz="1600" b="1" dirty="0">
              <a:solidFill>
                <a:srgbClr val="FF0000"/>
              </a:solidFill>
            </a:endParaRPr>
          </a:p>
          <a:p>
            <a:r>
              <a:rPr lang="en" sz="1600" b="1" dirty="0">
                <a:solidFill>
                  <a:srgbClr val="FF0000"/>
                </a:solidFill>
              </a:rPr>
              <a:t>Output2= 10*50+5(60+50</a:t>
            </a:r>
            <a:r>
              <a:rPr lang="en" sz="1600" b="1" dirty="0" smtClean="0">
                <a:solidFill>
                  <a:srgbClr val="FF0000"/>
                </a:solidFill>
              </a:rPr>
              <a:t>)</a:t>
            </a:r>
            <a:r>
              <a:rPr lang="en" sz="1600" b="1" dirty="0">
                <a:solidFill>
                  <a:srgbClr val="FF0000"/>
                </a:solidFill>
              </a:rPr>
              <a:t> +.5</a:t>
            </a:r>
            <a:r>
              <a:rPr lang="en" sz="1600" b="1" dirty="0" smtClean="0">
                <a:solidFill>
                  <a:srgbClr val="FF0000"/>
                </a:solidFill>
              </a:rPr>
              <a:t>*(60-50)=1055</a:t>
            </a:r>
            <a:endParaRPr lang="en" sz="1600" b="1" dirty="0">
              <a:solidFill>
                <a:srgbClr val="FF0000"/>
              </a:solidFill>
            </a:endParaRPr>
          </a:p>
          <a:p>
            <a:r>
              <a:rPr lang="en" sz="1600" b="1" dirty="0">
                <a:solidFill>
                  <a:srgbClr val="FF0000"/>
                </a:solidFill>
              </a:rPr>
              <a:t>Output3= 10*40+5(60+50+40</a:t>
            </a:r>
            <a:r>
              <a:rPr lang="en" sz="1600" b="1" dirty="0" smtClean="0">
                <a:solidFill>
                  <a:srgbClr val="FF0000"/>
                </a:solidFill>
              </a:rPr>
              <a:t>)</a:t>
            </a:r>
            <a:r>
              <a:rPr lang="en" sz="1600" b="1" dirty="0">
                <a:solidFill>
                  <a:srgbClr val="FF0000"/>
                </a:solidFill>
              </a:rPr>
              <a:t> + </a:t>
            </a:r>
            <a:r>
              <a:rPr lang="en" sz="1600" b="1" dirty="0" smtClean="0">
                <a:solidFill>
                  <a:srgbClr val="FF0000"/>
                </a:solidFill>
              </a:rPr>
              <a:t>.</a:t>
            </a:r>
            <a:r>
              <a:rPr lang="en" sz="1600" b="1" dirty="0">
                <a:solidFill>
                  <a:srgbClr val="FF0000"/>
                </a:solidFill>
              </a:rPr>
              <a:t>5</a:t>
            </a:r>
            <a:r>
              <a:rPr lang="en" sz="1600" b="1" dirty="0" smtClean="0">
                <a:solidFill>
                  <a:srgbClr val="FF0000"/>
                </a:solidFill>
              </a:rPr>
              <a:t>*(50-40</a:t>
            </a:r>
            <a:r>
              <a:rPr lang="en" sz="1600" b="1" dirty="0">
                <a:solidFill>
                  <a:srgbClr val="FF0000"/>
                </a:solidFill>
              </a:rPr>
              <a:t>)</a:t>
            </a:r>
            <a:r>
              <a:rPr lang="en" sz="1600" b="1" dirty="0" smtClean="0">
                <a:solidFill>
                  <a:srgbClr val="FF0000"/>
                </a:solidFill>
              </a:rPr>
              <a:t>=1155</a:t>
            </a:r>
            <a:endParaRPr lang="en" sz="1600" b="1" dirty="0">
              <a:solidFill>
                <a:srgbClr val="FF0000"/>
              </a:solidFill>
            </a:endParaRPr>
          </a:p>
          <a:p>
            <a:r>
              <a:rPr lang="en" sz="1600" b="1" dirty="0">
                <a:solidFill>
                  <a:srgbClr val="FF0000"/>
                </a:solidFill>
              </a:rPr>
              <a:t>Output4= 10*30+5(60+50+40+30</a:t>
            </a:r>
            <a:r>
              <a:rPr lang="en" sz="1600" b="1" dirty="0" smtClean="0">
                <a:solidFill>
                  <a:srgbClr val="FF0000"/>
                </a:solidFill>
              </a:rPr>
              <a:t>)</a:t>
            </a:r>
            <a:r>
              <a:rPr lang="en" sz="1600" b="1" dirty="0">
                <a:solidFill>
                  <a:srgbClr val="FF0000"/>
                </a:solidFill>
              </a:rPr>
              <a:t> + </a:t>
            </a:r>
            <a:r>
              <a:rPr lang="en" sz="1600" b="1" dirty="0" smtClean="0">
                <a:solidFill>
                  <a:srgbClr val="FF0000"/>
                </a:solidFill>
              </a:rPr>
              <a:t>.</a:t>
            </a:r>
            <a:r>
              <a:rPr lang="en" sz="1600" b="1" dirty="0">
                <a:solidFill>
                  <a:srgbClr val="FF0000"/>
                </a:solidFill>
              </a:rPr>
              <a:t>5</a:t>
            </a:r>
            <a:r>
              <a:rPr lang="en" sz="1600" b="1" dirty="0" smtClean="0">
                <a:solidFill>
                  <a:srgbClr val="FF0000"/>
                </a:solidFill>
              </a:rPr>
              <a:t>*(40-30</a:t>
            </a:r>
            <a:r>
              <a:rPr lang="en" sz="1600" b="1" dirty="0">
                <a:solidFill>
                  <a:srgbClr val="FF0000"/>
                </a:solidFill>
              </a:rPr>
              <a:t>)</a:t>
            </a:r>
            <a:r>
              <a:rPr lang="en" sz="1600" b="1" dirty="0" smtClean="0">
                <a:solidFill>
                  <a:srgbClr val="FF0000"/>
                </a:solidFill>
              </a:rPr>
              <a:t>=1205</a:t>
            </a:r>
            <a:endParaRPr lang="en" sz="1600" b="1" dirty="0">
              <a:solidFill>
                <a:srgbClr val="FF0000"/>
              </a:solidFill>
            </a:endParaRPr>
          </a:p>
          <a:p>
            <a:r>
              <a:rPr lang="en" sz="1600" b="1" dirty="0">
                <a:solidFill>
                  <a:srgbClr val="FF0000"/>
                </a:solidFill>
              </a:rPr>
              <a:t>Output5= 10*20+5(60+50+40+30+20</a:t>
            </a:r>
            <a:r>
              <a:rPr lang="en" sz="1600" b="1" dirty="0" smtClean="0">
                <a:solidFill>
                  <a:srgbClr val="FF0000"/>
                </a:solidFill>
              </a:rPr>
              <a:t>)</a:t>
            </a:r>
            <a:r>
              <a:rPr lang="en" sz="1600" b="1" dirty="0">
                <a:solidFill>
                  <a:srgbClr val="FF0000"/>
                </a:solidFill>
              </a:rPr>
              <a:t> + </a:t>
            </a:r>
            <a:r>
              <a:rPr lang="en" sz="1600" b="1" dirty="0" smtClean="0">
                <a:solidFill>
                  <a:srgbClr val="FF0000"/>
                </a:solidFill>
              </a:rPr>
              <a:t>.</a:t>
            </a:r>
            <a:r>
              <a:rPr lang="en" sz="1600" b="1" dirty="0">
                <a:solidFill>
                  <a:srgbClr val="FF0000"/>
                </a:solidFill>
              </a:rPr>
              <a:t>5</a:t>
            </a:r>
            <a:r>
              <a:rPr lang="en" sz="1600" b="1" dirty="0" smtClean="0">
                <a:solidFill>
                  <a:srgbClr val="FF0000"/>
                </a:solidFill>
              </a:rPr>
              <a:t>*(30-20</a:t>
            </a:r>
            <a:r>
              <a:rPr lang="en" sz="1600" b="1" dirty="0">
                <a:solidFill>
                  <a:srgbClr val="FF0000"/>
                </a:solidFill>
              </a:rPr>
              <a:t>)</a:t>
            </a:r>
            <a:r>
              <a:rPr lang="en" sz="1600" b="1" dirty="0" smtClean="0">
                <a:solidFill>
                  <a:srgbClr val="FF0000"/>
                </a:solidFill>
              </a:rPr>
              <a:t>=1205</a:t>
            </a:r>
            <a:endParaRPr lang="en" sz="1600" b="1" dirty="0">
              <a:solidFill>
                <a:srgbClr val="FF0000"/>
              </a:solidFill>
            </a:endParaRPr>
          </a:p>
          <a:p>
            <a:r>
              <a:rPr lang="en" sz="1600" b="1" dirty="0">
                <a:solidFill>
                  <a:srgbClr val="FF0000"/>
                </a:solidFill>
              </a:rPr>
              <a:t>Output6= 10*10+5(60+50+40+30+20+10</a:t>
            </a:r>
            <a:r>
              <a:rPr lang="en" sz="1600" b="1" dirty="0" smtClean="0">
                <a:solidFill>
                  <a:srgbClr val="FF0000"/>
                </a:solidFill>
              </a:rPr>
              <a:t>)</a:t>
            </a:r>
            <a:r>
              <a:rPr lang="en" sz="1600" b="1" dirty="0">
                <a:solidFill>
                  <a:srgbClr val="FF0000"/>
                </a:solidFill>
              </a:rPr>
              <a:t> + </a:t>
            </a:r>
            <a:r>
              <a:rPr lang="en" sz="1600" b="1" dirty="0" smtClean="0">
                <a:solidFill>
                  <a:srgbClr val="FF0000"/>
                </a:solidFill>
              </a:rPr>
              <a:t>.</a:t>
            </a:r>
            <a:r>
              <a:rPr lang="en" sz="1600" b="1" dirty="0">
                <a:solidFill>
                  <a:srgbClr val="FF0000"/>
                </a:solidFill>
              </a:rPr>
              <a:t>5</a:t>
            </a:r>
            <a:r>
              <a:rPr lang="en" sz="1600" b="1" dirty="0" smtClean="0">
                <a:solidFill>
                  <a:srgbClr val="FF0000"/>
                </a:solidFill>
              </a:rPr>
              <a:t>*(20-10</a:t>
            </a:r>
            <a:r>
              <a:rPr lang="en" sz="1600" b="1" dirty="0">
                <a:solidFill>
                  <a:srgbClr val="FF0000"/>
                </a:solidFill>
              </a:rPr>
              <a:t>)</a:t>
            </a:r>
            <a:r>
              <a:rPr lang="en" sz="1600" b="1" dirty="0" smtClean="0">
                <a:solidFill>
                  <a:srgbClr val="FF0000"/>
                </a:solidFill>
              </a:rPr>
              <a:t>=1155</a:t>
            </a:r>
            <a:endParaRPr lang="en" sz="1600" b="1" dirty="0">
              <a:solidFill>
                <a:srgbClr val="FF0000"/>
              </a:solidFill>
            </a:endParaRPr>
          </a:p>
          <a:p>
            <a:r>
              <a:rPr lang="en" sz="1600" b="1" dirty="0">
                <a:solidFill>
                  <a:srgbClr val="FF0000"/>
                </a:solidFill>
              </a:rPr>
              <a:t>Output7= 10*0+5(60+50+40+30+20+10+0</a:t>
            </a:r>
            <a:r>
              <a:rPr lang="en" sz="1600" b="1" dirty="0" smtClean="0">
                <a:solidFill>
                  <a:srgbClr val="FF0000"/>
                </a:solidFill>
              </a:rPr>
              <a:t>)</a:t>
            </a:r>
            <a:r>
              <a:rPr lang="en" sz="1600" b="1" dirty="0">
                <a:solidFill>
                  <a:srgbClr val="FF0000"/>
                </a:solidFill>
              </a:rPr>
              <a:t> </a:t>
            </a:r>
            <a:r>
              <a:rPr lang="en" sz="1600" b="1" dirty="0" smtClean="0">
                <a:solidFill>
                  <a:srgbClr val="FF0000"/>
                </a:solidFill>
              </a:rPr>
              <a:t>+ .</a:t>
            </a:r>
            <a:r>
              <a:rPr lang="en" sz="1600" b="1" dirty="0">
                <a:solidFill>
                  <a:srgbClr val="FF0000"/>
                </a:solidFill>
              </a:rPr>
              <a:t>5</a:t>
            </a:r>
            <a:r>
              <a:rPr lang="en" sz="1600" b="1" dirty="0" smtClean="0">
                <a:solidFill>
                  <a:srgbClr val="FF0000"/>
                </a:solidFill>
              </a:rPr>
              <a:t>*(10-0</a:t>
            </a:r>
            <a:r>
              <a:rPr lang="en" sz="1600" b="1" dirty="0">
                <a:solidFill>
                  <a:srgbClr val="FF0000"/>
                </a:solidFill>
              </a:rPr>
              <a:t>)</a:t>
            </a:r>
            <a:r>
              <a:rPr lang="en" sz="1600" b="1" dirty="0" smtClean="0">
                <a:solidFill>
                  <a:srgbClr val="FF0000"/>
                </a:solidFill>
              </a:rPr>
              <a:t>=1055</a:t>
            </a:r>
            <a:endParaRPr lang="en" sz="1600" b="1" dirty="0">
              <a:solidFill>
                <a:srgbClr val="FF0000"/>
              </a:solidFill>
            </a:endParaRPr>
          </a:p>
          <a:p>
            <a:pPr marL="0" lvl="0" indent="0" algn="l" rtl="0">
              <a:spcBef>
                <a:spcPts val="0"/>
              </a:spcBef>
              <a:spcAft>
                <a:spcPts val="0"/>
              </a:spcAft>
              <a:buNone/>
            </a:pPr>
            <a:endParaRPr sz="1600" b="1" dirty="0">
              <a:solidFill>
                <a:srgbClr val="FF0000"/>
              </a:solidFill>
            </a:endParaRPr>
          </a:p>
        </p:txBody>
      </p:sp>
    </p:spTree>
    <p:extLst>
      <p:ext uri="{BB962C8B-B14F-4D97-AF65-F5344CB8AC3E}">
        <p14:creationId xmlns:p14="http://schemas.microsoft.com/office/powerpoint/2010/main" val="12911902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pic>
        <p:nvPicPr>
          <p:cNvPr id="367" name="Google Shape;367;g2c70e3cbe86_1_2"/>
          <p:cNvPicPr preferRelativeResize="0"/>
          <p:nvPr/>
        </p:nvPicPr>
        <p:blipFill>
          <a:blip r:embed="rId3">
            <a:alphaModFix/>
          </a:blip>
          <a:stretch>
            <a:fillRect/>
          </a:stretch>
        </p:blipFill>
        <p:spPr>
          <a:xfrm>
            <a:off x="1364800" y="880500"/>
            <a:ext cx="6602250" cy="4088425"/>
          </a:xfrm>
          <a:prstGeom prst="rect">
            <a:avLst/>
          </a:prstGeom>
          <a:noFill/>
          <a:ln>
            <a:noFill/>
          </a:ln>
        </p:spPr>
      </p:pic>
      <p:sp>
        <p:nvSpPr>
          <p:cNvPr id="368" name="Google Shape;368;g2c70e3cbe86_1_2"/>
          <p:cNvSpPr txBox="1"/>
          <p:nvPr/>
        </p:nvSpPr>
        <p:spPr>
          <a:xfrm>
            <a:off x="1270875" y="114825"/>
            <a:ext cx="4755900" cy="6108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600" b="1">
                <a:solidFill>
                  <a:schemeClr val="dk1"/>
                </a:solidFill>
              </a:rPr>
              <a:t>Proportional - Derivative - Integral Control</a:t>
            </a:r>
            <a:endParaRPr sz="1600" b="1">
              <a:solidFill>
                <a:schemeClr val="dk1"/>
              </a:solidFill>
            </a:endParaRPr>
          </a:p>
          <a:p>
            <a:pPr marL="0" lvl="0" indent="0" algn="l" rtl="0">
              <a:spcBef>
                <a:spcPts val="0"/>
              </a:spcBef>
              <a:spcAft>
                <a:spcPts val="0"/>
              </a:spcAft>
              <a:buNone/>
            </a:pPr>
            <a:r>
              <a:rPr lang="en" sz="1600" b="1">
                <a:solidFill>
                  <a:schemeClr val="dk1"/>
                </a:solidFill>
              </a:rPr>
              <a:t>(PID) Control</a:t>
            </a:r>
            <a:endParaRPr sz="1600" b="1">
              <a:solidFill>
                <a:schemeClr val="dk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Effect of Controller Functions</a:t>
            </a:r>
            <a:endParaRPr/>
          </a:p>
        </p:txBody>
      </p:sp>
      <p:sp>
        <p:nvSpPr>
          <p:cNvPr id="390" name="Google Shape;390;p1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fontScale="70000" lnSpcReduction="20000"/>
          </a:bodyPr>
          <a:lstStyle/>
          <a:p>
            <a:pPr marL="0" lvl="0" indent="0" algn="l" rtl="0">
              <a:lnSpc>
                <a:spcPct val="115000"/>
              </a:lnSpc>
              <a:spcBef>
                <a:spcPts val="0"/>
              </a:spcBef>
              <a:spcAft>
                <a:spcPts val="0"/>
              </a:spcAft>
              <a:buSzPct val="106199"/>
              <a:buNone/>
            </a:pPr>
            <a:r>
              <a:rPr lang="en" sz="2187">
                <a:solidFill>
                  <a:schemeClr val="dk1"/>
                </a:solidFill>
                <a:latin typeface="Times New Roman"/>
                <a:ea typeface="Times New Roman"/>
                <a:cs typeface="Times New Roman"/>
                <a:sym typeface="Times New Roman"/>
              </a:rPr>
              <a:t>• Proportional Action</a:t>
            </a:r>
            <a:endParaRPr sz="2187">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ct val="61109"/>
              <a:buFont typeface="Arial"/>
              <a:buNone/>
            </a:pPr>
            <a:r>
              <a:rPr lang="en">
                <a:solidFill>
                  <a:schemeClr val="dk1"/>
                </a:solidFill>
                <a:latin typeface="Times New Roman"/>
                <a:ea typeface="Times New Roman"/>
                <a:cs typeface="Times New Roman"/>
                <a:sym typeface="Times New Roman"/>
              </a:rPr>
              <a:t>Simplest Controller Function, The P term helps to reduce the steady-state error and improve the system's responsiveness. However, too high of a proportional gain can lead to instability and oscillations in the system's response.</a:t>
            </a:r>
            <a:endParaRPr>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SzPct val="106199"/>
              <a:buNone/>
            </a:pPr>
            <a:r>
              <a:rPr lang="en" sz="2187">
                <a:solidFill>
                  <a:schemeClr val="dk1"/>
                </a:solidFill>
                <a:latin typeface="Times New Roman"/>
                <a:ea typeface="Times New Roman"/>
                <a:cs typeface="Times New Roman"/>
                <a:sym typeface="Times New Roman"/>
              </a:rPr>
              <a:t>• Integral Action</a:t>
            </a:r>
            <a:endParaRPr sz="2187">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Clr>
                <a:schemeClr val="dk1"/>
              </a:buClr>
              <a:buSzPct val="61109"/>
              <a:buFont typeface="Arial"/>
              <a:buNone/>
            </a:pPr>
            <a:r>
              <a:rPr lang="en">
                <a:solidFill>
                  <a:schemeClr val="dk1"/>
                </a:solidFill>
                <a:latin typeface="Times New Roman"/>
                <a:ea typeface="Times New Roman"/>
                <a:cs typeface="Times New Roman"/>
                <a:sym typeface="Times New Roman"/>
              </a:rPr>
              <a:t>Eliminates steady-state error, The I term helps to improve the system's stability and eliminate any bias in the system. However, too high of an integral gain can lead to overshoot and instability in the system's response. </a:t>
            </a:r>
            <a:endParaRPr>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0"/>
              </a:spcAft>
              <a:buSzPct val="106199"/>
              <a:buNone/>
            </a:pPr>
            <a:r>
              <a:rPr lang="en" sz="2187">
                <a:solidFill>
                  <a:schemeClr val="dk1"/>
                </a:solidFill>
                <a:latin typeface="Times New Roman"/>
                <a:ea typeface="Times New Roman"/>
                <a:cs typeface="Times New Roman"/>
                <a:sym typeface="Times New Roman"/>
              </a:rPr>
              <a:t>• Derivative Action (“rate control”)</a:t>
            </a:r>
            <a:endParaRPr sz="2187">
              <a:solidFill>
                <a:schemeClr val="dk1"/>
              </a:solidFill>
              <a:latin typeface="Times New Roman"/>
              <a:ea typeface="Times New Roman"/>
              <a:cs typeface="Times New Roman"/>
              <a:sym typeface="Times New Roman"/>
            </a:endParaRPr>
          </a:p>
          <a:p>
            <a:pPr marL="0" lvl="0" indent="0" algn="l" rtl="0">
              <a:lnSpc>
                <a:spcPct val="115000"/>
              </a:lnSpc>
              <a:spcBef>
                <a:spcPts val="1200"/>
              </a:spcBef>
              <a:spcAft>
                <a:spcPts val="1200"/>
              </a:spcAft>
              <a:buSzPct val="129031"/>
              <a:buNone/>
            </a:pPr>
            <a:r>
              <a:rPr lang="en">
                <a:solidFill>
                  <a:schemeClr val="dk1"/>
                </a:solidFill>
                <a:latin typeface="Times New Roman"/>
                <a:ea typeface="Times New Roman"/>
                <a:cs typeface="Times New Roman"/>
                <a:sym typeface="Times New Roman"/>
              </a:rPr>
              <a:t>Effective in transient periods, The D term helps to improve the system's stability and reduce the effects of disturbances in the system. However, too high of a derivative gain can lead to noise amplification and instability in the system's response.</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1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endParaRPr/>
          </a:p>
        </p:txBody>
      </p:sp>
      <p:sp>
        <p:nvSpPr>
          <p:cNvPr id="396" name="Google Shape;396;p1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1800"/>
              <a:buNone/>
            </a:pPr>
            <a:endParaRPr/>
          </a:p>
        </p:txBody>
      </p:sp>
      <p:pic>
        <p:nvPicPr>
          <p:cNvPr id="397" name="Google Shape;397;p19"/>
          <p:cNvPicPr preferRelativeResize="0"/>
          <p:nvPr/>
        </p:nvPicPr>
        <p:blipFill rotWithShape="1">
          <a:blip r:embed="rId3">
            <a:alphaModFix/>
          </a:blip>
          <a:srcRect/>
          <a:stretch/>
        </p:blipFill>
        <p:spPr>
          <a:xfrm>
            <a:off x="424075" y="979475"/>
            <a:ext cx="7848600" cy="376237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g2c7146d54e6_0_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a:t>Generating PID parameters</a:t>
            </a:r>
            <a:endParaRPr/>
          </a:p>
          <a:p>
            <a:pPr marL="0" lvl="0" indent="0" algn="l" rtl="0">
              <a:spcBef>
                <a:spcPts val="0"/>
              </a:spcBef>
              <a:spcAft>
                <a:spcPts val="0"/>
              </a:spcAft>
              <a:buNone/>
            </a:pPr>
            <a:endParaRPr/>
          </a:p>
        </p:txBody>
      </p:sp>
      <p:sp>
        <p:nvSpPr>
          <p:cNvPr id="403" name="Google Shape;403;g2c7146d54e6_0_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33375" algn="l" rtl="0">
              <a:spcBef>
                <a:spcPts val="0"/>
              </a:spcBef>
              <a:spcAft>
                <a:spcPts val="0"/>
              </a:spcAft>
              <a:buSzPts val="1650"/>
              <a:buChar char="●"/>
            </a:pPr>
            <a:r>
              <a:rPr lang="en" sz="1650" b="1"/>
              <a:t>Auto-Tuning Algorithms</a:t>
            </a:r>
            <a:r>
              <a:rPr lang="en" sz="1650"/>
              <a:t>:</a:t>
            </a:r>
            <a:endParaRPr sz="1650"/>
          </a:p>
          <a:p>
            <a:pPr marL="914400" lvl="1" indent="-333375" algn="l" rtl="0">
              <a:spcBef>
                <a:spcPts val="0"/>
              </a:spcBef>
              <a:spcAft>
                <a:spcPts val="0"/>
              </a:spcAft>
              <a:buSzPts val="1650"/>
              <a:buChar char="○"/>
            </a:pPr>
            <a:r>
              <a:rPr lang="en" sz="1650"/>
              <a:t>Relay-based Auto-Tuning</a:t>
            </a:r>
            <a:endParaRPr sz="1650"/>
          </a:p>
          <a:p>
            <a:pPr marL="914400" lvl="1" indent="-333375" algn="l" rtl="0">
              <a:spcBef>
                <a:spcPts val="0"/>
              </a:spcBef>
              <a:spcAft>
                <a:spcPts val="0"/>
              </a:spcAft>
              <a:buSzPts val="1650"/>
              <a:buChar char="○"/>
            </a:pPr>
            <a:r>
              <a:rPr lang="en" sz="1650"/>
              <a:t>A relay is introduced in the control loop.</a:t>
            </a:r>
            <a:endParaRPr sz="1650"/>
          </a:p>
          <a:p>
            <a:pPr marL="914400" lvl="1" indent="-333375" algn="l" rtl="0">
              <a:spcBef>
                <a:spcPts val="0"/>
              </a:spcBef>
              <a:spcAft>
                <a:spcPts val="0"/>
              </a:spcAft>
              <a:buSzPts val="1650"/>
              <a:buChar char="○"/>
            </a:pPr>
            <a:r>
              <a:rPr lang="en" sz="1650"/>
              <a:t>Observes the system's oscillatory response.</a:t>
            </a:r>
            <a:endParaRPr sz="1650"/>
          </a:p>
          <a:p>
            <a:pPr marL="914400" lvl="1" indent="-333375" algn="l" rtl="0">
              <a:spcBef>
                <a:spcPts val="0"/>
              </a:spcBef>
              <a:spcAft>
                <a:spcPts val="0"/>
              </a:spcAft>
              <a:buSzPts val="1650"/>
              <a:buChar char="○"/>
            </a:pPr>
            <a:r>
              <a:rPr lang="en" sz="1650"/>
              <a:t>Calculates PID parameters based on oscillation characteristics.</a:t>
            </a:r>
            <a:endParaRPr sz="1650"/>
          </a:p>
          <a:p>
            <a:pPr marL="457200" lvl="0" indent="-333375" algn="l" rtl="0">
              <a:spcBef>
                <a:spcPts val="0"/>
              </a:spcBef>
              <a:spcAft>
                <a:spcPts val="0"/>
              </a:spcAft>
              <a:buSzPts val="1650"/>
              <a:buChar char="●"/>
            </a:pPr>
            <a:r>
              <a:rPr lang="en" sz="1650" b="1"/>
              <a:t>Trial and Error: </a:t>
            </a:r>
            <a:r>
              <a:rPr lang="en" sz="1650"/>
              <a:t>Iteratively adjust parameters based on system response.</a:t>
            </a:r>
            <a:endParaRPr sz="165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g2c7146d54e6_0_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Advantages and Applications of PID control</a:t>
            </a:r>
            <a:endParaRPr/>
          </a:p>
        </p:txBody>
      </p:sp>
      <p:sp>
        <p:nvSpPr>
          <p:cNvPr id="409" name="Google Shape;409;g2c7146d54e6_0_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a:t>Advantages:</a:t>
            </a:r>
            <a:endParaRPr/>
          </a:p>
          <a:p>
            <a:pPr marL="457200" lvl="0" indent="-342900" algn="l" rtl="0">
              <a:spcBef>
                <a:spcPts val="0"/>
              </a:spcBef>
              <a:spcAft>
                <a:spcPts val="0"/>
              </a:spcAft>
              <a:buSzPts val="1800"/>
              <a:buChar char="●"/>
            </a:pPr>
            <a:r>
              <a:rPr lang="en"/>
              <a:t>Simple: easy to understand.</a:t>
            </a:r>
            <a:endParaRPr/>
          </a:p>
          <a:p>
            <a:pPr marL="457200" lvl="0" indent="-342900" algn="l" rtl="0">
              <a:spcBef>
                <a:spcPts val="0"/>
              </a:spcBef>
              <a:spcAft>
                <a:spcPts val="0"/>
              </a:spcAft>
              <a:buSzPts val="1800"/>
              <a:buChar char="●"/>
            </a:pPr>
            <a:r>
              <a:rPr lang="en"/>
              <a:t>Effective: Accurate and stable, even in dynamic environments.</a:t>
            </a:r>
            <a:endParaRPr/>
          </a:p>
          <a:p>
            <a:pPr marL="457200" lvl="0" indent="-342900" algn="l" rtl="0">
              <a:spcBef>
                <a:spcPts val="0"/>
              </a:spcBef>
              <a:spcAft>
                <a:spcPts val="0"/>
              </a:spcAft>
              <a:buSzPts val="1800"/>
              <a:buChar char="●"/>
            </a:pPr>
            <a:r>
              <a:rPr lang="en"/>
              <a:t>Robust: Can be adopted to different robot systems</a:t>
            </a:r>
            <a:endParaRPr/>
          </a:p>
          <a:p>
            <a:pPr marL="0" lvl="0" indent="0" algn="l" rtl="0">
              <a:spcBef>
                <a:spcPts val="0"/>
              </a:spcBef>
              <a:spcAft>
                <a:spcPts val="0"/>
              </a:spcAft>
              <a:buNone/>
            </a:pPr>
            <a:r>
              <a:rPr lang="en"/>
              <a:t>Application:</a:t>
            </a:r>
            <a:endParaRPr/>
          </a:p>
          <a:p>
            <a:pPr marL="457200" lvl="0" indent="-342900" algn="l" rtl="0">
              <a:spcBef>
                <a:spcPts val="0"/>
              </a:spcBef>
              <a:spcAft>
                <a:spcPts val="0"/>
              </a:spcAft>
              <a:buSzPts val="1800"/>
              <a:buChar char="●"/>
            </a:pPr>
            <a:r>
              <a:rPr lang="en"/>
              <a:t>Arm positioning</a:t>
            </a:r>
            <a:endParaRPr/>
          </a:p>
          <a:p>
            <a:pPr marL="457200" lvl="0" indent="-342900" algn="l" rtl="0">
              <a:spcBef>
                <a:spcPts val="0"/>
              </a:spcBef>
              <a:spcAft>
                <a:spcPts val="0"/>
              </a:spcAft>
              <a:buSzPts val="1800"/>
              <a:buChar char="●"/>
            </a:pPr>
            <a:r>
              <a:rPr lang="en"/>
              <a:t>Robot Navigation</a:t>
            </a:r>
            <a:endParaRPr/>
          </a:p>
          <a:p>
            <a:pPr marL="457200" lvl="0" indent="-342900" algn="l" rtl="0">
              <a:spcBef>
                <a:spcPts val="0"/>
              </a:spcBef>
              <a:spcAft>
                <a:spcPts val="0"/>
              </a:spcAft>
              <a:buSzPts val="1800"/>
              <a:buChar char="●"/>
            </a:pPr>
            <a:r>
              <a:rPr lang="en"/>
              <a:t>Speed Control</a:t>
            </a:r>
            <a:endParaRPr/>
          </a:p>
          <a:p>
            <a:pPr marL="457200" lvl="0" indent="-342900" algn="l" rtl="0">
              <a:spcBef>
                <a:spcPts val="0"/>
              </a:spcBef>
              <a:spcAft>
                <a:spcPts val="0"/>
              </a:spcAft>
              <a:buSzPts val="1800"/>
              <a:buChar char="●"/>
            </a:pPr>
            <a:r>
              <a:rPr lang="en"/>
              <a:t>Balance control</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p2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Next Class</a:t>
            </a:r>
            <a:endParaRPr/>
          </a:p>
        </p:txBody>
      </p:sp>
      <p:sp>
        <p:nvSpPr>
          <p:cNvPr id="415" name="Google Shape;415;p2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1800"/>
              <a:buNone/>
            </a:pPr>
            <a:r>
              <a:rPr lang="en"/>
              <a:t>Machine Learning</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6776</TotalTime>
  <Words>1124</Words>
  <Application>Microsoft Office PowerPoint</Application>
  <PresentationFormat>On-screen Show (16:9)</PresentationFormat>
  <Paragraphs>297</Paragraphs>
  <Slides>42</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Times New Roman</vt:lpstr>
      <vt:lpstr>Simple Light</vt:lpstr>
      <vt:lpstr>Introduction to Robotics CSE 461</vt:lpstr>
      <vt:lpstr>2nd order control system</vt:lpstr>
      <vt:lpstr>Effect of PID controller function</vt:lpstr>
      <vt:lpstr>Proportional works with football field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PID Controller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Effect of Controller Functions</vt:lpstr>
      <vt:lpstr>PowerPoint Presentation</vt:lpstr>
      <vt:lpstr>Generating PID parameters </vt:lpstr>
      <vt:lpstr>Advantages and Applications of PID control</vt:lpstr>
      <vt:lpstr>Next Class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Robotics CSE 461</dc:title>
  <dc:creator>HP</dc:creator>
  <cp:lastModifiedBy>HP</cp:lastModifiedBy>
  <cp:revision>12</cp:revision>
  <dcterms:modified xsi:type="dcterms:W3CDTF">2025-08-17T07:50:33Z</dcterms:modified>
</cp:coreProperties>
</file>