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80" r:id="rId6"/>
    <p:sldId id="260" r:id="rId7"/>
    <p:sldId id="261" r:id="rId8"/>
    <p:sldId id="262" r:id="rId9"/>
    <p:sldId id="263" r:id="rId10"/>
    <p:sldId id="264" r:id="rId11"/>
    <p:sldId id="281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8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g0hp0VDibZ7AoXcZLTuZkBjhIy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54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c710898294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c710898294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c710898294_0_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c710898294_0_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c710898294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c710898294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c710898294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c710898294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c710898294_0_3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c710898294_0_3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c710898294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2c710898294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c710898294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g2c710898294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c710898294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g2c710898294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c710898294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2c710898294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c710898294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c710898294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c710898294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c710898294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gi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gif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357104" y="1581154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>
              <a:buSzPct val="142857"/>
            </a:pPr>
            <a:r>
              <a:rPr lang="en-US" sz="4400" dirty="0">
                <a:latin typeface="Times New Roman"/>
                <a:ea typeface="Times New Roman"/>
                <a:cs typeface="Times New Roman"/>
                <a:sym typeface="Times New Roman"/>
              </a:rPr>
              <a:t>Introduction to Control System Theory</a:t>
            </a:r>
            <a:endParaRPr lang="en-US" sz="4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61" name="Google Shape;6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449"/>
            <a:ext cx="9144000" cy="513457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4"/>
          <p:cNvSpPr txBox="1">
            <a:spLocks noGrp="1"/>
          </p:cNvSpPr>
          <p:nvPr>
            <p:ph type="title"/>
          </p:nvPr>
        </p:nvSpPr>
        <p:spPr>
          <a:xfrm>
            <a:off x="272875" y="3424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lt1"/>
                </a:solidFill>
              </a:rPr>
              <a:t>Control Theory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c710898294_0_29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Theory</a:t>
            </a:r>
            <a:endParaRPr/>
          </a:p>
        </p:txBody>
      </p:sp>
      <p:sp>
        <p:nvSpPr>
          <p:cNvPr id="68" name="Google Shape;68;g2c710898294_0_29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Definition: Control theory is a branch of engineering and mathematics that deals with the </a:t>
            </a:r>
            <a:r>
              <a:rPr lang="en" b="1"/>
              <a:t>behavior of dynamical systems</a:t>
            </a:r>
            <a:r>
              <a:rPr lang="en"/>
              <a:t>. It focuses on designing systems that can control the behavior of other systems to produce specific outputs.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theory develops </a:t>
            </a:r>
            <a:r>
              <a:rPr lang="en" b="1"/>
              <a:t>mathematical models </a:t>
            </a:r>
            <a:r>
              <a:rPr lang="en"/>
              <a:t>and </a:t>
            </a:r>
            <a:r>
              <a:rPr lang="en" b="1"/>
              <a:t>algorithms </a:t>
            </a:r>
            <a:r>
              <a:rPr lang="en"/>
              <a:t>to manipulate the behavior of systems, ensuring </a:t>
            </a:r>
            <a:r>
              <a:rPr lang="en" b="1"/>
              <a:t>they operate as desired.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Control System</a:t>
            </a:r>
            <a:endParaRPr/>
          </a:p>
        </p:txBody>
      </p:sp>
      <p:pic>
        <p:nvPicPr>
          <p:cNvPr id="74" name="Google Shape;7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7025" y="1462988"/>
            <a:ext cx="4559374" cy="23480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6"/>
          <p:cNvSpPr/>
          <p:nvPr/>
        </p:nvSpPr>
        <p:spPr>
          <a:xfrm>
            <a:off x="3834500" y="1273575"/>
            <a:ext cx="2047800" cy="264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2951500" y="2049975"/>
            <a:ext cx="1737000" cy="1096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6"/>
          <p:cNvCxnSpPr>
            <a:stCxn id="76" idx="3"/>
            <a:endCxn id="75" idx="3"/>
          </p:cNvCxnSpPr>
          <p:nvPr/>
        </p:nvCxnSpPr>
        <p:spPr>
          <a:xfrm>
            <a:off x="4688500" y="2598225"/>
            <a:ext cx="1193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8" name="Google Shape;78;p6"/>
          <p:cNvSpPr txBox="1"/>
          <p:nvPr/>
        </p:nvSpPr>
        <p:spPr>
          <a:xfrm>
            <a:off x="991000" y="2417575"/>
            <a:ext cx="138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rad/sec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" name="Google Shape;79;p6"/>
          <p:cNvCxnSpPr>
            <a:stCxn id="78" idx="3"/>
            <a:endCxn id="76" idx="1"/>
          </p:cNvCxnSpPr>
          <p:nvPr/>
        </p:nvCxnSpPr>
        <p:spPr>
          <a:xfrm rot="10800000" flipH="1">
            <a:off x="2378800" y="2598175"/>
            <a:ext cx="572700" cy="1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0" name="Google Shape;80;p6"/>
          <p:cNvSpPr txBox="1"/>
          <p:nvPr/>
        </p:nvSpPr>
        <p:spPr>
          <a:xfrm>
            <a:off x="7276800" y="3811050"/>
            <a:ext cx="138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2.2 rad/sec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387"/>
            <a:ext cx="9144000" cy="467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21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400" y="1737538"/>
            <a:ext cx="6509199" cy="16684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7"/>
          <p:cNvSpPr/>
          <p:nvPr/>
        </p:nvSpPr>
        <p:spPr>
          <a:xfrm>
            <a:off x="5134925" y="1263875"/>
            <a:ext cx="667800" cy="97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5134925" y="1263875"/>
            <a:ext cx="667800" cy="97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400" y="1737538"/>
            <a:ext cx="6509199" cy="16684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/>
          <p:cNvSpPr/>
          <p:nvPr/>
        </p:nvSpPr>
        <p:spPr>
          <a:xfrm>
            <a:off x="5134925" y="1263875"/>
            <a:ext cx="667800" cy="97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1185" y="1333261"/>
            <a:ext cx="1486790" cy="86015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8"/>
          <p:cNvSpPr/>
          <p:nvPr/>
        </p:nvSpPr>
        <p:spPr>
          <a:xfrm>
            <a:off x="5134925" y="1263875"/>
            <a:ext cx="667800" cy="97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400" y="1737538"/>
            <a:ext cx="6509199" cy="166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"/>
          <p:cNvSpPr/>
          <p:nvPr/>
        </p:nvSpPr>
        <p:spPr>
          <a:xfrm>
            <a:off x="5134925" y="1263875"/>
            <a:ext cx="667800" cy="97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9"/>
          <p:cNvSpPr txBox="1"/>
          <p:nvPr/>
        </p:nvSpPr>
        <p:spPr>
          <a:xfrm>
            <a:off x="1563625" y="3716300"/>
            <a:ext cx="80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3 rad/s</a:t>
            </a:r>
            <a:endParaRPr sz="1400" b="0" i="0" u="none" strike="noStrike" cap="non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9"/>
          <p:cNvSpPr txBox="1"/>
          <p:nvPr/>
        </p:nvSpPr>
        <p:spPr>
          <a:xfrm>
            <a:off x="7160325" y="3716300"/>
            <a:ext cx="107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2.2 rad/s</a:t>
            </a:r>
            <a:endParaRPr sz="1400" b="0" i="0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5134925" y="1263875"/>
            <a:ext cx="667800" cy="97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1185" y="1333261"/>
            <a:ext cx="1486790" cy="86015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"/>
          <p:cNvSpPr/>
          <p:nvPr/>
        </p:nvSpPr>
        <p:spPr>
          <a:xfrm>
            <a:off x="5134925" y="1263875"/>
            <a:ext cx="667800" cy="97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400" y="1737538"/>
            <a:ext cx="6509199" cy="166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0"/>
          <p:cNvSpPr txBox="1"/>
          <p:nvPr/>
        </p:nvSpPr>
        <p:spPr>
          <a:xfrm>
            <a:off x="1485950" y="3049550"/>
            <a:ext cx="1077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Required Velocity</a:t>
            </a:r>
            <a:endParaRPr sz="1400" b="0" i="0" u="none" strike="noStrike" cap="none">
              <a:solidFill>
                <a:srgbClr val="3876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0"/>
          <p:cNvSpPr txBox="1"/>
          <p:nvPr/>
        </p:nvSpPr>
        <p:spPr>
          <a:xfrm>
            <a:off x="7160325" y="3049550"/>
            <a:ext cx="1077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Velocity</a:t>
            </a:r>
            <a:endParaRPr sz="1400" b="0" i="0" u="none" strike="noStrike" cap="none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4" name="Google Shape;114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1185" y="1333261"/>
            <a:ext cx="1486790" cy="860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0"/>
          <p:cNvSpPr/>
          <p:nvPr/>
        </p:nvSpPr>
        <p:spPr>
          <a:xfrm>
            <a:off x="5134925" y="1263875"/>
            <a:ext cx="667800" cy="97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0"/>
          <p:cNvSpPr txBox="1"/>
          <p:nvPr/>
        </p:nvSpPr>
        <p:spPr>
          <a:xfrm>
            <a:off x="1563625" y="3716300"/>
            <a:ext cx="80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3 rad/s</a:t>
            </a:r>
            <a:endParaRPr sz="1400" b="0" i="0" u="none" strike="noStrike" cap="non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0"/>
          <p:cNvSpPr txBox="1"/>
          <p:nvPr/>
        </p:nvSpPr>
        <p:spPr>
          <a:xfrm>
            <a:off x="7160325" y="3716300"/>
            <a:ext cx="107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2.2 rad/s</a:t>
            </a:r>
            <a:endParaRPr sz="1400" b="0" i="0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Open Loop Control</a:t>
            </a:r>
            <a:endParaRPr/>
          </a:p>
        </p:txBody>
      </p:sp>
      <p:pic>
        <p:nvPicPr>
          <p:cNvPr id="123" name="Google Shape;123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400" y="1737538"/>
            <a:ext cx="6509199" cy="166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1"/>
          <p:cNvSpPr txBox="1"/>
          <p:nvPr/>
        </p:nvSpPr>
        <p:spPr>
          <a:xfrm>
            <a:off x="1485950" y="3049550"/>
            <a:ext cx="1077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Required Velocity</a:t>
            </a:r>
            <a:endParaRPr sz="1400" b="0" i="0" u="none" strike="noStrike" cap="none">
              <a:solidFill>
                <a:srgbClr val="3876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1"/>
          <p:cNvSpPr txBox="1"/>
          <p:nvPr/>
        </p:nvSpPr>
        <p:spPr>
          <a:xfrm>
            <a:off x="7160325" y="3049550"/>
            <a:ext cx="1077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Velocity</a:t>
            </a:r>
            <a:endParaRPr sz="1400" b="0" i="0" u="none" strike="noStrike" cap="none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" name="Google Shape;126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1185" y="1333261"/>
            <a:ext cx="1486790" cy="86015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1"/>
          <p:cNvSpPr/>
          <p:nvPr/>
        </p:nvSpPr>
        <p:spPr>
          <a:xfrm>
            <a:off x="5134925" y="1263875"/>
            <a:ext cx="667800" cy="97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1"/>
          <p:cNvSpPr txBox="1"/>
          <p:nvPr/>
        </p:nvSpPr>
        <p:spPr>
          <a:xfrm>
            <a:off x="1563625" y="3716300"/>
            <a:ext cx="80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3 rad/s</a:t>
            </a:r>
            <a:endParaRPr sz="1400" b="0" i="0" u="none" strike="noStrike" cap="non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1"/>
          <p:cNvSpPr txBox="1"/>
          <p:nvPr/>
        </p:nvSpPr>
        <p:spPr>
          <a:xfrm>
            <a:off x="7160325" y="3716300"/>
            <a:ext cx="107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2.2 rad/s</a:t>
            </a:r>
            <a:endParaRPr sz="1400" b="0" i="0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5747"/>
            <a:ext cx="9144000" cy="449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886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Let’s measure the actual angular velocities.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can compensate for changes in load by feeding back some information.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5" name="Google Shape;13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85113" y="2777825"/>
            <a:ext cx="2173775" cy="217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Closed Loop Control</a:t>
            </a:r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142" name="Google Shape;14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4500" y="1609725"/>
            <a:ext cx="57150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86793" y="3408625"/>
            <a:ext cx="970400" cy="97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40960" y="630961"/>
            <a:ext cx="1486790" cy="86015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3"/>
          <p:cNvSpPr/>
          <p:nvPr/>
        </p:nvSpPr>
        <p:spPr>
          <a:xfrm>
            <a:off x="4484700" y="561575"/>
            <a:ext cx="667800" cy="97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Feedback Diagram</a:t>
            </a:r>
            <a:endParaRPr/>
          </a:p>
        </p:txBody>
      </p:sp>
      <p:pic>
        <p:nvPicPr>
          <p:cNvPr id="151" name="Google Shape;15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650" y="1239800"/>
            <a:ext cx="7026700" cy="304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55825" y="721175"/>
            <a:ext cx="3894475" cy="304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875" y="1453300"/>
            <a:ext cx="5181350" cy="224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c710898294_0_3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</a:t>
            </a:r>
            <a:endParaRPr/>
          </a:p>
        </p:txBody>
      </p:sp>
      <p:sp>
        <p:nvSpPr>
          <p:cNvPr id="163" name="Google Shape;163;g2c710898294_0_36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Input:</a:t>
            </a:r>
            <a:r>
              <a:rPr lang="en"/>
              <a:t> The signal or commands applied to the system.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Output</a:t>
            </a:r>
            <a:r>
              <a:rPr lang="en"/>
              <a:t>: The response of the system to the input signals.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Controller</a:t>
            </a:r>
            <a:r>
              <a:rPr lang="en"/>
              <a:t>: The component responsible for generating control signals based on the system's output and desired behavior.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Feedback</a:t>
            </a:r>
            <a:r>
              <a:rPr lang="en"/>
              <a:t>: Information about the system's output that is fed back to the controller to adjust the control signals.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c710898294_0_3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Theoretical Concepts</a:t>
            </a:r>
            <a:endParaRPr/>
          </a:p>
        </p:txBody>
      </p:sp>
      <p:sp>
        <p:nvSpPr>
          <p:cNvPr id="169" name="Google Shape;169;g2c710898294_0_36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Feedback</a:t>
            </a:r>
            <a:r>
              <a:rPr lang="en"/>
              <a:t>:  Feedback involves using information about the output of a system to adjust the control input, thereby regulating the system's behavior.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Ex. Thermostat, measures the current room temperature(feedback), compares it to the desired temperature set by user, adjusts the heating or cooling.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Stability</a:t>
            </a:r>
            <a:r>
              <a:rPr lang="en"/>
              <a:t>: Stability ensures that the system's response remains bounded over time, even in the presence of disturbances or changes in operating conditions.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Ex. balancing a pencil on the tip of a finger. Moving your finger slightly, the pencil wobbles but eventually return to its position. The pencil returns to equilibrium despite disturbances illustrates stability.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c710898294_0_37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Theoretical Concepts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2c710898294_0_37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057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b="1"/>
              <a:t>Transient Response:</a:t>
            </a:r>
            <a:r>
              <a:rPr lang="en"/>
              <a:t> refers to how a system behaves during the transition from one state to another after a change in inputs.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Ex. Turning on a light switch, the time it takes for the light to reach its steady state and any oscillations or overshoot during this transition represent the transient response of the lighting system.</a:t>
            </a:r>
            <a:endParaRPr/>
          </a:p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b="1"/>
              <a:t>Steady-State Response:</a:t>
            </a:r>
            <a:r>
              <a:rPr lang="en"/>
              <a:t>describes the behavior of the system once it has settled into a stable operating condition.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Ex. In an elevator system, when you press a floor button, the elevator initially accelerates, then moves at a constant speed, and finally decelerates as it reaches the desired floor.</a:t>
            </a:r>
            <a:endParaRPr/>
          </a:p>
        </p:txBody>
      </p:sp>
      <p:pic>
        <p:nvPicPr>
          <p:cNvPr id="176" name="Google Shape;176;g2c710898294_0_3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42575" y="1152475"/>
            <a:ext cx="3189725" cy="253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g2c710898294_0_3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02870" y="610625"/>
            <a:ext cx="4538273" cy="360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2c710898294_0_380"/>
          <p:cNvSpPr txBox="1"/>
          <p:nvPr/>
        </p:nvSpPr>
        <p:spPr>
          <a:xfrm>
            <a:off x="6907325" y="2999200"/>
            <a:ext cx="16323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FF"/>
                </a:solidFill>
              </a:rPr>
              <a:t>time domain</a:t>
            </a:r>
            <a:endParaRPr sz="1800"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754"/>
            <a:ext cx="9144000" cy="4672117"/>
          </a:xfrm>
          <a:prstGeom prst="rect">
            <a:avLst/>
          </a:prstGeom>
        </p:spPr>
      </p:pic>
      <p:pic>
        <p:nvPicPr>
          <p:cNvPr id="1026" name="Picture 2" descr="What Is A PID Controller And How It Works? - PLCynergy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9640" y="1391524"/>
            <a:ext cx="4337050" cy="3450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1275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c710898294_0_1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Time Domain to Frequency Domain</a:t>
            </a:r>
            <a:endParaRPr/>
          </a:p>
        </p:txBody>
      </p:sp>
      <p:pic>
        <p:nvPicPr>
          <p:cNvPr id="188" name="Google Shape;188;g2c710898294_0_1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5400" y="1205375"/>
            <a:ext cx="3938125" cy="39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c710898294_0_177"/>
          <p:cNvSpPr/>
          <p:nvPr/>
        </p:nvSpPr>
        <p:spPr>
          <a:xfrm>
            <a:off x="2842350" y="2285500"/>
            <a:ext cx="2929500" cy="6261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2c710898294_0_177"/>
          <p:cNvSpPr txBox="1"/>
          <p:nvPr/>
        </p:nvSpPr>
        <p:spPr>
          <a:xfrm>
            <a:off x="1813625" y="2344600"/>
            <a:ext cx="950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x(t)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2c710898294_0_177"/>
          <p:cNvSpPr txBox="1"/>
          <p:nvPr/>
        </p:nvSpPr>
        <p:spPr>
          <a:xfrm>
            <a:off x="6125550" y="2317800"/>
            <a:ext cx="12747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x(s)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2c710898294_0_177"/>
          <p:cNvSpPr txBox="1"/>
          <p:nvPr/>
        </p:nvSpPr>
        <p:spPr>
          <a:xfrm>
            <a:off x="3416850" y="3001050"/>
            <a:ext cx="2310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Laplace Transform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c710898294_0_2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Block Diagram</a:t>
            </a:r>
            <a:endParaRPr/>
          </a:p>
        </p:txBody>
      </p:sp>
      <p:sp>
        <p:nvSpPr>
          <p:cNvPr id="202" name="Google Shape;202;g2c710898294_0_229"/>
          <p:cNvSpPr/>
          <p:nvPr/>
        </p:nvSpPr>
        <p:spPr>
          <a:xfrm>
            <a:off x="3766550" y="2205225"/>
            <a:ext cx="1125600" cy="689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G(t)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2c710898294_0_229"/>
          <p:cNvSpPr/>
          <p:nvPr/>
        </p:nvSpPr>
        <p:spPr>
          <a:xfrm>
            <a:off x="2922250" y="2500050"/>
            <a:ext cx="669600" cy="143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2c710898294_0_229"/>
          <p:cNvSpPr txBox="1"/>
          <p:nvPr/>
        </p:nvSpPr>
        <p:spPr>
          <a:xfrm>
            <a:off x="1777075" y="2349675"/>
            <a:ext cx="1019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X(t)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g2c710898294_0_229"/>
          <p:cNvSpPr txBox="1"/>
          <p:nvPr/>
        </p:nvSpPr>
        <p:spPr>
          <a:xfrm>
            <a:off x="5862525" y="2371650"/>
            <a:ext cx="1019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Y(t)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g2c710898294_0_229"/>
          <p:cNvSpPr/>
          <p:nvPr/>
        </p:nvSpPr>
        <p:spPr>
          <a:xfrm>
            <a:off x="5066850" y="2478075"/>
            <a:ext cx="669600" cy="143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2c710898294_0_229"/>
          <p:cNvSpPr txBox="1"/>
          <p:nvPr/>
        </p:nvSpPr>
        <p:spPr>
          <a:xfrm>
            <a:off x="2165375" y="3515375"/>
            <a:ext cx="3804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Y(t)  = X(t)*G(t)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Y(t)/X(t) = G(t)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Gain = Y(t)/X(t)= Output/Input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c710898294_0_2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Transfer Function</a:t>
            </a:r>
            <a:endParaRPr/>
          </a:p>
        </p:txBody>
      </p:sp>
      <p:pic>
        <p:nvPicPr>
          <p:cNvPr id="213" name="Google Shape;213;g2c710898294_0_2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1963" y="1931925"/>
            <a:ext cx="8220075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2c710898294_0_239"/>
          <p:cNvSpPr/>
          <p:nvPr/>
        </p:nvSpPr>
        <p:spPr>
          <a:xfrm>
            <a:off x="3733000" y="1083813"/>
            <a:ext cx="1125600" cy="689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2c710898294_0_239"/>
          <p:cNvSpPr/>
          <p:nvPr/>
        </p:nvSpPr>
        <p:spPr>
          <a:xfrm>
            <a:off x="2888700" y="1378638"/>
            <a:ext cx="669600" cy="143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2c710898294_0_239"/>
          <p:cNvSpPr txBox="1"/>
          <p:nvPr/>
        </p:nvSpPr>
        <p:spPr>
          <a:xfrm>
            <a:off x="1743525" y="1228263"/>
            <a:ext cx="1019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X(s)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g2c710898294_0_239"/>
          <p:cNvSpPr txBox="1"/>
          <p:nvPr/>
        </p:nvSpPr>
        <p:spPr>
          <a:xfrm>
            <a:off x="5828975" y="1250238"/>
            <a:ext cx="1019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Y(s)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g2c710898294_0_239"/>
          <p:cNvSpPr/>
          <p:nvPr/>
        </p:nvSpPr>
        <p:spPr>
          <a:xfrm>
            <a:off x="5033300" y="1356663"/>
            <a:ext cx="669600" cy="143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g2c710898294_0_2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91875"/>
            <a:ext cx="8839204" cy="2291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c710898294_0_6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10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Class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 Diagram Solving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7226</TotalTime>
  <Words>475</Words>
  <Application>Microsoft Office PowerPoint</Application>
  <PresentationFormat>On-screen Show (16:9)</PresentationFormat>
  <Paragraphs>62</Paragraphs>
  <Slides>27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Times New Roman</vt:lpstr>
      <vt:lpstr>Simple Light</vt:lpstr>
      <vt:lpstr>Introduction to Control System Theory</vt:lpstr>
      <vt:lpstr>Control Theory </vt:lpstr>
      <vt:lpstr>Control Theory</vt:lpstr>
      <vt:lpstr>Control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Open Loop Control</vt:lpstr>
      <vt:lpstr>PowerPoint Presentation</vt:lpstr>
      <vt:lpstr>PowerPoint Presentation</vt:lpstr>
      <vt:lpstr>Closed Loop Control</vt:lpstr>
      <vt:lpstr>Feedback Diagram</vt:lpstr>
      <vt:lpstr>PowerPoint Presentation</vt:lpstr>
      <vt:lpstr>Components</vt:lpstr>
      <vt:lpstr>Theoretical Concepts</vt:lpstr>
      <vt:lpstr>Theoretical Concepts </vt:lpstr>
      <vt:lpstr>PowerPoint Presentation</vt:lpstr>
      <vt:lpstr>PowerPoint Presentation</vt:lpstr>
      <vt:lpstr>Time Domain to Frequency Domain</vt:lpstr>
      <vt:lpstr>PowerPoint Presentation</vt:lpstr>
      <vt:lpstr>Block Diagram</vt:lpstr>
      <vt:lpstr>Transfer Function</vt:lpstr>
      <vt:lpstr>PowerPoint Presentation</vt:lpstr>
      <vt:lpstr>Next Class Block Diagram Solving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Robotics CSE 461</dc:title>
  <cp:lastModifiedBy>HP</cp:lastModifiedBy>
  <cp:revision>4</cp:revision>
  <dcterms:modified xsi:type="dcterms:W3CDTF">2024-10-21T16:21:54Z</dcterms:modified>
</cp:coreProperties>
</file>