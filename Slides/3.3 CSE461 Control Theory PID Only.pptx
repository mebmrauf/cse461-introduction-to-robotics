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91" r:id="rId3"/>
    <p:sldId id="29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7" r:id="rId34"/>
    <p:sldId id="288" r:id="rId35"/>
    <p:sldId id="289" r:id="rId36"/>
    <p:sldId id="295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6MpGq5T1t/A7TIvbbUzdh5UPH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caf2632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caf2632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caf2632e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caf2632e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caf2632e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caf2632e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caf2632e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caf2632e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caf2632e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caf2632e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caf2632e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caf2632e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caf2632e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caf2632e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caf2632e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caf2632e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caf2632e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6caf2632e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caf2632e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6caf2632e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caf2632e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caf2632e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caf2632ea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caf2632ea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caf2632ea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caf2632ea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caf2632ea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caf2632ea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caf2632ea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6caf2632ea_3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caf2632ea_3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caf2632ea_3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6caf2632ea_3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6caf2632ea_3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caf2632ea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caf2632ea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6caf2632ea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6caf2632ea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6caf2632ea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6caf2632ea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caf2632ea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caf2632ea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6caf2632e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6caf2632e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6caf2632ea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6caf2632ea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6caf2632e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6caf2632e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6caf2632ea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6caf2632ea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6caf2632e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6caf2632e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c70e3cbe8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c70e3cbe86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c7146d54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c7146d54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c7146d54e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c7146d54e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Introduction to Robotics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100">
                <a:latin typeface="Times New Roman"/>
                <a:ea typeface="Times New Roman"/>
                <a:cs typeface="Times New Roman"/>
                <a:sym typeface="Times New Roman"/>
              </a:rPr>
              <a:t>CSE 461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46975" y="2834125"/>
            <a:ext cx="8978700" cy="13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Class Topic: Introduction to Control System Theory (PID)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Riad Ahmed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Lecturer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order control system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81100"/>
            <a:ext cx="8230313" cy="37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79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Effect of PID controller function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3" y="1457115"/>
            <a:ext cx="4244889" cy="2731589"/>
          </a:xfrm>
          <a:prstGeom prst="rect">
            <a:avLst/>
          </a:prstGeom>
        </p:spPr>
      </p:pic>
      <p:pic>
        <p:nvPicPr>
          <p:cNvPr id="1026" name="Picture 2" descr="What Is A PID Controller And How It Works? - PLCynergy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937" y="1344267"/>
            <a:ext cx="4346247" cy="345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32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caf2632ea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26caf2632ea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g26caf2632e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725" y="97375"/>
            <a:ext cx="8073800" cy="50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566528" y="436662"/>
            <a:ext cx="4132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https://www.youtube.com/watch?v=wkfEZmsQqiA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26caf2632e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04" y="48725"/>
            <a:ext cx="8073723" cy="50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26caf2632ea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75" y="97441"/>
            <a:ext cx="7917798" cy="494862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26caf2632ea_0_12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26caf2632e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00" y="97441"/>
            <a:ext cx="7917798" cy="494862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6caf2632ea_0_17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Error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26caf2632ea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25" y="53325"/>
            <a:ext cx="7900426" cy="49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26caf2632ea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5375" y="50048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6caf2632ea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26caf2632ea_0_2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2" name="Google Shape;92;g26caf2632ea_0_2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3" name="Google Shape;93;g26caf2632ea_0_2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Gain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4" name="Google Shape;94;g26caf2632ea_0_2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5" name="Google Shape;95;g26caf2632ea_0_2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6caf2632ea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6caf2632ea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6caf2632ea_0_3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3" name="Google Shape;103;g26caf2632ea_0_3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4" name="Google Shape;104;g26caf2632ea_0_3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5" name="Google Shape;105;g26caf2632ea_0_3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6" name="Google Shape;106;g26caf2632ea_0_3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26caf2632ea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6caf2632ea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6caf2632ea_0_4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4" name="Google Shape;114;g26caf2632ea_0_4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5" name="Google Shape;115;g26caf2632ea_0_4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6" name="Google Shape;116;g26caf2632ea_0_4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7" name="Google Shape;117;g26caf2632ea_0_4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8" name="Google Shape;118;g26caf2632ea_0_46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60 * 1 = 60 rpm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26caf2632ea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6caf2632ea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6caf2632ea_0_68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6" name="Google Shape;126;g26caf2632ea_0_68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7" name="Google Shape;127;g26caf2632ea_0_68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8" name="Google Shape;128;g26caf2632ea_0_68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9" name="Google Shape;129;g26caf2632ea_0_68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0" name="Google Shape;130;g26caf2632ea_0_68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60 * 1 = 60 rpm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31" name="Google Shape;131;g26caf2632ea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26caf2632ea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6caf2632ea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26caf2632ea_0_8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9" name="Google Shape;139;g26caf2632ea_0_8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40" name="Google Shape;140;g26caf2632ea_0_80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2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41" name="Google Shape;141;g26caf2632ea_0_8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2" name="Google Shape;142;g26caf2632ea_0_8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43" name="Google Shape;143;g26caf2632ea_0_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26caf2632ea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5375" y="492863"/>
            <a:ext cx="8073800" cy="50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26caf2632ea_0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26caf2632ea_0_92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1" name="Google Shape;151;g26caf2632ea_0_92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2" name="Google Shape;152;g26caf2632ea_0_92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2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3" name="Google Shape;153;g26caf2632ea_0_92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4" name="Google Shape;154;g26caf2632ea_0_92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5" name="Google Shape;155;g26caf2632ea_0_92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60 * 2 = 120 rpm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56" name="Google Shape;156;g26caf2632ea_0_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26caf2632ea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04075" y="551800"/>
            <a:ext cx="7741798" cy="483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26caf2632ea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6caf2632ea_0_104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4" name="Google Shape;164;g26caf2632ea_0_104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5" name="Google Shape;165;g26caf2632ea_0_104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2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6" name="Google Shape;166;g26caf2632ea_0_104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7" name="Google Shape;167;g26caf2632ea_0_104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8" name="Google Shape;168;g26caf2632ea_0_104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- 5m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55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55 * 2 = 110 rpm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69" name="Google Shape;169;g26caf2632ea_0_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26caf2632ea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1450" y="880663"/>
            <a:ext cx="82296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6caf2632ea_0_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6caf2632ea_0_117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7" name="Google Shape;177;g26caf2632ea_0_117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8" name="Google Shape;178;g26caf2632ea_0_117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2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9" name="Google Shape;179;g26caf2632ea_0_117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0" name="Google Shape;180;g26caf2632ea_0_117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1" name="Google Shape;181;g26caf2632ea_0_117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- 10m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50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50 * 2 = 100 rpm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82" name="Google Shape;182;g26caf2632ea_0_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6caf2632ea_0_117"/>
          <p:cNvSpPr txBox="1"/>
          <p:nvPr/>
        </p:nvSpPr>
        <p:spPr>
          <a:xfrm>
            <a:off x="164400" y="3661525"/>
            <a:ext cx="563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10m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26caf2632ea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26caf2632ea_0_131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0" name="Google Shape;190;g26caf2632ea_0_131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1" name="Google Shape;191;g26caf2632ea_0_131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2" name="Google Shape;192;g26caf2632ea_0_131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3" name="Google Shape;193;g26caf2632ea_0_131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94" name="Google Shape;194;g26caf2632ea_0_131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95" name="Google Shape;195;g26caf2632ea_0_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26caf2632ea_0_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26caf2632ea_0_131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26caf2632ea_3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6caf2632ea_3_2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4" name="Google Shape;204;g26caf2632ea_3_2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5" name="Google Shape;205;g26caf2632ea_3_2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6" name="Google Shape;206;g26caf2632ea_3_2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7" name="Google Shape;207;g26caf2632ea_3_2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08" name="Google Shape;208;g26caf2632ea_3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6caf2632ea_3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188" y="1590029"/>
            <a:ext cx="2129062" cy="33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26caf2632ea_3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6caf2632ea_3_3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6" name="Google Shape;216;g26caf2632ea_3_3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7" name="Google Shape;217;g26caf2632ea_3_30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8" name="Google Shape;218;g26caf2632ea_3_3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19" name="Google Shape;219;g26caf2632ea_3_3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20" name="Google Shape;220;g26caf2632ea_3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26caf2632ea_3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188" y="1590029"/>
            <a:ext cx="2129062" cy="33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26caf2632ea_3_3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- 60m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0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0 * 10 = 0 rpm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g26caf2632ea_3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6caf2632ea_3_17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9" name="Google Shape;229;g26caf2632ea_3_17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0" name="Google Shape;230;g26caf2632ea_3_17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100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1" name="Google Shape;231;g26caf2632ea_3_17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2" name="Google Shape;232;g26caf2632ea_3_17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33" name="Google Shape;233;g26caf2632ea_3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26caf2632ea_3_17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Desired Altitude - Actual Altitude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60m - 59m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= 1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 *100  = 100 rpm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235" name="Google Shape;235;g26caf2632ea_3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111" y="1836650"/>
            <a:ext cx="2091236" cy="31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26caf2632ea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6caf2632ea_0_146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2" name="Google Shape;242;g26caf2632ea_0_146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3" name="Google Shape;243;g26caf2632ea_0_146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4" name="Google Shape;244;g26caf2632ea_0_146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5" name="Google Shape;245;g26caf2632ea_0_146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6" name="Google Shape;246;g26caf2632ea_0_146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247" name="Google Shape;247;g26caf2632ea_0_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26caf2632ea_0_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26caf2632ea_0_146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50" name="Google Shape;250;g26caf2632ea_0_146"/>
          <p:cNvSpPr txBox="1"/>
          <p:nvPr/>
        </p:nvSpPr>
        <p:spPr>
          <a:xfrm>
            <a:off x="3419600" y="3673250"/>
            <a:ext cx="31236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 = </a:t>
            </a:r>
            <a:r>
              <a:rPr lang="en" sz="1600" b="1">
                <a:solidFill>
                  <a:srgbClr val="0000FF"/>
                </a:solidFill>
              </a:rPr>
              <a:t>Kp</a:t>
            </a:r>
            <a:r>
              <a:rPr lang="en" sz="1600" b="1">
                <a:solidFill>
                  <a:schemeClr val="dk1"/>
                </a:solidFill>
              </a:rPr>
              <a:t> * </a:t>
            </a:r>
            <a:r>
              <a:rPr lang="en" sz="1600" b="1">
                <a:solidFill>
                  <a:srgbClr val="FF0000"/>
                </a:solidFill>
              </a:rPr>
              <a:t>error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26caf2632ea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6caf2632ea_0_16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7" name="Google Shape;257;g26caf2632ea_0_16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8" name="Google Shape;258;g26caf2632ea_0_160"/>
          <p:cNvSpPr txBox="1"/>
          <p:nvPr/>
        </p:nvSpPr>
        <p:spPr>
          <a:xfrm>
            <a:off x="3274100" y="304875"/>
            <a:ext cx="8691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10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9" name="Google Shape;259;g26caf2632ea_0_16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60" name="Google Shape;260;g26caf2632ea_0_16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1" name="Google Shape;261;g26caf2632ea_0_16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262" name="Google Shape;262;g26caf2632ea_0_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6caf2632ea_0_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26caf2632ea_0_160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65" name="Google Shape;265;g26caf2632ea_0_160"/>
          <p:cNvSpPr txBox="1"/>
          <p:nvPr/>
        </p:nvSpPr>
        <p:spPr>
          <a:xfrm>
            <a:off x="3419600" y="3673250"/>
            <a:ext cx="3123600" cy="7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 = </a:t>
            </a:r>
            <a:r>
              <a:rPr lang="en" sz="1600" b="1">
                <a:solidFill>
                  <a:srgbClr val="0000FF"/>
                </a:solidFill>
              </a:rPr>
              <a:t>Kp</a:t>
            </a:r>
            <a:r>
              <a:rPr lang="en" sz="1600" b="1">
                <a:solidFill>
                  <a:schemeClr val="dk1"/>
                </a:solidFill>
              </a:rPr>
              <a:t> * </a:t>
            </a:r>
            <a:r>
              <a:rPr lang="en" sz="1600" b="1">
                <a:solidFill>
                  <a:srgbClr val="FF0000"/>
                </a:solidFill>
              </a:rPr>
              <a:t>error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266" name="Google Shape;266;g26caf2632ea_0_160"/>
          <p:cNvSpPr txBox="1"/>
          <p:nvPr/>
        </p:nvSpPr>
        <p:spPr>
          <a:xfrm>
            <a:off x="3501800" y="4154475"/>
            <a:ext cx="3123600" cy="39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Proportional Control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26caf2632ea_3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99" y="1249476"/>
            <a:ext cx="3997400" cy="24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26caf2632ea_3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849" y="1224489"/>
            <a:ext cx="4190750" cy="25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6caf2632ea_3_42"/>
          <p:cNvSpPr txBox="1"/>
          <p:nvPr/>
        </p:nvSpPr>
        <p:spPr>
          <a:xfrm>
            <a:off x="3010200" y="361425"/>
            <a:ext cx="3123600" cy="39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Proportional Control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g26caf2632ea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26caf2632ea_1_15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80" name="Google Shape;280;g26caf2632ea_1_15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81" name="Google Shape;281;g26caf2632ea_1_15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Ki*e + Kp * ∫e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82" name="Google Shape;282;g26caf2632ea_1_15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3" name="Google Shape;283;g26caf2632ea_1_15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84" name="Google Shape;284;g26caf2632ea_1_15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285" name="Google Shape;285;g26caf2632ea_1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26caf2632ea_1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6caf2632ea_1_15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26caf2632e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6caf2632ea_1_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4" name="Google Shape;294;g26caf2632ea_1_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5" name="Google Shape;295;g26caf2632ea_1_0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Ki*e + Kp * ∫e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6" name="Google Shape;296;g26caf2632ea_1_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7" name="Google Shape;297;g26caf2632ea_1_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8" name="Google Shape;298;g26caf2632ea_1_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299" name="Google Shape;299;g26caf2632ea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26caf2632ea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26caf2632ea_1_0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02" name="Google Shape;302;g26caf2632ea_1_0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 = </a:t>
            </a:r>
            <a:r>
              <a:rPr lang="en" sz="1600" b="1">
                <a:solidFill>
                  <a:srgbClr val="0000FF"/>
                </a:solidFill>
              </a:rPr>
              <a:t>Kp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error </a:t>
            </a:r>
            <a:r>
              <a:rPr lang="en" sz="1600" b="1">
                <a:solidFill>
                  <a:schemeClr val="dk1"/>
                </a:solidFill>
              </a:rPr>
              <a:t>+ </a:t>
            </a:r>
            <a:r>
              <a:rPr lang="en" sz="1600" b="1">
                <a:solidFill>
                  <a:srgbClr val="351C75"/>
                </a:solidFill>
              </a:rPr>
              <a:t>Ki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(error1 + error2 + error3)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26caf2632ea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26caf2632ea_1_29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9" name="Google Shape;309;g26caf2632ea_1_29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0" name="Google Shape;310;g26caf2632ea_1_29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Ki*e + Kp * ∫e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1" name="Google Shape;311;g26caf2632ea_1_29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12" name="Google Shape;312;g26caf2632ea_1_29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3" name="Google Shape;313;g26caf2632ea_1_29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314" name="Google Shape;314;g26caf2632ea_1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26caf2632ea_1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26caf2632ea_1_29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17" name="Google Shape;317;g26caf2632ea_1_29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 = </a:t>
            </a:r>
            <a:r>
              <a:rPr lang="en" sz="1600" b="1">
                <a:solidFill>
                  <a:srgbClr val="0000FF"/>
                </a:solidFill>
              </a:rPr>
              <a:t>Kp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error </a:t>
            </a:r>
            <a:r>
              <a:rPr lang="en" sz="1600" b="1">
                <a:solidFill>
                  <a:schemeClr val="dk1"/>
                </a:solidFill>
              </a:rPr>
              <a:t>+ </a:t>
            </a:r>
            <a:r>
              <a:rPr lang="en" sz="1600" b="1">
                <a:solidFill>
                  <a:srgbClr val="351C75"/>
                </a:solidFill>
              </a:rPr>
              <a:t>Ki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(error1 + error2 + error3)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318" name="Google Shape;318;g26caf2632ea_1_29"/>
          <p:cNvSpPr txBox="1"/>
          <p:nvPr/>
        </p:nvSpPr>
        <p:spPr>
          <a:xfrm>
            <a:off x="3501800" y="4154475"/>
            <a:ext cx="3194100" cy="39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Proportional - Integral Control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26caf2632ea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26caf2632ea_1_44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5" name="Google Shape;325;g26caf2632ea_1_44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6" name="Google Shape;326;g26caf2632ea_1_44"/>
          <p:cNvSpPr txBox="1"/>
          <p:nvPr/>
        </p:nvSpPr>
        <p:spPr>
          <a:xfrm>
            <a:off x="3285825" y="211125"/>
            <a:ext cx="869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Ki*e + Kp * ∫e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7" name="Google Shape;327;g26caf2632ea_1_44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28" name="Google Shape;328;g26caf2632ea_1_44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29" name="Google Shape;329;g26caf2632ea_1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26caf2632ea_1_44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331" name="Google Shape;331;g26caf2632ea_1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3100" y="2029225"/>
            <a:ext cx="4649099" cy="30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26caf2632ea_1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26caf2632ea_1_59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8" name="Google Shape;338;g26caf2632ea_1_59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9" name="Google Shape;339;g26caf2632ea_1_59"/>
          <p:cNvSpPr txBox="1"/>
          <p:nvPr/>
        </p:nvSpPr>
        <p:spPr>
          <a:xfrm>
            <a:off x="3313925" y="152425"/>
            <a:ext cx="7704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Ki*e + </a:t>
            </a:r>
            <a:endParaRPr sz="1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Kp * ∫e + Kd * ∇ e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40" name="Google Shape;340;g26caf2632ea_1_59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41" name="Google Shape;341;g26caf2632ea_1_59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42" name="Google Shape;342;g26caf2632ea_1_59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343" name="Google Shape;343;g26caf2632ea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26caf2632ea_1_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26caf2632ea_1_59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46" name="Google Shape;346;g26caf2632ea_1_59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 = </a:t>
            </a:r>
            <a:r>
              <a:rPr lang="en" sz="1600" b="1">
                <a:solidFill>
                  <a:srgbClr val="0000FF"/>
                </a:solidFill>
              </a:rPr>
              <a:t>Kp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error </a:t>
            </a:r>
            <a:r>
              <a:rPr lang="en" sz="1600" b="1">
                <a:solidFill>
                  <a:schemeClr val="dk1"/>
                </a:solidFill>
              </a:rPr>
              <a:t>+ </a:t>
            </a:r>
            <a:r>
              <a:rPr lang="en" sz="1600" b="1">
                <a:solidFill>
                  <a:srgbClr val="351C75"/>
                </a:solidFill>
              </a:rPr>
              <a:t>Ki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(error1 + error2 + error3) + Kd * ( error3- error 2)</a:t>
            </a:r>
            <a:endParaRPr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26caf2632ea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75" y="-1268225"/>
            <a:ext cx="7386450" cy="461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26caf2632ea_2_0"/>
          <p:cNvSpPr txBox="1"/>
          <p:nvPr/>
        </p:nvSpPr>
        <p:spPr>
          <a:xfrm>
            <a:off x="1043175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Desired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3" name="Google Shape;353;g26caf2632ea_2_0"/>
          <p:cNvSpPr txBox="1"/>
          <p:nvPr/>
        </p:nvSpPr>
        <p:spPr>
          <a:xfrm>
            <a:off x="6268625" y="21112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Actual Altitude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4" name="Google Shape;354;g26caf2632ea_2_0"/>
          <p:cNvSpPr txBox="1"/>
          <p:nvPr/>
        </p:nvSpPr>
        <p:spPr>
          <a:xfrm>
            <a:off x="3313925" y="152425"/>
            <a:ext cx="7704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Ki*e + </a:t>
            </a:r>
            <a:endParaRPr sz="1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Kp * ∫e + Kd * ∇ e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55" name="Google Shape;355;g26caf2632ea_2_0"/>
          <p:cNvSpPr txBox="1"/>
          <p:nvPr/>
        </p:nvSpPr>
        <p:spPr>
          <a:xfrm>
            <a:off x="4830088" y="293575"/>
            <a:ext cx="8691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Propeller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56" name="Google Shape;356;g26caf2632ea_2_0"/>
          <p:cNvSpPr txBox="1"/>
          <p:nvPr/>
        </p:nvSpPr>
        <p:spPr>
          <a:xfrm>
            <a:off x="3560500" y="1068625"/>
            <a:ext cx="1187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Altitude Measuring Sensor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7" name="Google Shape;357;g26caf2632ea_2_0"/>
          <p:cNvSpPr txBox="1"/>
          <p:nvPr/>
        </p:nvSpPr>
        <p:spPr>
          <a:xfrm>
            <a:off x="3396125" y="2059750"/>
            <a:ext cx="3123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Propeller Speed = 10 * 10 = 100 rpm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Error = 10</a:t>
            </a: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358" name="Google Shape;358;g26caf2632ea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725" y="1784125"/>
            <a:ext cx="2231650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26caf2632ea_2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52300" y="1876300"/>
            <a:ext cx="3070124" cy="34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26caf2632ea_2_0"/>
          <p:cNvSpPr txBox="1"/>
          <p:nvPr/>
        </p:nvSpPr>
        <p:spPr>
          <a:xfrm>
            <a:off x="338475" y="3036850"/>
            <a:ext cx="6267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50m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61" name="Google Shape;361;g26caf2632ea_2_0"/>
          <p:cNvSpPr txBox="1"/>
          <p:nvPr/>
        </p:nvSpPr>
        <p:spPr>
          <a:xfrm>
            <a:off x="2588850" y="3269352"/>
            <a:ext cx="4295100" cy="9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Output = </a:t>
            </a:r>
            <a:r>
              <a:rPr lang="en" sz="1600" b="1">
                <a:solidFill>
                  <a:srgbClr val="0000FF"/>
                </a:solidFill>
              </a:rPr>
              <a:t>Kp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error </a:t>
            </a:r>
            <a:r>
              <a:rPr lang="en" sz="1600" b="1">
                <a:solidFill>
                  <a:schemeClr val="dk1"/>
                </a:solidFill>
              </a:rPr>
              <a:t>+ </a:t>
            </a:r>
            <a:r>
              <a:rPr lang="en" sz="1600" b="1">
                <a:solidFill>
                  <a:srgbClr val="351C75"/>
                </a:solidFill>
              </a:rPr>
              <a:t>Ki </a:t>
            </a:r>
            <a:r>
              <a:rPr lang="en" sz="1600" b="1">
                <a:solidFill>
                  <a:schemeClr val="dk1"/>
                </a:solidFill>
              </a:rPr>
              <a:t>* </a:t>
            </a:r>
            <a:r>
              <a:rPr lang="en" sz="1600" b="1">
                <a:solidFill>
                  <a:srgbClr val="FF0000"/>
                </a:solidFill>
              </a:rPr>
              <a:t>(error1 + error2 + error3) + Kd * ( error3- error 2)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362" name="Google Shape;362;g26caf2632ea_2_0"/>
          <p:cNvSpPr txBox="1"/>
          <p:nvPr/>
        </p:nvSpPr>
        <p:spPr>
          <a:xfrm>
            <a:off x="3501800" y="4154475"/>
            <a:ext cx="4755900" cy="610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Proportional - Derivative - Integral Control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(PID) Control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g2c70e3cbe86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800" y="880500"/>
            <a:ext cx="6602250" cy="40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2c70e3cbe86_1_2"/>
          <p:cNvSpPr txBox="1"/>
          <p:nvPr/>
        </p:nvSpPr>
        <p:spPr>
          <a:xfrm>
            <a:off x="1270875" y="114825"/>
            <a:ext cx="4755900" cy="610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Proportional - Derivative - Integral Control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(PID) Control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PID Controller</a:t>
            </a:r>
            <a:endParaRPr/>
          </a:p>
        </p:txBody>
      </p:sp>
      <p:sp>
        <p:nvSpPr>
          <p:cNvPr id="374" name="Google Shape;3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575" y="1086888"/>
            <a:ext cx="720090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6"/>
          <p:cNvSpPr/>
          <p:nvPr/>
        </p:nvSpPr>
        <p:spPr>
          <a:xfrm>
            <a:off x="5932650" y="1413875"/>
            <a:ext cx="1820100" cy="28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382" name="Google Shape;3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383" name="Google Shape;3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4738" y="956413"/>
            <a:ext cx="7667625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7"/>
          <p:cNvSpPr/>
          <p:nvPr/>
        </p:nvSpPr>
        <p:spPr>
          <a:xfrm>
            <a:off x="1153175" y="2646900"/>
            <a:ext cx="4356600" cy="17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396" name="Google Shape;3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397" name="Google Shape;39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075" y="979475"/>
            <a:ext cx="7848600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c7146d54e6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Generating PID parameters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2c7146d54e6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" sz="1650" b="1"/>
              <a:t>Auto-Tuning Algorithms</a:t>
            </a:r>
            <a:r>
              <a:rPr lang="en" sz="1650"/>
              <a:t>:</a:t>
            </a:r>
            <a:endParaRPr sz="1650"/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Relay-based Auto-Tuning</a:t>
            </a:r>
            <a:endParaRPr sz="1650"/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A relay is introduced in the control loop.</a:t>
            </a:r>
            <a:endParaRPr sz="1650"/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Observes the system's oscillatory response.</a:t>
            </a:r>
            <a:endParaRPr sz="1650"/>
          </a:p>
          <a:p>
            <a:pPr marL="914400" lvl="1" indent="-333375" algn="l" rtl="0">
              <a:spcBef>
                <a:spcPts val="0"/>
              </a:spcBef>
              <a:spcAft>
                <a:spcPts val="0"/>
              </a:spcAft>
              <a:buSzPts val="1650"/>
              <a:buChar char="○"/>
            </a:pPr>
            <a:r>
              <a:rPr lang="en" sz="1650"/>
              <a:t>Calculates PID parameters based on oscillation characteristics.</a:t>
            </a:r>
            <a:endParaRPr sz="1650"/>
          </a:p>
          <a:p>
            <a:pPr marL="457200" lvl="0" indent="-333375" algn="l" rtl="0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" sz="1650" b="1"/>
              <a:t>Trial and Error: </a:t>
            </a:r>
            <a:r>
              <a:rPr lang="en" sz="1650"/>
              <a:t>Iteratively adjust parameters based on system response.</a:t>
            </a:r>
            <a:endParaRPr sz="16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c7146d54e6_0_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and Applications of PID control</a:t>
            </a:r>
            <a:endParaRPr/>
          </a:p>
        </p:txBody>
      </p:sp>
      <p:sp>
        <p:nvSpPr>
          <p:cNvPr id="409" name="Google Shape;409;g2c7146d54e6_0_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Advantages: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Simple: easy to understand.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Effective: Accurate and stable, even in dynamic environments.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Robust: Can be adopted to different robot systems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Arm positioning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Robot Navigation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control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 control---most widely used control strategy </a:t>
            </a:r>
            <a:r>
              <a:rPr lang="en-US" dirty="0" smtClean="0"/>
              <a:t>today</a:t>
            </a:r>
            <a:endParaRPr lang="en-US" dirty="0"/>
          </a:p>
          <a:p>
            <a:r>
              <a:rPr lang="en-US" dirty="0"/>
              <a:t>Over 90% of control loops employ PID control, often the derivative gain set to zero (PI control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The three terms are intuitive---a non -specialist can grasp the essentials of the PID controller’s action. It does not require the operator to be familiar with advanced math to use PID </a:t>
            </a:r>
            <a:r>
              <a:rPr lang="en-US" dirty="0" smtClean="0"/>
              <a:t>controllers</a:t>
            </a:r>
            <a:endParaRPr lang="en-US" dirty="0"/>
          </a:p>
          <a:p>
            <a:r>
              <a:rPr lang="en-US" dirty="0"/>
              <a:t>Engineers prefer PID controls over untested solutions</a:t>
            </a:r>
          </a:p>
        </p:txBody>
      </p:sp>
    </p:spTree>
    <p:extLst>
      <p:ext uri="{BB962C8B-B14F-4D97-AF65-F5344CB8AC3E}">
        <p14:creationId xmlns:p14="http://schemas.microsoft.com/office/powerpoint/2010/main" val="119669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800</Words>
  <Application>Microsoft Office PowerPoint</Application>
  <PresentationFormat>On-screen Show (16:9)</PresentationFormat>
  <Paragraphs>239</Paragraphs>
  <Slides>36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Times New Roman</vt:lpstr>
      <vt:lpstr>Simple Light</vt:lpstr>
      <vt:lpstr>Introduction to Robotics CSE 461</vt:lpstr>
      <vt:lpstr>2nd order control system</vt:lpstr>
      <vt:lpstr>Effect of PID controller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PID Controller</vt:lpstr>
      <vt:lpstr>PowerPoint Presentation</vt:lpstr>
      <vt:lpstr>PowerPoint Presentation</vt:lpstr>
      <vt:lpstr>Generating PID parameters </vt:lpstr>
      <vt:lpstr>Advantages and Applications of PID control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Robotics CSE 461</dc:title>
  <cp:lastModifiedBy>HP</cp:lastModifiedBy>
  <cp:revision>3</cp:revision>
  <dcterms:modified xsi:type="dcterms:W3CDTF">2024-09-11T08:01:54Z</dcterms:modified>
</cp:coreProperties>
</file>