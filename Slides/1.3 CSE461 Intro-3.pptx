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in+GUH+mq+CPuTRQBluDT392Ss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4d9656890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24d9656890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74e277c8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74e277c8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44ac835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b44ac835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674e277c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674e277c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b44ac8353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b44ac8353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674e277c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674e277c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b44ac8353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b44ac8353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44ac8353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2b44ac83537_0_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b44ac8353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2b44ac83537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b44ac8353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2b44ac83537_0_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b44ac8353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b44ac8353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b44ac8353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b44ac8353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4ac85d8960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4ac85d8960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4ac85d8960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4ac85d8960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4ac85d8960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4ac85d8960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4ac85d8960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4ac85d8960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4ac85d8960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4ac85d8960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4ac85d896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24ac85d8960_0_1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4ac85d896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24ac85d8960_0_1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4ac85d896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24ac85d8960_0_1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4ac85d896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24ac85d8960_0_1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4ac85d896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g24ac85d8960_0_15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4ac85d896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24ac85d8960_0_1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4ac85d8960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24ac85d8960_0_1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4ac85d896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g24ac85d8960_0_1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4d9656890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24d9656890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35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" name="Google Shape;35;p35"/>
          <p:cNvSpPr txBox="1"/>
          <p:nvPr>
            <p:ph idx="3" type="body"/>
          </p:nvPr>
        </p:nvSpPr>
        <p:spPr>
          <a:xfrm>
            <a:off x="4645025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35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" name="Google Shape;5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" name="Google Shape;55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" name="Google Shape;56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ac85d8960_0_19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" name="Google Shape;71;g24ac85d8960_0_19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g24ac85d8960_0_1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4ac85d8960_0_19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g24ac85d8960_0_1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ac85d8960_0_2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g24ac85d8960_0_2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g24ac85d8960_0_2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4ac85d8960_0_2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g24ac85d8960_0_20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g24ac85d8960_0_20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g24ac85d8960_0_2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4ac85d8960_0_2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g24ac85d8960_0_2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ac85d8960_0_2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g24ac85d8960_0_2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g24ac85d8960_0_2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4ac85d8960_0_2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g24ac85d8960_0_2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4ac85d8960_0_2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24ac85d8960_0_2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" name="Google Shape;98;g24ac85d8960_0_2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g24ac85d8960_0_2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g24ac85d8960_0_2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4ac85d8960_0_2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3" name="Google Shape;103;g24ac85d8960_0_2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4ac85d8960_0_2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6" name="Google Shape;106;g24ac85d8960_0_2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g24ac85d8960_0_2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4ac85d8960_0_2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4ac85d8960_0_2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24ac85d8960_0_23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24ac85d8960_0_23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24ac85d8960_0_23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24ac85d8960_0_23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c85d8960_0_24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24ac85d8960_0_242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9" name="Google Shape;119;g24ac85d8960_0_242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0" name="Google Shape;120;g24ac85d8960_0_24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24ac85d8960_0_24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24ac85d8960_0_24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4ac85d8960_0_1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g24ac85d8960_0_1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" name="Google Shape;68;g24ac85d8960_0_1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gif"/><Relationship Id="rId4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jpg"/><Relationship Id="rId4" Type="http://schemas.openxmlformats.org/officeDocument/2006/relationships/image" Target="../media/image2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jpg"/><Relationship Id="rId4" Type="http://schemas.openxmlformats.org/officeDocument/2006/relationships/image" Target="../media/image2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youtube.com/watch?v=fn3KWM1kuAw" TargetMode="External"/><Relationship Id="rId4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 txBox="1"/>
          <p:nvPr>
            <p:ph type="ctrTitle"/>
          </p:nvPr>
        </p:nvSpPr>
        <p:spPr>
          <a:xfrm>
            <a:off x="311708" y="7338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313"/>
              <a:buNone/>
            </a:pPr>
            <a:r>
              <a:t/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313"/>
              <a:buNone/>
            </a:pPr>
            <a:r>
              <a:rPr lang="en" sz="4400"/>
              <a:t>Introduction to Robotics</a:t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313"/>
              <a:buNone/>
            </a:pPr>
            <a:r>
              <a:rPr lang="en" sz="4400"/>
              <a:t>CSE 461</a:t>
            </a:r>
            <a:endParaRPr sz="4400"/>
          </a:p>
        </p:txBody>
      </p:sp>
      <p:sp>
        <p:nvSpPr>
          <p:cNvPr id="128" name="Google Shape;128;p1"/>
          <p:cNvSpPr txBox="1"/>
          <p:nvPr>
            <p:ph idx="1" type="subTitle"/>
          </p:nvPr>
        </p:nvSpPr>
        <p:spPr>
          <a:xfrm>
            <a:off x="311700" y="2834125"/>
            <a:ext cx="85206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Riad Ahmed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Lecturer, Dept. of Computer Science and Engineering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3: Chapter 1(Introduction to robotics: basics)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8405" y="123700"/>
            <a:ext cx="1311550" cy="131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Previous Class</a:t>
            </a:r>
            <a:endParaRPr/>
          </a:p>
        </p:txBody>
      </p:sp>
      <p:sp>
        <p:nvSpPr>
          <p:cNvPr id="135" name="Google Shape;135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Primiti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24d96568907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700" y="1360900"/>
            <a:ext cx="7288601" cy="24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24d96568907_0_9"/>
          <p:cNvSpPr txBox="1"/>
          <p:nvPr/>
        </p:nvSpPr>
        <p:spPr>
          <a:xfrm>
            <a:off x="696425" y="186625"/>
            <a:ext cx="267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Recall</a:t>
            </a:r>
            <a:endParaRPr b="1" i="0" sz="4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74e277c87_0_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Paradigms of Robotics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2b44ac8353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75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74e277c87_0_0"/>
          <p:cNvSpPr txBox="1"/>
          <p:nvPr>
            <p:ph type="title"/>
          </p:nvPr>
        </p:nvSpPr>
        <p:spPr>
          <a:xfrm>
            <a:off x="311700" y="31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Reactive Paradigm </a:t>
            </a:r>
            <a:endParaRPr/>
          </a:p>
        </p:txBody>
      </p:sp>
      <p:pic>
        <p:nvPicPr>
          <p:cNvPr id="157" name="Google Shape;157;g2674e277c87_0_0" title="figure modified from [RM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7603" y="2189188"/>
            <a:ext cx="4208800" cy="28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2674e277c8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000" y="760455"/>
            <a:ext cx="38100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2b44ac83537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88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2674e277c87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625" y="82375"/>
            <a:ext cx="6418951" cy="481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2b44ac83537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88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44ac83537_0_26"/>
          <p:cNvSpPr txBox="1"/>
          <p:nvPr>
            <p:ph idx="12" type="sldNum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g2b44ac83537_0_26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600"/>
              <a:t>Hybrid deliberative/reactive paradigm</a:t>
            </a:r>
            <a:endParaRPr sz="3600"/>
          </a:p>
        </p:txBody>
      </p:sp>
      <p:grpSp>
        <p:nvGrpSpPr>
          <p:cNvPr id="180" name="Google Shape;180;g2b44ac83537_0_26"/>
          <p:cNvGrpSpPr/>
          <p:nvPr/>
        </p:nvGrpSpPr>
        <p:grpSpPr>
          <a:xfrm>
            <a:off x="1828800" y="971550"/>
            <a:ext cx="5989874" cy="2946996"/>
            <a:chOff x="1152" y="816"/>
            <a:chExt cx="3773" cy="2475"/>
          </a:xfrm>
        </p:grpSpPr>
        <p:grpSp>
          <p:nvGrpSpPr>
            <p:cNvPr id="181" name="Google Shape;181;g2b44ac83537_0_26"/>
            <p:cNvGrpSpPr/>
            <p:nvPr/>
          </p:nvGrpSpPr>
          <p:grpSpPr>
            <a:xfrm>
              <a:off x="1152" y="2024"/>
              <a:ext cx="3389" cy="931"/>
              <a:chOff x="1152" y="2024"/>
              <a:chExt cx="3389" cy="931"/>
            </a:xfrm>
          </p:grpSpPr>
          <p:sp>
            <p:nvSpPr>
              <p:cNvPr id="182" name="Google Shape;182;g2b44ac83537_0_26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83" name="Google Shape;183;g2b44ac83537_0_26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184" name="Google Shape;184;g2b44ac83537_0_26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600"/>
                    <a:buFont typeface="Arial"/>
                    <a:buNone/>
                  </a:pPr>
                  <a:r>
                    <a:rPr b="0" i="0" lang="en" sz="3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" name="Google Shape;185;g2b44ac83537_0_26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600"/>
                    <a:buFont typeface="Arial"/>
                    <a:buNone/>
                  </a:pPr>
                  <a:r>
                    <a:rPr b="0" i="0" lang="en" sz="3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86" name="Google Shape;186;g2b44ac83537_0_26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sp>
          <p:nvSpPr>
            <p:cNvPr id="187" name="Google Shape;187;g2b44ac83537_0_26"/>
            <p:cNvSpPr/>
            <p:nvPr/>
          </p:nvSpPr>
          <p:spPr>
            <a:xfrm>
              <a:off x="2256" y="816"/>
              <a:ext cx="1200" cy="600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6025" lIns="92075" spcFirstLastPara="1" rIns="92075" wrap="square" tIns="460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8" name="Google Shape;188;g2b44ac83537_0_26"/>
            <p:cNvCxnSpPr/>
            <p:nvPr/>
          </p:nvCxnSpPr>
          <p:spPr>
            <a:xfrm>
              <a:off x="2832" y="1584"/>
              <a:ext cx="0" cy="30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189" name="Google Shape;189;g2b44ac83537_0_26"/>
            <p:cNvGrpSpPr/>
            <p:nvPr/>
          </p:nvGrpSpPr>
          <p:grpSpPr>
            <a:xfrm>
              <a:off x="1344" y="2216"/>
              <a:ext cx="3389" cy="931"/>
              <a:chOff x="1152" y="2024"/>
              <a:chExt cx="3389" cy="931"/>
            </a:xfrm>
          </p:grpSpPr>
          <p:sp>
            <p:nvSpPr>
              <p:cNvPr id="190" name="Google Shape;190;g2b44ac83537_0_26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91" name="Google Shape;191;g2b44ac83537_0_26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192" name="Google Shape;192;g2b44ac83537_0_26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600"/>
                    <a:buFont typeface="Arial"/>
                    <a:buNone/>
                  </a:pPr>
                  <a:r>
                    <a:rPr b="0" i="0" lang="en" sz="3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" name="Google Shape;193;g2b44ac83537_0_26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600"/>
                    <a:buFont typeface="Arial"/>
                    <a:buNone/>
                  </a:pPr>
                  <a:r>
                    <a:rPr b="0" i="0" lang="en" sz="3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4" name="Google Shape;194;g2b44ac83537_0_26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  <p:grpSp>
          <p:nvGrpSpPr>
            <p:cNvPr id="195" name="Google Shape;195;g2b44ac83537_0_26"/>
            <p:cNvGrpSpPr/>
            <p:nvPr/>
          </p:nvGrpSpPr>
          <p:grpSpPr>
            <a:xfrm>
              <a:off x="1536" y="2360"/>
              <a:ext cx="3389" cy="931"/>
              <a:chOff x="1152" y="2024"/>
              <a:chExt cx="3389" cy="931"/>
            </a:xfrm>
          </p:grpSpPr>
          <p:sp>
            <p:nvSpPr>
              <p:cNvPr id="196" name="Google Shape;196;g2b44ac83537_0_26"/>
              <p:cNvSpPr/>
              <p:nvPr/>
            </p:nvSpPr>
            <p:spPr>
              <a:xfrm>
                <a:off x="1152" y="2024"/>
                <a:ext cx="3300" cy="9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2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97" name="Google Shape;197;g2b44ac83537_0_26"/>
              <p:cNvGrpSpPr/>
              <p:nvPr/>
            </p:nvGrpSpPr>
            <p:grpSpPr>
              <a:xfrm>
                <a:off x="1248" y="2086"/>
                <a:ext cx="3293" cy="869"/>
                <a:chOff x="1132" y="1262"/>
                <a:chExt cx="2273" cy="600"/>
              </a:xfrm>
            </p:grpSpPr>
            <p:sp>
              <p:nvSpPr>
                <p:cNvPr id="198" name="Google Shape;198;g2b44ac83537_0_26"/>
                <p:cNvSpPr/>
                <p:nvPr/>
              </p:nvSpPr>
              <p:spPr>
                <a:xfrm>
                  <a:off x="2505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600"/>
                    <a:buFont typeface="Arial"/>
                    <a:buNone/>
                  </a:pPr>
                  <a:r>
                    <a:rPr b="0" i="0" lang="en" sz="3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ACT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Google Shape;199;g2b44ac83537_0_26"/>
                <p:cNvSpPr/>
                <p:nvPr/>
              </p:nvSpPr>
              <p:spPr>
                <a:xfrm>
                  <a:off x="1132" y="1262"/>
                  <a:ext cx="900" cy="6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6025" lIns="92075" spcFirstLastPara="1" rIns="92075" wrap="square" tIns="460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3600"/>
                    <a:buFont typeface="Arial"/>
                    <a:buNone/>
                  </a:pPr>
                  <a:r>
                    <a:rPr b="0" i="0" lang="en" sz="3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SENSE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00" name="Google Shape;200;g2b44ac83537_0_26"/>
                <p:cNvCxnSpPr/>
                <p:nvPr/>
              </p:nvCxnSpPr>
              <p:spPr>
                <a:xfrm>
                  <a:off x="1970" y="1501"/>
                  <a:ext cx="600" cy="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rgbClr val="000000"/>
                  </a:solidFill>
                  <a:prstDash val="solid"/>
                  <a:round/>
                  <a:headEnd len="med" w="med" type="triangle"/>
                  <a:tailEnd len="med" w="med" type="triangle"/>
                </a:ln>
              </p:spPr>
            </p:cxnSp>
          </p:grp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b44ac83537_0_5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206" name="Google Shape;206;g2b44ac83537_0_52"/>
          <p:cNvSpPr txBox="1"/>
          <p:nvPr>
            <p:ph idx="1" type="body"/>
          </p:nvPr>
        </p:nvSpPr>
        <p:spPr>
          <a:xfrm>
            <a:off x="457200" y="900113"/>
            <a:ext cx="8229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Asynchronous processing technique allows to function Independently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Planner can slowly compute next goal while robot can perform reactive task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44ac83537_0_57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Local and Global Model</a:t>
            </a:r>
            <a:endParaRPr/>
          </a:p>
        </p:txBody>
      </p:sp>
      <p:sp>
        <p:nvSpPr>
          <p:cNvPr id="212" name="Google Shape;212;g2b44ac83537_0_57"/>
          <p:cNvSpPr txBox="1"/>
          <p:nvPr>
            <p:ph idx="1" type="body"/>
          </p:nvPr>
        </p:nvSpPr>
        <p:spPr>
          <a:xfrm>
            <a:off x="457200" y="900113"/>
            <a:ext cx="82296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Reactive for Local control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Deliberative for Global control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/>
              <a:t>However; Robot behavioral management requires to know its current mission, state and environment beside path-planning, map-making,  monitoring etc. So, both local and global models are required to be considered for a robot performance.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2b44ac83537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-5"/>
            <a:ext cx="725805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b44ac83537_0_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Activity </a:t>
            </a:r>
            <a:endParaRPr/>
          </a:p>
        </p:txBody>
      </p:sp>
      <p:sp>
        <p:nvSpPr>
          <p:cNvPr id="223" name="Google Shape;223;g2b44ac83537_0_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: Line Following Robot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: Mini Baymax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g2b44ac83537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0302" y="128700"/>
            <a:ext cx="1733725" cy="16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2b44ac83537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0302" y="2070750"/>
            <a:ext cx="1733725" cy="196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8.jpg" id="230" name="Google Shape;2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9.jpg" id="235" name="Google Shape;2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Sensor</a:t>
            </a:r>
            <a:endParaRPr/>
          </a:p>
        </p:txBody>
      </p:sp>
      <p:sp>
        <p:nvSpPr>
          <p:cNvPr id="241" name="Google Shape;24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 sensor is a device that detects or measures physical, chemical, or biological properties of the environment or a system and converts them into a signal that can be processed or analyzed.</a:t>
            </a:r>
            <a:endParaRPr/>
          </a:p>
        </p:txBody>
      </p:sp>
      <p:pic>
        <p:nvPicPr>
          <p:cNvPr id="242" name="Google Shape;2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575" y="2349412"/>
            <a:ext cx="60388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/>
          <p:nvPr/>
        </p:nvSpPr>
        <p:spPr>
          <a:xfrm>
            <a:off x="6308186" y="4423074"/>
            <a:ext cx="1530900" cy="54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1.jpg" id="248" name="Google Shape;2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2.jpg" id="253" name="Google Shape;2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4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388" y="0"/>
            <a:ext cx="770923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/>
          <p:nvPr/>
        </p:nvSpPr>
        <p:spPr>
          <a:xfrm>
            <a:off x="4905600" y="3236425"/>
            <a:ext cx="3521100" cy="178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058000" y="3388825"/>
            <a:ext cx="3521100" cy="178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871142" y="2949508"/>
            <a:ext cx="3521100" cy="178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4ac85d8960_0_2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g24ac85d8960_0_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063" y="152400"/>
            <a:ext cx="6575863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4ac85d8960_0_2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g24ac85d8960_0_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957" y="0"/>
            <a:ext cx="7045942" cy="412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4ac85d8960_0_25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g24ac85d8960_0_2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338" y="141025"/>
            <a:ext cx="7133321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4ac85d8960_0_26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g24ac85d8960_0_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425" y="186525"/>
            <a:ext cx="6433146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4ac85d8960_0_270"/>
          <p:cNvSpPr txBox="1"/>
          <p:nvPr>
            <p:ph idx="1" type="body"/>
          </p:nvPr>
        </p:nvSpPr>
        <p:spPr>
          <a:xfrm>
            <a:off x="72725" y="2187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Lidar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YDLIDAR X4 2D LiDAR Sensor" id="291" name="Google Shape;291;g24ac85d8960_0_2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950" y="956398"/>
            <a:ext cx="3297850" cy="257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24ac85d8960_0_2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000" y="687063"/>
            <a:ext cx="4267200" cy="3246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6.jpg" id="297" name="Google Shape;297;g24ac85d8960_0_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4ac85d8960_0_13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Microcontrollers</a:t>
            </a:r>
            <a:endParaRPr/>
          </a:p>
        </p:txBody>
      </p:sp>
      <p:pic>
        <p:nvPicPr>
          <p:cNvPr id="303" name="Google Shape;303;g24ac85d8960_0_1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50992"/>
            <a:ext cx="4038600" cy="16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24ac85d8960_0_138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1883053"/>
            <a:ext cx="4038600" cy="20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24ac85d8960_0_138"/>
          <p:cNvSpPr txBox="1"/>
          <p:nvPr/>
        </p:nvSpPr>
        <p:spPr>
          <a:xfrm>
            <a:off x="889875" y="797675"/>
            <a:ext cx="64065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 microcontroller is a small, integrated circuit that contains a processor, memory, and input/output peripherals.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4ac85d8960_0_14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Arduino</a:t>
            </a:r>
            <a:endParaRPr/>
          </a:p>
        </p:txBody>
      </p:sp>
      <p:pic>
        <p:nvPicPr>
          <p:cNvPr id="311" name="Google Shape;311;g24ac85d8960_0_14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0" y="1156825"/>
            <a:ext cx="5105400" cy="28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24ac85d8960_0_14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885950"/>
            <a:ext cx="2684700" cy="15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4ac85d8960_0_150"/>
          <p:cNvSpPr txBox="1"/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285"/>
              <a:buNone/>
            </a:pPr>
            <a:r>
              <a:rPr lang="en"/>
              <a:t>Arduino</a:t>
            </a:r>
            <a:endParaRPr/>
          </a:p>
        </p:txBody>
      </p:sp>
      <p:pic>
        <p:nvPicPr>
          <p:cNvPr descr="Intro to Arduino (for absolute beginners) - klab.ca" id="318" name="Google Shape;318;g24ac85d8960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978" y="1041361"/>
            <a:ext cx="5928168" cy="4052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4ac85d8960_0_155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/>
              <a:t>Programmable Logic Controller (PLC)</a:t>
            </a:r>
            <a:endParaRPr/>
          </a:p>
        </p:txBody>
      </p:sp>
      <p:pic>
        <p:nvPicPr>
          <p:cNvPr id="324" name="Google Shape;324;g24ac85d8960_0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27" y="1005764"/>
            <a:ext cx="4614574" cy="313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24ac85d8960_0_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50084"/>
            <a:ext cx="3767427" cy="3579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4ac85d8960_0_167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Single board Computer</a:t>
            </a:r>
            <a:endParaRPr/>
          </a:p>
        </p:txBody>
      </p:sp>
      <p:pic>
        <p:nvPicPr>
          <p:cNvPr id="331" name="Google Shape;331;g24ac85d8960_0_16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65749"/>
            <a:ext cx="4038600" cy="20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24ac85d8960_0_167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1869814"/>
            <a:ext cx="4038600" cy="20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4ac85d8960_0_173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Raspberry PI 4, Tinkerboard </a:t>
            </a:r>
            <a:endParaRPr/>
          </a:p>
        </p:txBody>
      </p:sp>
      <p:pic>
        <p:nvPicPr>
          <p:cNvPr descr="Amazon.com: Raspberry SC15184 Pi 4 Model B 2019 Quad Core 64 Bit WiFi  Bluetooth (2GB): Computers &amp; Accessories" id="338" name="Google Shape;338;g24ac85d8960_0_17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67989"/>
            <a:ext cx="4038600" cy="245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y Asus Tinker Board With Rockchip Quad-Core RK3288 processor product name  With Best Lowest Price in Dhaka,bangladesh.bd" id="339" name="Google Shape;339;g24ac85d8960_0_173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1382911"/>
            <a:ext cx="3029100" cy="30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4ac85d8960_0_17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Little Panda and Jetson nano</a:t>
            </a:r>
            <a:endParaRPr/>
          </a:p>
        </p:txBody>
      </p:sp>
      <p:pic>
        <p:nvPicPr>
          <p:cNvPr descr="Amazon.com: NVIDIA Jetson Nano Developer Kit: Computers &amp; Accessories" id="345" name="Google Shape;345;g24ac85d8960_0_17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638334"/>
            <a:ext cx="4038600" cy="251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12 Raspberry Pi alternatives (Best of 2018) | ZDNet" id="346" name="Google Shape;346;g24ac85d8960_0_17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897832"/>
            <a:ext cx="4038600" cy="19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4d96568907_0_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Let’s talk about a dream !</a:t>
            </a:r>
            <a:endParaRPr/>
          </a:p>
        </p:txBody>
      </p:sp>
      <p:sp>
        <p:nvSpPr>
          <p:cNvPr id="352" name="Google Shape;352;g24d96568907_0_34"/>
          <p:cNvSpPr txBox="1"/>
          <p:nvPr/>
        </p:nvSpPr>
        <p:spPr>
          <a:xfrm>
            <a:off x="2369200" y="3224925"/>
            <a:ext cx="451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https://www.youtube.com/watch?v=fn3KWM1kuAw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g24d96568907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4325" y="220675"/>
            <a:ext cx="3635338" cy="18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Next Class</a:t>
            </a:r>
            <a:endParaRPr/>
          </a:p>
        </p:txBody>
      </p:sp>
      <p:sp>
        <p:nvSpPr>
          <p:cNvPr id="359" name="Google Shape;359;p2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>
                <a:solidFill>
                  <a:schemeClr val="dk1"/>
                </a:solidFill>
              </a:rPr>
              <a:t>Subsystem (Motion)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