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2" r:id="rId4"/>
    <p:sldId id="273" r:id="rId5"/>
    <p:sldId id="278" r:id="rId6"/>
    <p:sldId id="275" r:id="rId7"/>
    <p:sldId id="276" r:id="rId8"/>
    <p:sldId id="277" r:id="rId9"/>
    <p:sldId id="263" r:id="rId10"/>
    <p:sldId id="264" r:id="rId11"/>
    <p:sldId id="279" r:id="rId12"/>
    <p:sldId id="280" r:id="rId13"/>
    <p:sldId id="281" r:id="rId14"/>
    <p:sldId id="265" r:id="rId15"/>
    <p:sldId id="266" r:id="rId16"/>
    <p:sldId id="282" r:id="rId17"/>
    <p:sldId id="268" r:id="rId18"/>
    <p:sldId id="286" r:id="rId19"/>
    <p:sldId id="269" r:id="rId20"/>
    <p:sldId id="270" r:id="rId21"/>
    <p:sldId id="271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jDu6FWOaK0MGWjesfpuGCBM/Y2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710898294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c710898294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c71089829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2c71089829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7465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c710898294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2c710898294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710898294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2c710898294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c710898294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c710898294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c710898294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2c710898294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c710898294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2c710898294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993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710898294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2c710898294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710898294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2c710898294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0439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71089829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c710898294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311700" y="3465095"/>
            <a:ext cx="8520600" cy="1299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SzPct val="142857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https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://youtube.com/playlist?list=PLBlnK6fEyqRineUwP-HPdkQvowXqq5IxA&amp;si=1dXffwOVbx4EpPoL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04832" y="1184587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" sz="4400" dirty="0">
                <a:latin typeface="Times New Roman"/>
                <a:ea typeface="Times New Roman"/>
                <a:cs typeface="Times New Roman"/>
                <a:sym typeface="Times New Roman"/>
              </a:rPr>
              <a:t>Control System </a:t>
            </a:r>
            <a:r>
              <a:rPr lang="en" sz="4400" dirty="0" smtClean="0">
                <a:latin typeface="Times New Roman"/>
                <a:ea typeface="Times New Roman"/>
                <a:cs typeface="Times New Roman"/>
                <a:sym typeface="Times New Roman"/>
              </a:rPr>
              <a:t>Theory Block Diagram Reduction</a:t>
            </a:r>
            <a:endParaRPr sz="4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g2c710898294_0_2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961" y="2708174"/>
            <a:ext cx="8839204" cy="229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11" y="843566"/>
            <a:ext cx="8829966" cy="18803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74" y="273864"/>
            <a:ext cx="8229600" cy="456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1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15" y="284331"/>
            <a:ext cx="8229600" cy="465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47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c710898294_0_6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dirty="0"/>
              <a:t>Block Diagram </a:t>
            </a:r>
            <a:r>
              <a:rPr lang="en" dirty="0" smtClean="0"/>
              <a:t>Reduction rule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2379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44" y="508195"/>
            <a:ext cx="8229600" cy="442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16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73135"/>
          <a:stretch/>
        </p:blipFill>
        <p:spPr>
          <a:xfrm>
            <a:off x="281216" y="601020"/>
            <a:ext cx="8229600" cy="131102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48" y="2471638"/>
            <a:ext cx="8229600" cy="226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7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64" y="310594"/>
            <a:ext cx="8229600" cy="438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760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2c710898294_0_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578000"/>
            <a:ext cx="8839199" cy="398750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2c710898294_0_92"/>
          <p:cNvSpPr txBox="1"/>
          <p:nvPr/>
        </p:nvSpPr>
        <p:spPr>
          <a:xfrm>
            <a:off x="152400" y="84925"/>
            <a:ext cx="23133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: 6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2c710898294_0_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325" y="622125"/>
            <a:ext cx="8839199" cy="409933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2c710898294_0_97"/>
          <p:cNvSpPr txBox="1"/>
          <p:nvPr/>
        </p:nvSpPr>
        <p:spPr>
          <a:xfrm>
            <a:off x="152400" y="84925"/>
            <a:ext cx="2313300" cy="3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: 7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49" y="317280"/>
            <a:ext cx="8229600" cy="469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20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9" y="496624"/>
            <a:ext cx="8229600" cy="434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86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Block Diagram Reduction </a:t>
            </a:r>
            <a:r>
              <a:rPr lang="en" dirty="0" smtClean="0"/>
              <a:t>Algorithm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Rule 1</a:t>
            </a:r>
            <a:r>
              <a:rPr lang="en-US" dirty="0"/>
              <a:t> − Check for the blocks connected in series and simplify.</a:t>
            </a:r>
          </a:p>
          <a:p>
            <a:r>
              <a:rPr lang="en-US" b="1" dirty="0"/>
              <a:t>Rule 2</a:t>
            </a:r>
            <a:r>
              <a:rPr lang="en-US" dirty="0"/>
              <a:t> − Check for the blocks connected in parallel and simplify.</a:t>
            </a:r>
          </a:p>
          <a:p>
            <a:r>
              <a:rPr lang="en-US" b="1" dirty="0"/>
              <a:t>Rule 3</a:t>
            </a:r>
            <a:r>
              <a:rPr lang="en-US" dirty="0"/>
              <a:t> − Check for the blocks connected in feedback loop and simplify.</a:t>
            </a:r>
          </a:p>
          <a:p>
            <a:r>
              <a:rPr lang="en-US" b="1" dirty="0"/>
              <a:t>Rule 4</a:t>
            </a:r>
            <a:r>
              <a:rPr lang="en-US" dirty="0"/>
              <a:t> − If there is difficulty with take-off point while simplifying, shift it towards right.</a:t>
            </a:r>
          </a:p>
          <a:p>
            <a:r>
              <a:rPr lang="en-US" b="1" dirty="0"/>
              <a:t>Rule 5</a:t>
            </a:r>
            <a:r>
              <a:rPr lang="en-US" dirty="0"/>
              <a:t> − If there is difficulty with summing point while simplifying, shift it towards left.</a:t>
            </a:r>
          </a:p>
          <a:p>
            <a:r>
              <a:rPr lang="en-US" b="1" dirty="0"/>
              <a:t>Rule 6</a:t>
            </a:r>
            <a:r>
              <a:rPr lang="en-US" dirty="0"/>
              <a:t> − Repeat the above steps till you get the simplified form, i.e., single block.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97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2c710898294_0_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485" y="504296"/>
            <a:ext cx="7075014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c710898294_0_102"/>
          <p:cNvSpPr txBox="1"/>
          <p:nvPr/>
        </p:nvSpPr>
        <p:spPr>
          <a:xfrm>
            <a:off x="131525" y="0"/>
            <a:ext cx="3546600" cy="6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1: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 Placeholder 3"/>
          <p:cNvSpPr txBox="1">
            <a:spLocks/>
          </p:cNvSpPr>
          <p:nvPr/>
        </p:nvSpPr>
        <p:spPr>
          <a:xfrm>
            <a:off x="3478845" y="3389467"/>
            <a:ext cx="5435957" cy="161941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="1" smtClean="0"/>
              <a:t>Rule 1</a:t>
            </a:r>
            <a:r>
              <a:rPr lang="en-US" sz="1200" smtClean="0"/>
              <a:t> − Check for the blocks connected in series and simplify.</a:t>
            </a:r>
          </a:p>
          <a:p>
            <a:r>
              <a:rPr lang="en-US" sz="1200" b="1" smtClean="0"/>
              <a:t>Rule 2</a:t>
            </a:r>
            <a:r>
              <a:rPr lang="en-US" sz="1200" smtClean="0"/>
              <a:t> − Check for the blocks connected in parallel and simplify.</a:t>
            </a:r>
          </a:p>
          <a:p>
            <a:r>
              <a:rPr lang="en-US" sz="1200" b="1" smtClean="0"/>
              <a:t>Rule 3</a:t>
            </a:r>
            <a:r>
              <a:rPr lang="en-US" sz="1200" smtClean="0"/>
              <a:t> − Check for the blocks connected in feedback loop and simplify.</a:t>
            </a:r>
          </a:p>
          <a:p>
            <a:r>
              <a:rPr lang="en-US" sz="1200" b="1" u="sng" smtClean="0">
                <a:solidFill>
                  <a:srgbClr val="FF0000"/>
                </a:solidFill>
              </a:rPr>
              <a:t>Rule 4 − If there is difficulty with take-off point while simplifying, shift it towards right.</a:t>
            </a:r>
          </a:p>
          <a:p>
            <a:r>
              <a:rPr lang="en-US" sz="1200" b="1" smtClean="0"/>
              <a:t>Rule 5</a:t>
            </a:r>
            <a:r>
              <a:rPr lang="en-US" sz="1200" smtClean="0"/>
              <a:t> − If there is difficulty with summing point while simplifying, shift it towards left.</a:t>
            </a:r>
          </a:p>
          <a:p>
            <a:r>
              <a:rPr lang="en-US" sz="1200" b="1" smtClean="0"/>
              <a:t>Rule 6</a:t>
            </a:r>
            <a:r>
              <a:rPr lang="en-US" sz="1200" smtClean="0"/>
              <a:t> − Repeat the above steps till you get the simplified form, i.e., single block.</a:t>
            </a:r>
          </a:p>
          <a:p>
            <a:endParaRPr lang="en-US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2c710898294_0_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663" y="515638"/>
            <a:ext cx="5301488" cy="2014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2c710898294_0_107"/>
          <p:cNvPicPr preferRelativeResize="0"/>
          <p:nvPr/>
        </p:nvPicPr>
        <p:blipFill rotWithShape="1">
          <a:blip r:embed="rId4">
            <a:alphaModFix/>
          </a:blip>
          <a:srcRect t="18291"/>
          <a:stretch/>
        </p:blipFill>
        <p:spPr>
          <a:xfrm>
            <a:off x="199927" y="2894454"/>
            <a:ext cx="5307100" cy="178754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/>
          <p:cNvSpPr txBox="1">
            <a:spLocks/>
          </p:cNvSpPr>
          <p:nvPr/>
        </p:nvSpPr>
        <p:spPr>
          <a:xfrm>
            <a:off x="5754532" y="770021"/>
            <a:ext cx="2947139" cy="36507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="1" smtClean="0"/>
              <a:t>Rule 1</a:t>
            </a:r>
            <a:r>
              <a:rPr lang="en-US" sz="1200" smtClean="0"/>
              <a:t> − Check for the blocks connected in series and simplify.</a:t>
            </a:r>
          </a:p>
          <a:p>
            <a:r>
              <a:rPr lang="en-US" sz="1200" b="1" smtClean="0"/>
              <a:t>Rule 2</a:t>
            </a:r>
            <a:r>
              <a:rPr lang="en-US" sz="1200" smtClean="0"/>
              <a:t> − Check for the blocks connected in parallel and simplify.</a:t>
            </a:r>
          </a:p>
          <a:p>
            <a:r>
              <a:rPr lang="en-US" sz="1200" b="1" smtClean="0"/>
              <a:t>Rule 3</a:t>
            </a:r>
            <a:r>
              <a:rPr lang="en-US" sz="1200" smtClean="0"/>
              <a:t> − Check for the blocks connected in feedback loop and simplify.</a:t>
            </a:r>
          </a:p>
          <a:p>
            <a:r>
              <a:rPr lang="en-US" sz="1200" b="1" u="sng" smtClean="0">
                <a:solidFill>
                  <a:srgbClr val="FF0000"/>
                </a:solidFill>
              </a:rPr>
              <a:t>Rule 4 − If there is difficulty with take-off point while simplifying, shift it towards right.</a:t>
            </a:r>
          </a:p>
          <a:p>
            <a:r>
              <a:rPr lang="en-US" sz="1200" b="1" smtClean="0"/>
              <a:t>Rule 5</a:t>
            </a:r>
            <a:r>
              <a:rPr lang="en-US" sz="1200" smtClean="0"/>
              <a:t> − If there is difficulty with summing point while simplifying, shift it towards left.</a:t>
            </a:r>
          </a:p>
          <a:p>
            <a:r>
              <a:rPr lang="en-US" sz="1200" b="1" smtClean="0"/>
              <a:t>Rule 6</a:t>
            </a:r>
            <a:r>
              <a:rPr lang="en-US" sz="1200" smtClean="0"/>
              <a:t> − Repeat the above steps till you get the simplified form, i.e., single block.</a:t>
            </a:r>
          </a:p>
          <a:p>
            <a:endParaRPr lang="en-US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2c710898294_0_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615" y="2633196"/>
            <a:ext cx="5468791" cy="19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2c710898294_0_112"/>
          <p:cNvPicPr preferRelativeResize="0"/>
          <p:nvPr/>
        </p:nvPicPr>
        <p:blipFill rotWithShape="1">
          <a:blip r:embed="rId4">
            <a:alphaModFix/>
          </a:blip>
          <a:srcRect t="20486"/>
          <a:stretch/>
        </p:blipFill>
        <p:spPr>
          <a:xfrm>
            <a:off x="273611" y="735644"/>
            <a:ext cx="5632175" cy="15744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/>
          <p:cNvSpPr txBox="1">
            <a:spLocks/>
          </p:cNvSpPr>
          <p:nvPr/>
        </p:nvSpPr>
        <p:spPr>
          <a:xfrm>
            <a:off x="5981412" y="1038154"/>
            <a:ext cx="2912763" cy="32694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="1" u="sng" smtClean="0">
                <a:solidFill>
                  <a:srgbClr val="FF0000"/>
                </a:solidFill>
              </a:rPr>
              <a:t>Rule 1 − Check for the blocks connected in series and simplify.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2</a:t>
            </a:r>
            <a:r>
              <a:rPr lang="en-US" sz="1200" smtClean="0">
                <a:solidFill>
                  <a:schemeClr val="tx1"/>
                </a:solidFill>
              </a:rPr>
              <a:t> − Check for the blocks connected in parallel and simplify.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3</a:t>
            </a:r>
            <a:r>
              <a:rPr lang="en-US" sz="1200" smtClean="0">
                <a:solidFill>
                  <a:schemeClr val="tx1"/>
                </a:solidFill>
              </a:rPr>
              <a:t> − Check for the blocks connected in feedback loop and simplify.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4</a:t>
            </a:r>
            <a:r>
              <a:rPr lang="en-US" sz="1200" smtClean="0">
                <a:solidFill>
                  <a:schemeClr val="tx1"/>
                </a:solidFill>
              </a:rPr>
              <a:t> − If there is difficulty with take-off point while simplifying, shift it towards right.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5</a:t>
            </a:r>
            <a:r>
              <a:rPr lang="en-US" sz="1200" smtClean="0">
                <a:solidFill>
                  <a:schemeClr val="tx1"/>
                </a:solidFill>
              </a:rPr>
              <a:t> − If there is difficulty with summing point while simplifying, shift it towards left.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6</a:t>
            </a:r>
            <a:r>
              <a:rPr lang="en-US" sz="1200" smtClean="0">
                <a:solidFill>
                  <a:schemeClr val="tx1"/>
                </a:solidFill>
              </a:rPr>
              <a:t> − Repeat the above steps till you get the simplified form, i.e., single block.</a:t>
            </a:r>
          </a:p>
          <a:p>
            <a:endParaRPr 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837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2c710898294_0_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414" y="80451"/>
            <a:ext cx="5647994" cy="22213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3"/>
          <p:cNvSpPr txBox="1">
            <a:spLocks/>
          </p:cNvSpPr>
          <p:nvPr/>
        </p:nvSpPr>
        <p:spPr>
          <a:xfrm>
            <a:off x="5858805" y="723043"/>
            <a:ext cx="2912763" cy="32694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="1" smtClean="0">
                <a:solidFill>
                  <a:schemeClr val="tx1"/>
                </a:solidFill>
              </a:rPr>
              <a:t>Rule 1</a:t>
            </a:r>
            <a:r>
              <a:rPr lang="en-US" sz="1200" smtClean="0">
                <a:solidFill>
                  <a:schemeClr val="tx1"/>
                </a:solidFill>
              </a:rPr>
              <a:t> − Check for the blocks connected in series and simplify.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2</a:t>
            </a:r>
            <a:r>
              <a:rPr lang="en-US" sz="1200" smtClean="0">
                <a:solidFill>
                  <a:schemeClr val="tx1"/>
                </a:solidFill>
              </a:rPr>
              <a:t> − Check for the blocks connected in parallel and simplify.</a:t>
            </a:r>
          </a:p>
          <a:p>
            <a:r>
              <a:rPr lang="en-US" sz="1200" u="sng" smtClean="0">
                <a:solidFill>
                  <a:srgbClr val="FF0000"/>
                </a:solidFill>
              </a:rPr>
              <a:t>Rule 3 − Check for the blocks connected in feedback loop and simplify.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4</a:t>
            </a:r>
            <a:r>
              <a:rPr lang="en-US" sz="1200" smtClean="0">
                <a:solidFill>
                  <a:schemeClr val="tx1"/>
                </a:solidFill>
              </a:rPr>
              <a:t> − If there is difficulty with take-off point while simplifying, shift it towards right.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5</a:t>
            </a:r>
            <a:r>
              <a:rPr lang="en-US" sz="1200" smtClean="0">
                <a:solidFill>
                  <a:schemeClr val="tx1"/>
                </a:solidFill>
              </a:rPr>
              <a:t> − If there is difficulty with summing point while simplifying, shift it towards left.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6</a:t>
            </a:r>
            <a:r>
              <a:rPr lang="en-US" sz="1200" smtClean="0">
                <a:solidFill>
                  <a:schemeClr val="tx1"/>
                </a:solidFill>
              </a:rPr>
              <a:t> − Repeat the above steps till you get the simplified form, i.e., single block.</a:t>
            </a:r>
          </a:p>
          <a:p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56" y="2785944"/>
            <a:ext cx="5669280" cy="17105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 txBox="1">
            <a:spLocks/>
          </p:cNvSpPr>
          <p:nvPr/>
        </p:nvSpPr>
        <p:spPr>
          <a:xfrm>
            <a:off x="5858805" y="723043"/>
            <a:ext cx="2912763" cy="32694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="1" smtClean="0">
                <a:solidFill>
                  <a:schemeClr val="tx1"/>
                </a:solidFill>
              </a:rPr>
              <a:t>Rule 1</a:t>
            </a:r>
            <a:r>
              <a:rPr lang="en-US" sz="1200" smtClean="0">
                <a:solidFill>
                  <a:schemeClr val="tx1"/>
                </a:solidFill>
              </a:rPr>
              <a:t> − Check for the blocks connected in series and simplify.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2</a:t>
            </a:r>
            <a:r>
              <a:rPr lang="en-US" sz="1200" smtClean="0">
                <a:solidFill>
                  <a:schemeClr val="tx1"/>
                </a:solidFill>
              </a:rPr>
              <a:t> − Check for the blocks connected in parallel and simplify.</a:t>
            </a:r>
          </a:p>
          <a:p>
            <a:r>
              <a:rPr lang="en-US" sz="1200" u="sng" smtClean="0">
                <a:solidFill>
                  <a:srgbClr val="FF0000"/>
                </a:solidFill>
              </a:rPr>
              <a:t>Rule 3 − Check for the blocks connected in feedback loop and simplify.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4</a:t>
            </a:r>
            <a:r>
              <a:rPr lang="en-US" sz="1200" smtClean="0">
                <a:solidFill>
                  <a:schemeClr val="tx1"/>
                </a:solidFill>
              </a:rPr>
              <a:t> − If there is difficulty with take-off point while simplifying, shift it towards right.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5</a:t>
            </a:r>
            <a:r>
              <a:rPr lang="en-US" sz="1200" smtClean="0">
                <a:solidFill>
                  <a:schemeClr val="tx1"/>
                </a:solidFill>
              </a:rPr>
              <a:t> − If there is difficulty with summing point while simplifying, shift it towards left.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6</a:t>
            </a:r>
            <a:r>
              <a:rPr lang="en-US" sz="1200" smtClean="0">
                <a:solidFill>
                  <a:schemeClr val="tx1"/>
                </a:solidFill>
              </a:rPr>
              <a:t> − Repeat the above steps till you get the simplified form, i.e., single block.</a:t>
            </a:r>
          </a:p>
          <a:p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84" y="656806"/>
            <a:ext cx="5525372" cy="1667174"/>
          </a:xfrm>
          <a:prstGeom prst="rect">
            <a:avLst/>
          </a:prstGeom>
        </p:spPr>
      </p:pic>
      <p:pic>
        <p:nvPicPr>
          <p:cNvPr id="5" name="Google Shape;134;g2c710898294_0_1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9887" y="2796561"/>
            <a:ext cx="5650897" cy="16998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6958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c710898294_0_1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138" y="1476526"/>
            <a:ext cx="5410264" cy="164481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2c710898294_0_122"/>
          <p:cNvSpPr txBox="1"/>
          <p:nvPr/>
        </p:nvSpPr>
        <p:spPr>
          <a:xfrm>
            <a:off x="730425" y="873700"/>
            <a:ext cx="12447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 Placeholder 3"/>
          <p:cNvSpPr txBox="1">
            <a:spLocks/>
          </p:cNvSpPr>
          <p:nvPr/>
        </p:nvSpPr>
        <p:spPr>
          <a:xfrm>
            <a:off x="5858805" y="723043"/>
            <a:ext cx="2912763" cy="32694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="1" smtClean="0">
                <a:solidFill>
                  <a:schemeClr val="tx1"/>
                </a:solidFill>
              </a:rPr>
              <a:t>Rule 1</a:t>
            </a:r>
            <a:r>
              <a:rPr lang="en-US" sz="1200" smtClean="0">
                <a:solidFill>
                  <a:schemeClr val="tx1"/>
                </a:solidFill>
              </a:rPr>
              <a:t> − Check for the blocks connected in series and simplify.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2</a:t>
            </a:r>
            <a:r>
              <a:rPr lang="en-US" sz="1200" smtClean="0">
                <a:solidFill>
                  <a:schemeClr val="tx1"/>
                </a:solidFill>
              </a:rPr>
              <a:t> − Check for the blocks connected in parallel and simplify.</a:t>
            </a:r>
          </a:p>
          <a:p>
            <a:r>
              <a:rPr lang="en-US" sz="1200" u="sng" smtClean="0">
                <a:solidFill>
                  <a:srgbClr val="FF0000"/>
                </a:solidFill>
              </a:rPr>
              <a:t>Rule 3 − Check for the blocks connected in feedback loop and simplify.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4</a:t>
            </a:r>
            <a:r>
              <a:rPr lang="en-US" sz="1200" smtClean="0">
                <a:solidFill>
                  <a:schemeClr val="tx1"/>
                </a:solidFill>
              </a:rPr>
              <a:t> − If there is difficulty with take-off point while simplifying, shift it towards right.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5</a:t>
            </a:r>
            <a:r>
              <a:rPr lang="en-US" sz="1200" smtClean="0">
                <a:solidFill>
                  <a:schemeClr val="tx1"/>
                </a:solidFill>
              </a:rPr>
              <a:t> − If there is difficulty with summing point while simplifying, shift it towards left.</a:t>
            </a:r>
          </a:p>
          <a:p>
            <a:r>
              <a:rPr lang="en-US" sz="1200" b="1" smtClean="0">
                <a:solidFill>
                  <a:schemeClr val="tx1"/>
                </a:solidFill>
              </a:rPr>
              <a:t>Rule 6</a:t>
            </a:r>
            <a:r>
              <a:rPr lang="en-US" sz="1200" smtClean="0">
                <a:solidFill>
                  <a:schemeClr val="tx1"/>
                </a:solidFill>
              </a:rPr>
              <a:t> − Repeat the above steps till you get the simplified form, i.e., single block.</a:t>
            </a:r>
          </a:p>
          <a:p>
            <a:endParaRPr 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Next Class</a:t>
            </a:r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PID Control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47</Words>
  <Application>Microsoft Office PowerPoint</Application>
  <PresentationFormat>On-screen Show (16:9)</PresentationFormat>
  <Paragraphs>53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Times New Roman</vt:lpstr>
      <vt:lpstr>Simple Light</vt:lpstr>
      <vt:lpstr>Control System Theory Block Diagram Reduction</vt:lpstr>
      <vt:lpstr>PowerPoint Presentation</vt:lpstr>
      <vt:lpstr>PowerPoint Presentation</vt:lpstr>
      <vt:lpstr>PowerPoint Presentation</vt:lpstr>
      <vt:lpstr>Block Diagram Reduction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Block Diagram Reduction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Class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Robotics CSE 461</dc:title>
  <dc:creator>HP</dc:creator>
  <cp:lastModifiedBy>HP</cp:lastModifiedBy>
  <cp:revision>8</cp:revision>
  <dcterms:modified xsi:type="dcterms:W3CDTF">2024-10-21T16:25:15Z</dcterms:modified>
</cp:coreProperties>
</file>