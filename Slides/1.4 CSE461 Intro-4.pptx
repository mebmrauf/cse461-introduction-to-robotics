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</p:sldIdLst>
  <p:sldSz cy="5143500" cx="9144000"/>
  <p:notesSz cx="6858000" cy="9144000"/>
  <p:embeddedFontLst>
    <p:embeddedFont>
      <p:font typeface="Roboto"/>
      <p:regular r:id="rId37"/>
      <p:bold r:id="rId38"/>
      <p:italic r:id="rId39"/>
      <p:boldItalic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41" roundtripDataSignature="AMtx7mhTX/zI8Qdq2IGjskBPbivkNHiCi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-boldItalic.fntdata"/><Relationship Id="rId20" Type="http://schemas.openxmlformats.org/officeDocument/2006/relationships/slide" Target="slides/slide15.xml"/><Relationship Id="rId41" Type="http://customschemas.google.com/relationships/presentationmetadata" Target="meta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font" Target="fonts/Roboto-regular.fntdata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font" Target="fonts/Roboto-italic.fntdata"/><Relationship Id="rId16" Type="http://schemas.openxmlformats.org/officeDocument/2006/relationships/slide" Target="slides/slide11.xml"/><Relationship Id="rId38" Type="http://schemas.openxmlformats.org/officeDocument/2006/relationships/font" Target="fonts/Roboto-bold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" name="Google Shape;7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e43576f9b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7" name="Google Shape;87;g2e43576f9be_0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2e43576f9be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2" name="Google Shape;92;g2e43576f9be_0_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e43576f9be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0" name="Google Shape;100;g2e43576f9be_0_1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e43576f9be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7" name="Google Shape;107;g2e43576f9be_0_1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2e43576f9be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3" name="Google Shape;113;g2e43576f9be_0_2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2e43576f9be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0" name="Google Shape;120;g2e43576f9be_0_2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e43576f9be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7" name="Google Shape;127;g2e43576f9be_0_3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2e43576f9be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4" name="Google Shape;134;g2e43576f9be_0_4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1" name="Google Shape;141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4d96568907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g24d96568907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24d9656890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g24d9656890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7" name="Google Shape;157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2" name="Google Shape;162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7" name="Google Shape;167;p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4" name="Google Shape;174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9" name="Google Shape;179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4" name="Google Shape;184;p1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24d96568907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" name="Google Shape;189;g24d96568907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24d96568907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" name="Google Shape;195;g24d96568907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24d96568907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" name="Google Shape;201;g24d96568907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24d96568907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g24d96568907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" name="Google Shape;21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3" name="Google Shape;24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1" name="Google Shape;251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7" name="Google Shape;257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3" name="Google Shape;263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3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6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6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36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6" name="Google Shape;26;p36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" name="Google Shape;27;p36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0" name="Google Shape;30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5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35"/>
          <p:cNvSpPr txBox="1"/>
          <p:nvPr>
            <p:ph idx="1" type="body"/>
          </p:nvPr>
        </p:nvSpPr>
        <p:spPr>
          <a:xfrm>
            <a:off x="457200" y="1151335"/>
            <a:ext cx="40401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4" name="Google Shape;34;p35"/>
          <p:cNvSpPr txBox="1"/>
          <p:nvPr>
            <p:ph idx="2" type="body"/>
          </p:nvPr>
        </p:nvSpPr>
        <p:spPr>
          <a:xfrm>
            <a:off x="457200" y="1631156"/>
            <a:ext cx="4040100" cy="29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35" name="Google Shape;35;p35"/>
          <p:cNvSpPr txBox="1"/>
          <p:nvPr>
            <p:ph idx="3" type="body"/>
          </p:nvPr>
        </p:nvSpPr>
        <p:spPr>
          <a:xfrm>
            <a:off x="4645025" y="1151335"/>
            <a:ext cx="40419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6" name="Google Shape;36;p35"/>
          <p:cNvSpPr txBox="1"/>
          <p:nvPr>
            <p:ph idx="4" type="body"/>
          </p:nvPr>
        </p:nvSpPr>
        <p:spPr>
          <a:xfrm>
            <a:off x="4645025" y="1631156"/>
            <a:ext cx="4041900" cy="29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37" name="Google Shape;37;p35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8" name="Google Shape;38;p35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9" name="Google Shape;39;p35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" name="Google Shape;42;p3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" name="Google Shape;43;p3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4" name="Google Shape;44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7" name="Google Shape;47;p3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8" name="Google Shape;48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1" name="Google Shape;51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4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5" name="Google Shape;55;p4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6" name="Google Shape;56;p4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0" name="Google Shape;60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3" name="Google Shape;63;p4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e43576f9be_0_104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g2e43576f9be_0_104"/>
          <p:cNvSpPr txBox="1"/>
          <p:nvPr>
            <p:ph idx="1" type="body"/>
          </p:nvPr>
        </p:nvSpPr>
        <p:spPr>
          <a:xfrm>
            <a:off x="457200" y="1200150"/>
            <a:ext cx="4038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68" name="Google Shape;68;g2e43576f9be_0_104"/>
          <p:cNvSpPr txBox="1"/>
          <p:nvPr>
            <p:ph idx="2" type="body"/>
          </p:nvPr>
        </p:nvSpPr>
        <p:spPr>
          <a:xfrm>
            <a:off x="4648200" y="1200150"/>
            <a:ext cx="4038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69" name="Google Shape;69;g2e43576f9be_0_104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g2e43576f9be_0_104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g2e43576f9be_0_104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1.png"/><Relationship Id="rId4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1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2.jpg"/><Relationship Id="rId4" Type="http://schemas.openxmlformats.org/officeDocument/2006/relationships/image" Target="../media/image2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jpg"/><Relationship Id="rId4" Type="http://schemas.openxmlformats.org/officeDocument/2006/relationships/image" Target="../media/image16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gif"/><Relationship Id="rId4" Type="http://schemas.openxmlformats.org/officeDocument/2006/relationships/image" Target="../media/image27.gif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8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6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9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9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5.gif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2.gif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8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5.png"/><Relationship Id="rId4" Type="http://schemas.openxmlformats.org/officeDocument/2006/relationships/hyperlink" Target="https://youtu.be/LAtPHANEfQo" TargetMode="Externa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5.png"/><Relationship Id="rId4" Type="http://schemas.openxmlformats.org/officeDocument/2006/relationships/hyperlink" Target="https://youtu.be/LAtPHANEfQo" TargetMode="External"/><Relationship Id="rId5" Type="http://schemas.openxmlformats.org/officeDocument/2006/relationships/image" Target="../media/image36.gif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0.png"/><Relationship Id="rId4" Type="http://schemas.openxmlformats.org/officeDocument/2006/relationships/hyperlink" Target="https://youtu.be/eyqwLiowZiU" TargetMode="Externa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0.png"/><Relationship Id="rId4" Type="http://schemas.openxmlformats.org/officeDocument/2006/relationships/image" Target="../media/image34.gif"/><Relationship Id="rId5" Type="http://schemas.openxmlformats.org/officeDocument/2006/relationships/hyperlink" Target="https://youtu.be/eyqwLiowZiU" TargetMode="Externa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8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"/>
          <p:cNvSpPr txBox="1"/>
          <p:nvPr>
            <p:ph type="ctrTitle"/>
          </p:nvPr>
        </p:nvSpPr>
        <p:spPr>
          <a:xfrm>
            <a:off x="311708" y="7338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31313"/>
              <a:buNone/>
            </a:pPr>
            <a:r>
              <a:t/>
            </a:r>
            <a:endParaRPr sz="44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31313"/>
              <a:buNone/>
            </a:pPr>
            <a:r>
              <a:rPr lang="en" sz="4400"/>
              <a:t>Introduction to Robotics</a:t>
            </a:r>
            <a:endParaRPr sz="44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31313"/>
              <a:buNone/>
            </a:pPr>
            <a:r>
              <a:rPr lang="en" sz="4400"/>
              <a:t>CSE 461</a:t>
            </a:r>
            <a:endParaRPr sz="4400"/>
          </a:p>
        </p:txBody>
      </p:sp>
      <p:sp>
        <p:nvSpPr>
          <p:cNvPr id="77" name="Google Shape;77;p1"/>
          <p:cNvSpPr txBox="1"/>
          <p:nvPr>
            <p:ph idx="1" type="subTitle"/>
          </p:nvPr>
        </p:nvSpPr>
        <p:spPr>
          <a:xfrm>
            <a:off x="311700" y="2834125"/>
            <a:ext cx="8520600" cy="13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Riad Ahmed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Lecturer, Dept. of Computer Science and Engineering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Brac University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Lecture 4: Chapter 1(Introduction to robotics: basics)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8" name="Google Shape;7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48405" y="123700"/>
            <a:ext cx="1311550" cy="1311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Previous Class</a:t>
            </a:r>
            <a:endParaRPr/>
          </a:p>
        </p:txBody>
      </p:sp>
      <p:sp>
        <p:nvSpPr>
          <p:cNvPr id="84" name="Google Shape;84;p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Subsystem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:\Arif\Summer2020\CSE461\Lectures\intro pics\Robotics and Embedded Systems-46.jpg" id="89" name="Google Shape;89;g2e43576f9be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6857999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e43576f9be_0_4"/>
          <p:cNvSpPr txBox="1"/>
          <p:nvPr>
            <p:ph type="title"/>
          </p:nvPr>
        </p:nvSpPr>
        <p:spPr>
          <a:xfrm>
            <a:off x="457200" y="154484"/>
            <a:ext cx="8229600" cy="6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"/>
              <a:t>Microcontrollers</a:t>
            </a:r>
            <a:endParaRPr/>
          </a:p>
        </p:txBody>
      </p:sp>
      <p:pic>
        <p:nvPicPr>
          <p:cNvPr id="95" name="Google Shape;95;g2e43576f9be_0_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2050992"/>
            <a:ext cx="4038600" cy="169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g2e43576f9be_0_4"/>
          <p:cNvPicPr preferRelativeResize="0"/>
          <p:nvPr>
            <p:ph idx="2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48200" y="1883053"/>
            <a:ext cx="4038600" cy="20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g2e43576f9be_0_4"/>
          <p:cNvSpPr txBox="1"/>
          <p:nvPr/>
        </p:nvSpPr>
        <p:spPr>
          <a:xfrm>
            <a:off x="889875" y="797675"/>
            <a:ext cx="6406500" cy="8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A microcontroller is a small, integrated circuit that contains a processor, memory, and input/output peripherals.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e43576f9be_0_11"/>
          <p:cNvSpPr txBox="1"/>
          <p:nvPr>
            <p:ph type="title"/>
          </p:nvPr>
        </p:nvSpPr>
        <p:spPr>
          <a:xfrm>
            <a:off x="457200" y="154484"/>
            <a:ext cx="8229600" cy="6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"/>
              <a:t>Arduino</a:t>
            </a:r>
            <a:endParaRPr/>
          </a:p>
        </p:txBody>
      </p:sp>
      <p:pic>
        <p:nvPicPr>
          <p:cNvPr id="103" name="Google Shape;103;g2e43576f9be_0_11"/>
          <p:cNvPicPr preferRelativeResize="0"/>
          <p:nvPr>
            <p:ph idx="2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81400" y="1156825"/>
            <a:ext cx="5105400" cy="287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g2e43576f9be_0_11"/>
          <p:cNvPicPr preferRelativeResize="0"/>
          <p:nvPr>
            <p:ph idx="1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5800" y="1885950"/>
            <a:ext cx="2684700" cy="1565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e43576f9be_0_17"/>
          <p:cNvSpPr txBox="1"/>
          <p:nvPr>
            <p:ph type="title"/>
          </p:nvPr>
        </p:nvSpPr>
        <p:spPr>
          <a:xfrm>
            <a:off x="311700" y="333769"/>
            <a:ext cx="85206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4285"/>
              <a:buNone/>
            </a:pPr>
            <a:r>
              <a:rPr lang="en"/>
              <a:t>Arduino</a:t>
            </a:r>
            <a:endParaRPr/>
          </a:p>
        </p:txBody>
      </p:sp>
      <p:pic>
        <p:nvPicPr>
          <p:cNvPr descr="Intro to Arduino (for absolute beginners) - klab.ca" id="110" name="Google Shape;110;g2e43576f9be_0_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6978" y="1041361"/>
            <a:ext cx="5928168" cy="40524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2e43576f9be_0_22"/>
          <p:cNvSpPr txBox="1"/>
          <p:nvPr>
            <p:ph type="title"/>
          </p:nvPr>
        </p:nvSpPr>
        <p:spPr>
          <a:xfrm>
            <a:off x="457200" y="154484"/>
            <a:ext cx="8229600" cy="6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"/>
              <a:t>Programmable Logic Controller (PLC)</a:t>
            </a:r>
            <a:endParaRPr/>
          </a:p>
        </p:txBody>
      </p:sp>
      <p:pic>
        <p:nvPicPr>
          <p:cNvPr id="116" name="Google Shape;116;g2e43576f9be_0_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72227" y="1005764"/>
            <a:ext cx="4614574" cy="3131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g2e43576f9be_0_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950084"/>
            <a:ext cx="3767427" cy="35790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2e43576f9be_0_28"/>
          <p:cNvSpPr txBox="1"/>
          <p:nvPr>
            <p:ph type="title"/>
          </p:nvPr>
        </p:nvSpPr>
        <p:spPr>
          <a:xfrm>
            <a:off x="457200" y="154484"/>
            <a:ext cx="8229600" cy="6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"/>
              <a:t>Single board Computer</a:t>
            </a:r>
            <a:endParaRPr/>
          </a:p>
        </p:txBody>
      </p:sp>
      <p:pic>
        <p:nvPicPr>
          <p:cNvPr id="123" name="Google Shape;123;g2e43576f9be_0_2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865749"/>
            <a:ext cx="4038600" cy="206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g2e43576f9be_0_28"/>
          <p:cNvPicPr preferRelativeResize="0"/>
          <p:nvPr>
            <p:ph idx="2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48200" y="1869814"/>
            <a:ext cx="4038600" cy="205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2e43576f9be_0_34"/>
          <p:cNvSpPr txBox="1"/>
          <p:nvPr>
            <p:ph type="title"/>
          </p:nvPr>
        </p:nvSpPr>
        <p:spPr>
          <a:xfrm>
            <a:off x="457200" y="154484"/>
            <a:ext cx="8229600" cy="6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"/>
              <a:t>Raspberry PI 4, Tinkerboard </a:t>
            </a:r>
            <a:endParaRPr/>
          </a:p>
        </p:txBody>
      </p:sp>
      <p:pic>
        <p:nvPicPr>
          <p:cNvPr descr="Amazon.com: Raspberry SC15184 Pi 4 Model B 2019 Quad Core 64 Bit WiFi  Bluetooth (2GB): Computers &amp; Accessories" id="130" name="Google Shape;130;g2e43576f9be_0_3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667989"/>
            <a:ext cx="4038600" cy="2458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uy Asus Tinker Board With Rockchip Quad-Core RK3288 processor product name  With Best Lowest Price in Dhaka,bangladesh.bd" id="131" name="Google Shape;131;g2e43576f9be_0_34"/>
          <p:cNvPicPr preferRelativeResize="0"/>
          <p:nvPr>
            <p:ph idx="2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48200" y="1382911"/>
            <a:ext cx="3029100" cy="302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e43576f9be_0_40"/>
          <p:cNvSpPr txBox="1"/>
          <p:nvPr>
            <p:ph type="title"/>
          </p:nvPr>
        </p:nvSpPr>
        <p:spPr>
          <a:xfrm>
            <a:off x="457200" y="154484"/>
            <a:ext cx="8229600" cy="6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"/>
              <a:t>Little Panda and Jetson nano</a:t>
            </a:r>
            <a:endParaRPr/>
          </a:p>
        </p:txBody>
      </p:sp>
      <p:pic>
        <p:nvPicPr>
          <p:cNvPr descr="Amazon.com: NVIDIA Jetson Nano Developer Kit: Computers &amp; Accessories" id="137" name="Google Shape;137;g2e43576f9be_0_40"/>
          <p:cNvPicPr preferRelativeResize="0"/>
          <p:nvPr>
            <p:ph idx="2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48200" y="1638334"/>
            <a:ext cx="4038600" cy="2518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op 12 Raspberry Pi alternatives (Best of 2018) | ZDNet" id="138" name="Google Shape;138;g2e43576f9be_0_40"/>
          <p:cNvPicPr preferRelativeResize="0"/>
          <p:nvPr>
            <p:ph idx="1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" y="1897832"/>
            <a:ext cx="4038600" cy="199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:\Arif\Summer2020\CSE461\Lectures\intro pics\Robotics and Embedded Systems-28.jpg" id="143" name="Google Shape;14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6858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g24d96568907_0_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57350" y="628650"/>
            <a:ext cx="5829300" cy="388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g24d96568907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2446" y="1063938"/>
            <a:ext cx="3015600" cy="301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g24d96568907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61471" y="1169975"/>
            <a:ext cx="5621154" cy="2803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:\Arif\Summer2020\CSE461\Lectures\intro pics\Robotics and Embedded Systems-29.jpg" id="159" name="Google Shape;159;p4"/>
          <p:cNvPicPr preferRelativeResize="0"/>
          <p:nvPr/>
        </p:nvPicPr>
        <p:blipFill rotWithShape="1">
          <a:blip r:embed="rId3">
            <a:alphaModFix/>
          </a:blip>
          <a:srcRect b="16036" l="0" r="0" t="0"/>
          <a:stretch/>
        </p:blipFill>
        <p:spPr>
          <a:xfrm>
            <a:off x="0" y="0"/>
            <a:ext cx="9144000" cy="43185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:\Arif\Summer2020\CSE461\Lectures\intro pics\Robotics and Embedded Systems-31.jpg" id="164" name="Google Shape;164;p5"/>
          <p:cNvPicPr preferRelativeResize="0"/>
          <p:nvPr/>
        </p:nvPicPr>
        <p:blipFill rotWithShape="1">
          <a:blip r:embed="rId3">
            <a:alphaModFix/>
          </a:blip>
          <a:srcRect b="19736" l="0" r="0" t="0"/>
          <a:stretch/>
        </p:blipFill>
        <p:spPr>
          <a:xfrm>
            <a:off x="0" y="0"/>
            <a:ext cx="9144000" cy="4128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6"/>
          <p:cNvSpPr txBox="1"/>
          <p:nvPr>
            <p:ph type="title"/>
          </p:nvPr>
        </p:nvSpPr>
        <p:spPr>
          <a:xfrm>
            <a:off x="311700" y="333769"/>
            <a:ext cx="85206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4285"/>
              <a:buNone/>
            </a:pPr>
            <a:r>
              <a:rPr lang="en"/>
              <a:t>End Effector</a:t>
            </a:r>
            <a:endParaRPr/>
          </a:p>
        </p:txBody>
      </p:sp>
      <p:pic>
        <p:nvPicPr>
          <p:cNvPr descr="Image result for end effector" id="170" name="Google Shape;17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3516" y="1508837"/>
            <a:ext cx="6072188" cy="2421731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6"/>
          <p:cNvSpPr/>
          <p:nvPr/>
        </p:nvSpPr>
        <p:spPr>
          <a:xfrm>
            <a:off x="271603" y="4276767"/>
            <a:ext cx="85104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111111"/>
                </a:solidFill>
                <a:latin typeface="Roboto"/>
                <a:ea typeface="Roboto"/>
                <a:cs typeface="Roboto"/>
                <a:sym typeface="Roboto"/>
              </a:rPr>
              <a:t>Two types of fingered end-effectors: (a) gripper type, (b) anthropomorphic type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:\Arif\Summer2020\CSE461\Lectures\intro pics\Robotics and Embedded Systems-32.jpg" id="176" name="Google Shape;176;p7"/>
          <p:cNvPicPr preferRelativeResize="0"/>
          <p:nvPr/>
        </p:nvPicPr>
        <p:blipFill rotWithShape="1">
          <a:blip r:embed="rId3">
            <a:alphaModFix/>
          </a:blip>
          <a:srcRect b="23698" l="0" r="0" t="0"/>
          <a:stretch/>
        </p:blipFill>
        <p:spPr>
          <a:xfrm>
            <a:off x="0" y="0"/>
            <a:ext cx="9144000" cy="39246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:\Arif\Summer2020\CSE461\Lectures\intro pics\Robotics and Embedded Systems-33.jpg" id="181" name="Google Shape;181;p8"/>
          <p:cNvPicPr preferRelativeResize="0"/>
          <p:nvPr/>
        </p:nvPicPr>
        <p:blipFill rotWithShape="1">
          <a:blip r:embed="rId3">
            <a:alphaModFix/>
          </a:blip>
          <a:srcRect b="12470" l="0" r="0" t="0"/>
          <a:stretch/>
        </p:blipFill>
        <p:spPr>
          <a:xfrm>
            <a:off x="0" y="1"/>
            <a:ext cx="9144000" cy="45018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:\Arif\Summer2020\CSE461\Lectures\intro pics\Robotics and Embedded Systems-36.jpg" id="186" name="Google Shape;18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6858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Google Shape;191;g24d96568907_0_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g24d96568907_0_13"/>
          <p:cNvSpPr txBox="1"/>
          <p:nvPr/>
        </p:nvSpPr>
        <p:spPr>
          <a:xfrm>
            <a:off x="309525" y="323175"/>
            <a:ext cx="22986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" sz="27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Pneumatic</a:t>
            </a:r>
            <a:endParaRPr b="0" i="0" sz="27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g24d96568907_0_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06575" y="1824038"/>
            <a:ext cx="5705475" cy="1495425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g24d96568907_0_18"/>
          <p:cNvSpPr txBox="1"/>
          <p:nvPr/>
        </p:nvSpPr>
        <p:spPr>
          <a:xfrm>
            <a:off x="309525" y="323175"/>
            <a:ext cx="22986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" sz="27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Hydraulic</a:t>
            </a:r>
            <a:endParaRPr b="0" i="0" sz="27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g24d96568907_0_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86900" y="152400"/>
            <a:ext cx="4838700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g24d96568907_0_22"/>
          <p:cNvSpPr txBox="1"/>
          <p:nvPr/>
        </p:nvSpPr>
        <p:spPr>
          <a:xfrm>
            <a:off x="309525" y="323175"/>
            <a:ext cx="22986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" sz="27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Electric</a:t>
            </a:r>
            <a:endParaRPr b="0" i="0" sz="27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g24d96568907_0_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5850" y="1825175"/>
            <a:ext cx="8162925" cy="3190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g24d96568907_0_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0625" y="1176525"/>
            <a:ext cx="8058150" cy="57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Motor</a:t>
            </a:r>
            <a:endParaRPr/>
          </a:p>
        </p:txBody>
      </p:sp>
      <p:pic>
        <p:nvPicPr>
          <p:cNvPr id="216" name="Google Shape;21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81026" y="480288"/>
            <a:ext cx="5903599" cy="4182927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11"/>
          <p:cNvSpPr txBox="1"/>
          <p:nvPr/>
        </p:nvSpPr>
        <p:spPr>
          <a:xfrm>
            <a:off x="3762162" y="408119"/>
            <a:ext cx="1619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Stator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11"/>
          <p:cNvSpPr txBox="1"/>
          <p:nvPr/>
        </p:nvSpPr>
        <p:spPr>
          <a:xfrm>
            <a:off x="2482238" y="4016737"/>
            <a:ext cx="1619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Rotor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DC motor </a:t>
            </a:r>
            <a:endParaRPr/>
          </a:p>
        </p:txBody>
      </p:sp>
      <p:pic>
        <p:nvPicPr>
          <p:cNvPr id="224" name="Google Shape;224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699" y="1017727"/>
            <a:ext cx="4389025" cy="3548225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12"/>
          <p:cNvSpPr txBox="1"/>
          <p:nvPr/>
        </p:nvSpPr>
        <p:spPr>
          <a:xfrm>
            <a:off x="125023" y="4673114"/>
            <a:ext cx="2865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https://youtu.be/LAtPHANEfQo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DC motor </a:t>
            </a:r>
            <a:endParaRPr/>
          </a:p>
        </p:txBody>
      </p:sp>
      <p:pic>
        <p:nvPicPr>
          <p:cNvPr id="231" name="Google Shape;23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699" y="1017727"/>
            <a:ext cx="4389025" cy="3548225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13"/>
          <p:cNvSpPr txBox="1"/>
          <p:nvPr/>
        </p:nvSpPr>
        <p:spPr>
          <a:xfrm>
            <a:off x="125023" y="4673114"/>
            <a:ext cx="2865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https://youtu.be/LAtPHANEfQo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3" name="Google Shape;233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53124" y="1170125"/>
            <a:ext cx="4138476" cy="23837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Stepper Motor </a:t>
            </a:r>
            <a:endParaRPr/>
          </a:p>
        </p:txBody>
      </p:sp>
      <p:pic>
        <p:nvPicPr>
          <p:cNvPr id="239" name="Google Shape;23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696" y="1152471"/>
            <a:ext cx="3988175" cy="3189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14"/>
          <p:cNvSpPr txBox="1"/>
          <p:nvPr/>
        </p:nvSpPr>
        <p:spPr>
          <a:xfrm>
            <a:off x="1673175" y="4647750"/>
            <a:ext cx="2626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https://youtu.be/eyqwLiowZiU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Stepper Motor </a:t>
            </a:r>
            <a:endParaRPr/>
          </a:p>
        </p:txBody>
      </p:sp>
      <p:pic>
        <p:nvPicPr>
          <p:cNvPr id="246" name="Google Shape;24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696" y="1152471"/>
            <a:ext cx="3988175" cy="3189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75196" y="911725"/>
            <a:ext cx="3307800" cy="3320051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15"/>
          <p:cNvSpPr txBox="1"/>
          <p:nvPr/>
        </p:nvSpPr>
        <p:spPr>
          <a:xfrm>
            <a:off x="1673175" y="4647750"/>
            <a:ext cx="2626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https://youtu.be/eyqwLiowZiU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Servo Motor </a:t>
            </a:r>
            <a:endParaRPr/>
          </a:p>
        </p:txBody>
      </p:sp>
      <p:pic>
        <p:nvPicPr>
          <p:cNvPr id="254" name="Google Shape;25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27030" y="335163"/>
            <a:ext cx="6183850" cy="447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7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Next Class</a:t>
            </a:r>
            <a:endParaRPr/>
          </a:p>
        </p:txBody>
      </p:sp>
      <p:sp>
        <p:nvSpPr>
          <p:cNvPr id="260" name="Google Shape;260;p27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">
                <a:solidFill>
                  <a:schemeClr val="dk1"/>
                </a:solidFill>
              </a:rPr>
              <a:t>Quiz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